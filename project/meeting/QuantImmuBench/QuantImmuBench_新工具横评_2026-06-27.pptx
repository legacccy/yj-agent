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371/journal.pcbi.1003266" TargetMode="External"/><Relationship Id="rId2" Type="http://schemas.openxmlformats.org/officeDocument/2006/relationships/hyperlink" Target="https://tools.iedb.org/immunogenicity" TargetMode="External"/><Relationship Id="rId3" Type="http://schemas.openxmlformats.org/officeDocument/2006/relationships/hyperlink" Target="https://doi.org/10.3389/fimmu.2019.00827" TargetMode="External"/><Relationship Id="rId4" Type="http://schemas.openxmlformats.org/officeDocument/2006/relationships/hyperlink" Target="https://github.com/masato-ogishi/Repitope" TargetMode="External"/><Relationship Id="rId5" Type="http://schemas.openxmlformats.org/officeDocument/2006/relationships/hyperlink" Target="https://doi.org/10.1093/nar/gkaa379" TargetMode="External"/><Relationship Id="rId6" Type="http://schemas.openxmlformats.org/officeDocument/2006/relationships/hyperlink" Target="https://services.healthtech.dtu.dk/services/NetMHCpan-4.1" TargetMode="External"/><Relationship Id="rId7" Type="http://schemas.openxmlformats.org/officeDocument/2006/relationships/hyperlink" Target="https://doi.org/10.1016/j.cels.2020.06.010" TargetMode="External"/><Relationship Id="rId8" Type="http://schemas.openxmlformats.org/officeDocument/2006/relationships/hyperlink" Target="https://github.com/openvax/mhcflurry" TargetMode="External"/><Relationship Id="rId9" Type="http://schemas.openxmlformats.org/officeDocument/2006/relationships/hyperlink" Target="https://doi.org/10.3389/fimmu.2026.1722117" TargetMode="External"/><Relationship Id="rId10" Type="http://schemas.openxmlformats.org/officeDocument/2006/relationships/hyperlink" Target="https://github.com/AaronChen007/neoantigen" TargetMode="External"/><Relationship Id="rId11" Type="http://schemas.openxmlformats.org/officeDocument/2006/relationships/hyperlink" Target="https://doi.org/10.1038/s42256-023-00694-6" TargetMode="External"/><Relationship Id="rId12" Type="http://schemas.openxmlformats.org/officeDocument/2006/relationships/hyperlink" Target="https://github.com/KarchinLab/bigmhc" TargetMode="External"/><Relationship Id="rId13" Type="http://schemas.openxmlformats.org/officeDocument/2006/relationships/hyperlink" Target="https://doi.org/10.1126/sciadv.adz8759" TargetMode="External"/><Relationship Id="rId14" Type="http://schemas.openxmlformats.org/officeDocument/2006/relationships/hyperlink" Target="https://github.com/seoklab/T-SCAPE" TargetMode="Externa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371/journal.pcbi.1003266" TargetMode="External"/><Relationship Id="rId2" Type="http://schemas.openxmlformats.org/officeDocument/2006/relationships/hyperlink" Target="https://tools.iedb.org/immunogenicit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19.00827" TargetMode="External"/><Relationship Id="rId2" Type="http://schemas.openxmlformats.org/officeDocument/2006/relationships/hyperlink" Target="https://github.com/masato-ogishi/Repitop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nar/gkaa379" TargetMode="External"/><Relationship Id="rId2" Type="http://schemas.openxmlformats.org/officeDocument/2006/relationships/hyperlink" Target="https://services.healthtech.dtu.d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els.2020.06.010" TargetMode="External"/><Relationship Id="rId2" Type="http://schemas.openxmlformats.org/officeDocument/2006/relationships/hyperlink" Target="https://github.com/openvax/mhcflurr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6.1722117" TargetMode="External"/><Relationship Id="rId2" Type="http://schemas.openxmlformats.org/officeDocument/2006/relationships/hyperlink" Target="https://github.com/AaronChen007/neoantige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2256-023-00694-6" TargetMode="External"/><Relationship Id="rId2" Type="http://schemas.openxmlformats.org/officeDocument/2006/relationships/hyperlink" Target="https://github.com/KarchinLab/bigmhc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26/sciadv.adz8759" TargetMode="External"/><Relationship Id="rId2" Type="http://schemas.openxmlformats.org/officeDocument/2006/relationships/hyperlink" Target="https://github.com/seoklab/T-SCAP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 新增对比工具横评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7 对比工具独立横评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方法学多样性扩充报告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  CNNeo  MHCflurry  IEDB_Calis  Repitope  T-SCAPE  netMHCpan-BA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92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方法学演化光谱 · 文献矩阵 · 逐工具四类信息 · ELISpot 17 工具横评结果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真源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NEWTOOLS_ANALYSIS.md · TOOLS/&lt;tool&gt;.md · NEWTOOLS_LIT_MATRIX.md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选型理由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方法学演化光谱  每个工具填补一个独特生态位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7 个工具不是同质堆叠，而是沿方法学演化主轴各占一格，使横评从「比谁分高」升级为「检验每一类方法范式对免疫强弱定量的真实贡献」。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01368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01368"/>
            <a:ext cx="82296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74520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统计基线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187452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IEDB_Calis  2013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45152" y="1865376"/>
            <a:ext cx="6675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纯氨基酸理化属性线性加权（P4–P6 位富集），无 ML，无权重；主流流水线默认集成（pVACseq/iNeo-Suite）；任何新工具不超过它即可判无效。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41448"/>
            <a:ext cx="82296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514600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HLA-agnostic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95728" y="251460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  2019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5152" y="2505456"/>
            <a:ext cx="6675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不问肽结合哪个 HLA，用整个人群 TCR 库的 in-silico 接触势能打分；量化「HLA 限制信息」对定量到底值多少。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81528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81528"/>
            <a:ext cx="82296" cy="59436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154680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纯结合亲和力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95728" y="315468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netMHCpan-BA  2020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5152" y="3145536"/>
            <a:ext cx="6675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HLA-肽结合金标准（覆盖 &gt;18,000 等位基因）；直接验证「结合亲和力 ≠ 免疫原性」命题，量化 gap，为其他工具提供提升幅度参照系。  ⚠️ DTU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21608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721608"/>
            <a:ext cx="82296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794760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提呈代理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95728" y="379476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 2.0  2020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45152" y="3785616"/>
            <a:ext cx="6675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开源社区最广用提呈预测，双分数（affinity + presentation）；检验「提呈预测无免疫原性微调能否代理强弱定量」；reviewer 必注意缺席。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361688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361688"/>
            <a:ext cx="82296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434840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增强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95728" y="443484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CNNeo  2026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45152" y="4425696"/>
            <a:ext cx="6675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率先引入 BioBERT 蛋白质语言模型嵌入（CNN+BioBERT），正交于 BigMHC；2026 最新，TESLA+ELISpot 验证与本项目真值同源，MIT 许可。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001768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5001768"/>
            <a:ext cx="82296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" y="5074920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大规模迁移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95728" y="507492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  2023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45152" y="5065776"/>
            <a:ext cx="6675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 大规模预训练（数十万 MHC-I 洗脱配体）→ IM 下游迁移两阶段范式，7 checkpoint ensemble；Nature MI 2023，pan-allele &gt;500 等位基因。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5641848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5641848"/>
            <a:ext cx="82296" cy="59436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715000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多域结构 SOTA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95728" y="571500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  2025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45152" y="5705856"/>
            <a:ext cx="6675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多任务跨域 DL（ByteNet），融合 pMHC 结合 / TCR 结合 / 免疫原性四路信号；检验「复杂度上限」是否突破数据瓶颈。  ⚠️ CC-BY-NC-ND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文献矩阵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个新对比工具：论文 · 期刊年份 · DOI · repo / web · 许可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92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286000"/>
                <a:gridCol w="2651760"/>
                <a:gridCol w="2331720"/>
                <a:gridCol w="23317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 / 期刊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 / web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IEDB_Calis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2013 · PLOS Comput Biol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" invalidUrl="" action="" tgtFrame="" tooltip="https://doi.org/10.1371/journal.pcbi.1003266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10.1371/journal.pcbi.1003266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" invalidUrl="" action="" tgtFrame="" tooltip="https://tools.iedb.org/immunogenicity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tools.iedb.org/immunogenicity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NPOSL-3.0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Repitope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 · Front Immunol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3" invalidUrl="" action="" tgtFrame="" tooltip="https://doi.org/10.3389/fimmu.2019.00827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10.3389/fimmu.2019.00827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4" invalidUrl="" action="" tgtFrame="" tooltip="https://github.com/masato-ogishi/Repitope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github.com/masato-ogishi/Repitope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netMHCpan-BA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 · Nucleic Acids Res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5" invalidUrl="" action="" tgtFrame="" tooltip="https://doi.org/10.1093/nar/gkaa379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10.1093/nar/gkaa379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6" invalidUrl="" action="" tgtFrame="" tooltip="https://services.healthtech.dtu.dk/services/NetMHCpan-4.1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services.healthtech.dtu.dk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DTU 禁再分发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MHCflurry 2.0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 · Cell Systems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7" invalidUrl="" action="" tgtFrame="" tooltip="https://doi.org/10.1016/j.cels.2020.06.01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10.1016/j.cels.2020.06.010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8" invalidUrl="" action="" tgtFrame="" tooltip="https://github.com/openvax/mhcflurry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github.com/openvax/mhcflurry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CNNeo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· Front Immunol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9" invalidUrl="" action="" tgtFrame="" tooltip="https://doi.org/10.3389/fimmu.2026.1722117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10.3389/fimmu.2026.1722117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0" invalidUrl="" action="" tgtFrame="" tooltip="https://github.com/AaronChen007/neoantigen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github.com/AaronChen007/neoantigen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BigMHC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 · Nature Machine Intell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1" invalidUrl="" action="" tgtFrame="" tooltip="https://doi.org/10.1038/s42256-023-00694-6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10.1038/s42256-023-00694-6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2" invalidUrl="" action="" tgtFrame="" tooltip="https://github.com/KarchinLab/bigmhc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github.com/KarchinLab/bigmhc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T-SCAPE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 · Science Advances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3" invalidUrl="" action="" tgtFrame="" tooltip="https://doi.org/10.1126/sciadv.adz8759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10.1126/sciadv.adz8759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4" invalidUrl="" action="" tgtFrame="" tooltip="https://github.com/seoklab/T-SCAPE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github.com/seoklab/T-SCAPE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CC-BY-NC-ND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44768"/>
            <a:ext cx="11292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许可红线（对外/投稿前必处理）：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netMHCpan-BA = DTU 学术许可禁再分发，数字对外前取 DTU 书面同意；T-SCAPE = CC-BY-NC-ND 4.0 禁衍生，报告数字须标注来源。其余 5 工具许可均允许发数字。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 1 / 7 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 Immunogenicity  Calis 2013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经典统计线性加权，2013 历史基准  现代工具须显著超越此线才算真进步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RUN_DONE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生态位  统计基线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 .txt，每行一条肽序列（大写），无 HLA 列，无表头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每次调用只处理一个 HLA allele（命令行 --allele 参数）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9-mer 最优；8-mer / 10-mer+ 均支持，全 34247 行 0 NaN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格式：去 * 去 :（HLA-A*02:01 → HLA-A0201）；42 个有 allele-specific mask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--allele=HLA-A0201   指定 allele（使用 allele-specific mask）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不加 --allele → 默认 mask（P1, P2, C-term），其余约 23/65 allele 用此回退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--allele_list  打印全部 42 个支持 allele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安装：无需 pip，直接 wget IEDB_Immunogenicity-3.0.tar.gz 解压即用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stdout CSV：peptide / length / score（按 score 降序排列）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无硬边界（通常 -1.5 ~ +1.5），越高越免疫原，直接用无需翻转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行，0 NaN；不支持 allele 回退默认 mask 仍给分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完全可解释：每个 score 可逐位追溯氨基酸 propensity 贡献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纯统计，无 ML，无权重文件；零依赖，纯 Python 3，65 allele 秒级跑完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 pVACseq、iNeo-Suite 等主流新抗原流水线默认集成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 PLOS Comput Biol，引用频次最高的 class-I 免疫原性工具之一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选用理由：建立历史对照基准——任何新工具不超过它即可判无效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Calis 2013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PLOS Comput Biol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10.1371/journal.pcbi.1003266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/we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tools.iedb.org/immunogenicity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NPOSL-3.0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 2 / 7 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  HLA-agnostic  2019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 HLA-agnostic 路线  用 TCR 库接触势能量化肽序列内在免疫原性潜力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RUN_DONE  n=9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生态位  HLA-agnostic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仅肽段序列（大写氨基酸），不接受 HLA 输入（HLA-agnostic）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 8-11mer；12-14mer 不支持，对应行填 NaN（约 35% universe 缺分）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实测：7437 个唯一 8-11mer 肽进入预测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同一肽对所有 HLA_Allele 行填相同值（HLA-agnostic 映射）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API 三步：Features() → TrainModels() → Predict()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--cores N  并行核数（建议 6-8，加速 CPP 特征计算）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需下载预计算文件：FragmentLibrary.fst + FeatureDF_Weighted.10000.fst（Mendeley DOI 10.17632/sydw5xnxpt.1，共约 127MB）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每次运行重训 25 个 ERT 模型（5 seeds × 5 runs，约 5-20min）；无预保存权重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ImmunogenicityScore [0,1]，越高越免疫原；直接用，无需翻转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ImmunogenicityScore.cv = 25 模型间变异系数（一致性参考）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行；22391 行有分（8-11mer）；12-14mer → NaN；score 0.06-0.61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AUC 0.620（排全 17 工具第 4）；per-patient fisherz 0.119（CI 含 0）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 HLA-agnostic：量化「HLA 限制信息」对免疫原性定量到底值多少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CPP（Contact Potential Profiling）—— in-silico TCR 接触势能，生物物理可解释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许可，部署零申请；R + rJava + extraTrees（CRAN 已下架需 Archive 源码编译）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选用理由：HLA-agnostic 若不差说明序列内在特征够用；若很差反证 HLA 是关键信号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Repitope, Front Immunology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10.3389/fimmu.2019.00827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/we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github.com/masato-ogishi/Repitope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MIT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 3 / 7 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netMHCpan-4.1  BA mode  DTU  2020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HLA-肽结合亲和力金标准  验证「结合亲和力 ≠ 免疫原性」命题  ⚠️ 禁再分发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DTU pending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生态位  纯结合亲和力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allele 一个 .pep 文件（每行一条肽序列）；Linux 二进制，需 DTU 学术许可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格式：去 *（HLA-A*02:01 → HLA-A02:01），保留冒号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8-15mer；实测 53582 行（MT+WT）分组为 65 个 .pep 文件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部署：HPC /gpfs/work/bio/jiayu2403/quantimmu/ext_tools/netMHCpan-4.1/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-a HLA-A02:01 -BA -xls input.pep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-BA  Binding Affinity 模式（对比 -EL 洗脱配体模式）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-xls  输出 XLS 格式（parse_netmhcpan_ba.py 批量解析）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流水线：prep_netmhcpan_ba.py → sbatch run_netmhcpan_ba.sh → parse_netmhcpan_ba.py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Aff_nM：IC50 亲和力（nM），越低越强结合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Rnk_BA：%排位（百分比），越低越强结合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取负后 netmhcpan_ba_score = -Rnk_BA（越高=更强结合，与其他工具方向一致）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全部 34247 行标 pending_DTU_consent=True；对外前须 DTU 书面授权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HLA-肽结合亲和力金标准，覆盖 &gt;18,000 等位基因，新抗原流水线最广用上游工具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聚合下全场最强 Spearman rho=+0.381（p=0.0003），但仅 mean 聚合触发，不稳健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DTU 学术许可：禁止再分发在其软件上跑出的 benchmark 数字，投稿/对外前取书面同意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选用理由：直接验证「结合 ≠ 免疫原性」命题，量化 gap，为其他工具提供提升幅度参照系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netMHCpan-4.1, Nucleic Acids Res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10.1093/nar/gkaa379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/we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services.healthtech.dtu.dk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DTU 学术许可 ⚠️ 禁再分发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 4 / 7 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 2.0  提呈代理  2020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开源社区最广用提呈预测  双分数（affinity + presentation）  Apache-2.0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RUN_DONE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生态位  提呈代理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API：predictor.predict(peptides, alleles)；或 CLI（CSV）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peptides = str list；alleles = ['HLA-A*02:01']（标准格式，与 universe 一致）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8-15mer；支持 65 个 allele 全覆盖，0 NaN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 install mhcflurry + mhcflurry-downloads fetch models_class1_presentation（~70MB）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allele 分组循环预测（65 组，每组约 800 肽）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verbose=0 静默，1 进度条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全量 ~30-60min；GPU ~5min（TF 自动检测）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需隔离 conda env（TF 2.x；若环境有 TF 1.x 会冲突）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presentation_score [0,1]，越高越强提呈（直接用，不需翻转）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affinity nM → 取负 affinity_neg（越高=越强结合，正向化后与其他工具方向一致）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行，0 NaN（65 allele 全支持）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benchmark：AUC 0.432；affinity_neg mean 聚合 rho=-0.328(p=0.002)  ⚠️ 方向翻转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社区使用最广（openvax），多数新工具论文以其为必须对比的公共参照系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本身不直接预测 T 细胞免疫原性（提呈代理）；双分数可分析哪条更预测真值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Apache-2.0 完全自由发布（数字、结果无限制），pip 一键安装，无 DTU 申请障碍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选用理由：检验「提呈预测无免疫微调能否代理强弱定量」；不纳入 reviewer 会注意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 2.0, Cell Systems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10.1016/j.cels.2020.06.010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/we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github.com/openvax/mhcflurry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Apache-2.0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 5 / 7 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CNNeo / CNNeoPP  LLM 增强  2026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首个引入 BioBERT 蛋白质语言模型的新表位免疫原性工具  2026 最新  TESLA+ELISpot 验证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RUN_DONE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生态位  LLM 增强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CSV（peptide, hla）；HLA 标准格式 HLA-A*02:01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8-11mer 为训练分布内；12-14mer 轻度 OOD，分数可用但注意；&lt;8 或 &gt;14 自动过滤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WT 肽，无需基因组数据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实测：53582 行（MT+WT）→ 34247 行有分，0 NaN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三步流水线：prep_input.py → run_cnneo.py → parse_output.py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 cnn_biobert（BioBERT+TextCNN，需 HF 下载 ~500MB）；默认 FCNN_TF（TF-IDF，CPU 5-15min）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--smoke N 烟测（仅对 N 对推理，不影响训练）；--force-retrain 强制重训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无官方预训练权重：首次运行自动从 repo 内置 training_data.xlsx 训练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[0,1]（softmax class=1 概率），越高越免疫原，&gt;0.5 判阳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实测（FCNN_TF 自训 ValAcc ~75%）：34247 行，0 NaN，score 范围 0.13-0.96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AUC 0.382；per-patient fisherz -0.173（CI 全含 0，CI [-0.399, 0.073]）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label 辅助列：score&gt;0.5 → 1（分类标签）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首个引入 BioBERT 的新表位免疫原性工具；方法正交于 BigMHC（外部 LLM vs 自训大矩阵）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Frontiers in Immunology，TESLA+ELISpot 验证（与本 benchmark 真值同源）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许可，完全自由发布；FCNN_TF 子模型轻量，CPU 可完成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选用理由：填「LLM 增强序列表征」方法学空白；2026 最新，展示方法前沿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CNNeoPP, Front Immunology 2026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10.3389/fimmu.2026.1722117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/we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github.com/AaronChen007/neoantigen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MIT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 6 / 7 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 -m=im  大规模迁移  2023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两阶段迁移学习 7-checkpoint ensemble  pan-allele &gt;500 等位基因  Nature MI 2023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RUN_DONE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生态位  大规模迁移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CSV（mhc, pep）；HLA 格式宽容（HLA-A*02:01 / A*02:01 / A0201 均可，模糊匹配）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 8-14mer；实测 benchmark universe 全覆盖，0 NaN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WT 肽，无需基因组数据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实测：53582 行（MT+WT）→ 34247 行有分，0 NaN，BigMHC_IM 范围 0.0-0.95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predict.py -m=im -a=0 -p=1 -c=1 -d=cpu -j=4 -v=1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-m=im  免疫原性模式（自动加载 7 个不同 batch-size checkpoint ensemble，取平均分）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必须从 repo/src/ 目录运行（内部依赖相对路径 ../../models/ + ../data/）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git lfs clone ~5GB（含模型权重）；Windows 须 -j=1（避 spawn OOM）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BigMHC_IM [0,1]，越高越免疫原；直接用，无需翻转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个不同 batch-size checkpoint（bat512~bat32768/im）ensemble 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行，0 NaN；EL 模式官方验证 diff=4.5e-7（权重完整，管道正确）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AUC 0.396；per-patient fisherz -0.069（CI [-0.307, 0.176]，含 0）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两阶段迁移：Stage 1 EL 预训练（数十万 MHC-I 洗脱配体 MS 数据）→ Stage 2 IM 下游迁移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Nature MI 2023 高可信，同类比较精度最优，pan-allele 覆盖 &gt;500 等位基因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 Academic License（学术非商用）；发数字 ✅，商用需另签协议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选用理由：代表「大规模预训练 + 下游迁移」现代范式；reviewer 会注意其缺席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BigMHC, Nature Machine Intelligence 2023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10.1038/s42256-023-00694-6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/we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github.com/KarchinLab/bigmhc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学术非商用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 7 / 7 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  多域结构 SOTA  2025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多任务跨域 DL（ByteNet）融合 4 路信号  2025 Science Advances  ⚠️ 全聚合负相关，方向待核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CC-BY-NC-ND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生态位  多域结构 SOTA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CSV（Allele, peptide）；peptide 列必须小写（官方 bug：文档写大写，实际读小写）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 ≤20mer（最优 9-mer）；HLA 标准格式 HLA-A*02:01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MT-only，无需野生型对照，输入门槛低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前置：mhc_pseudo_matching.py I 过滤不支持 allele（实测 308 行被滤 → NaN）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两步：python mhc_pseudo_matching.py I input.csv input_mod.csv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python inference_csv.py --inf_type pmhc_im_neo --csv_path input_mod.csv --output out.csv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推理（device=cpu, batch_size=32）；Linux-only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官方代码 3 个 bug 需修复（列名 bug + pmhc_im_neo KeyError + dropout 确定性 bug）；权重 HuggingFace 下载，癌症任务仅需 0.53GB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[0,1]，官方定义越高越免疫原，&gt;0.5=阳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行，33939 行有分（308 行 allele 被过滤 NaN）；score 0.0057-0.7716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AUC 0.362（低于随机 0.5）；全聚合一致显著负相关（rho -0.23~-0.27，p&lt;0.05）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方向疑反转（高分=低应答？）；守复现零偏离红线，未擅自取反，标「方向待核」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跨域辅助多任务 DL（ByteNet 骨架）：联合 pMHC 结合 / TCR 结合 / 免疫原性四路信号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Science Advances（前身 TITANiAN, bioRxiv 2025.05.11.653308）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CC-BY-NC-ND 4.0：仅限学术非商用，禁衍生与分发修改版，报告数字须署名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选用理由：「复杂度上限」基线——最新 SOTA 若也弱，说明是数据瓶颈而非方法瓶颈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T-SCAPE, Science Advances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10.1126/sciadv.adz8759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/we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github.com/seoklab/T-SCAPE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CC-BY-NC-ND 4.0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横评结果  判别力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工具 AUC（DS2，max 聚合，阈值&gt;0）  新工具未破旧工具天花板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858000" cy="4864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auc_17tools_corre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27632"/>
            <a:ext cx="656539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53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图：17 工具 AUC 柱状图（DS2，max 聚合，阈值&gt;0）。虚线=随机 0.5；粗线=0.75。新工具（橙色/标注）与旧工具（蓝色）对比。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71232" y="1572768"/>
            <a:ext cx="40873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71232" y="1572768"/>
            <a:ext cx="82296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735824" y="16824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旧工具仍领先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35824" y="2048256"/>
            <a:ext cx="3749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0.719 / PredIG 0.660 / NeoTImmuML 0.655 居前三；新工具最高 Repitope 0.620 仅列第 4，未超旧工具天花板。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71232" y="3145536"/>
            <a:ext cx="40873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71232" y="3145536"/>
            <a:ext cx="82296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735824" y="3255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新工具整体落后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35824" y="3621024"/>
            <a:ext cx="3749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个新工具 AUC 集中在 0.36-0.62，中值约 0.42；6 个（Repitope 除外）全低于旧工具中值。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71232" y="4718304"/>
            <a:ext cx="40873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71232" y="4718304"/>
            <a:ext cx="82296" cy="14813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8" name="Text 15"/>
          <p:cNvSpPr/>
          <p:nvPr/>
        </p:nvSpPr>
        <p:spPr>
          <a:xfrm>
            <a:off x="7735824" y="48280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TSCAPE AUC 最低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735824" y="5193792"/>
            <a:ext cx="3749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 AUC 0.362，低于随机基线 0.5；与其全聚合显著负相关结论一致，分数方向疑反转。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横评结果  定量强弱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工具 Spearman（DS2，best-agg per tool）  corrected-full 口径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766560" cy="4864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spearman_17tools_corre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27632"/>
            <a:ext cx="649224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533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图：17 工具 Spearman 相关柱状图（corrected-full 口径，best-agg per tool）。* p&lt;0.05；横线=0；CI 线段。新旧工具分色。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79792" y="1572768"/>
            <a:ext cx="41788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79792" y="1572768"/>
            <a:ext cx="82296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0" name="Text 7"/>
          <p:cNvSpPr/>
          <p:nvPr/>
        </p:nvSpPr>
        <p:spPr>
          <a:xfrm>
            <a:off x="7644384" y="16642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netmhcpan_ba mean 聚合最强（DTU pending）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44384" y="2048256"/>
            <a:ext cx="3840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聚合 rho=+0.381 p=0.0003，AUC(mean,&gt;10)=0.714——全场最强信号，但仅 mean 聚合触发（max/top3 均 n.s.），聚合高度敏感，不稳健。⚠️ 所有数字 pending_DTU_consent=True。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79792" y="3145536"/>
            <a:ext cx="41788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79792" y="3145536"/>
            <a:ext cx="82296" cy="14813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4" name="Text 11"/>
          <p:cNvSpPr/>
          <p:nvPr/>
        </p:nvSpPr>
        <p:spPr>
          <a:xfrm>
            <a:off x="7644384" y="32369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TSCAPE 全聚合一致显著负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44384" y="3621024"/>
            <a:ext cx="3840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种聚合 rho 均 -0.23~-0.27，p 均&lt;0.05；AUC 0.362（低于随机）。分数语义疑反转（高分=低应答）；守复现零偏离红线，未取反，标「方向待核」。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79792" y="4718304"/>
            <a:ext cx="41788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79792" y="4718304"/>
            <a:ext cx="82296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8" name="Text 15"/>
          <p:cNvSpPr/>
          <p:nvPr/>
        </p:nvSpPr>
        <p:spPr>
          <a:xfrm>
            <a:off x="7644384" y="4809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MHCflurry_affinity 聚合方向翻转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644384" y="5193792"/>
            <a:ext cx="3840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rho=+0.158(n.s.) / mean -0.328(p=0.002) / top3 +0.215(p=0.047)——三聚合方向不一致，对「取最强 vs 平均结合」高度敏感；引用时须说明聚合依赖性。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新工具详细结果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per-patient Fisher-Z 加权均值  Spearman 聚合方向热图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715000" cy="4864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newtools_fisher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572768"/>
            <a:ext cx="548640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17220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图：7 新工具 per-patient Fisher-Z 加权均值 + 95% CI。CI_lo&gt;0 标 * = 统计显著正相关。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19088" y="1481328"/>
            <a:ext cx="5257800" cy="4864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9" name="Image 1" descr="D:/YJ-Agent/project/meeting/QuantImmuBench/analysis/figures/fig_newtools_spearman_heat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572768"/>
            <a:ext cx="5120640" cy="4663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19088" y="61722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图：7 新工具 x 3 聚合（max/mean/top3）Spearman 热图。* = p&lt;0.05；红色=正相关，蓝色=负相关。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条主要结论  数字来自 analysis/NEWTOOLS_ANALYSIS.md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72768"/>
            <a:ext cx="82296" cy="7955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55064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1  新工具整体未破旧工具天花板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655064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新工具组 per-patient fisherz 均值 0.052，旧工具组 0.137。旧工具最强 PRIME 0.300 [0.056,0.511]；新工具最强 MHCflurry_affinity_neg 0.248 [0.003,0.464]（CI 勉强排 0）。全 17 工具中 CI_lo&gt;0 的统计显著正相关仅 3 个：PRIME / IMPROVE / MHCflurry_affinity_neg。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8813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23160"/>
            <a:ext cx="82296" cy="7955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05456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2  netmhcpan_ba mean 聚合全场最强，但聚合敏感且 DTU pending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505456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聚合 rho=+0.381 p=0.0003，AUC(mean,&gt;10)=0.714——全场最强，但仅 mean 聚合触发，max/top3 均 n.s.，聚合高度敏感、不稳健。⚠️ 全部数字 pending_DTU_consent=True，对外前须 DTU 书面授权。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40080" y="3273552"/>
            <a:ext cx="108813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73552"/>
            <a:ext cx="82296" cy="7955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55848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3  TSCAPE 全聚合一致显著负相关（方向待核）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355848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种聚合 rho 约 -0.23~-0.27，p 均&lt;0.05；AUC 0.362（低于随机）。高度疑似分数语义反转（高分=低应答）或耐受性预测。⚠️ 守复现零偏离红线，未擅自取反；PPT 如实报负并标「方向待核」；需 verifier 回溯分数定义再定论。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40080" y="4123944"/>
            <a:ext cx="108813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23944"/>
            <a:ext cx="82296" cy="7955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06240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4  MHCflurry_affinity_neg 聚合方向翻转，三聚合不一致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4206240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rho=+0.158(n.s.) / mean rho=-0.328(p=0.002) / top3 rho=+0.215(p=0.047)——三聚合方向不一致，对「取最强结合 vs 平均结合」高度敏感。引用时不能只引最好 p 值，须说明聚合依赖性。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40080" y="4974336"/>
            <a:ext cx="108813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974336"/>
            <a:ext cx="82296" cy="7955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56632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5  Repitope（唯一 HLA-agnostic）AUC 0.620 排第四，但 fisherz 仍弱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5056632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0.620 排全 17 工具第 4，per-patient fisherz 0.119（CI [-0.112, 0.338] 含 0）；数据最全（n=9，reinference_pending=False）。肽序列内在信号存在，但 CI 含 0，定量预测仍弱，HLA 信息仍重要。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所有数字经 analysis/NEWTOOLS_ANALYSIS.md 核对（真源：metrics_ds2_16tools.csv + per_patient_spearman_16tools.csv，corrected-full 口径）。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结论与许可 Caveat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898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整体结论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349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整体仍「普遍弱相关」——新工具未改变结论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工具 per-patient fisherz 无一 &gt;0.35（最高 PRIME 0.300），中位数约 0.12，全落「弱相关」区间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无任何新工具实现「弱→中等」跨级提升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新工具价值 = 方法学覆盖面：统计/HLA-agnostic/纯结合/提呈/LLM/迁移/多域 7 类范式全测过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把「现有工具难做强弱定量」钉得更死 → 直接服务 QuantImmune 自研算法立项依据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46520" y="13898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许可 Caveat（对外前必处理）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1828800"/>
            <a:ext cx="5212080" cy="1316736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828800"/>
            <a:ext cx="64008" cy="1316736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7"/>
          <p:cNvSpPr/>
          <p:nvPr/>
        </p:nvSpPr>
        <p:spPr>
          <a:xfrm>
            <a:off x="6638544" y="19202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netMHCpan-BA（DTU 禁再分发）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38544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34247 行标 pending_DTU_consent=True。mean 聚合最强信号 rho=+0.381 暂不可对外引用。论文/PPT 含其数字前需取 Technical University of Denmark 书面同意（投稿阶段处理）。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46520" y="3236976"/>
            <a:ext cx="5212080" cy="1316736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3236976"/>
            <a:ext cx="64008" cy="1316736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38544" y="33284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T-SCAPE（CC-BY-NC-ND 4.0）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38544" y="369417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9E0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非商业 + 禁演绎。报告数字须标注来源（署名）；不得分发修改版代码/权重。⚠️ 全聚合显著负相关（AUC 0.362）方向待 verifier 诊断，使用前须确认分数语义是否反转。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46520" y="4645152"/>
            <a:ext cx="5212080" cy="1316736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4645152"/>
            <a:ext cx="64008" cy="1316736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38544" y="47365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5 工具（许可允许发数字）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38544" y="51023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BigMHC（学术非商用 ✅）  CNNeo（MIT ✅）  MHCflurry（Apache-2.0 ✅）  IEDB_Calis（NPOSL-3.0 ✅）  Repitope（MIT ✅）——无 DTU 禁令，数字可自由发布。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64465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数字真源：analysis/NEWTOOLS_ANALYSIS.md（metrics_ds2_16tools.csv + per_patient_spearman_16tools.csv，corrected-full 口径）。reinference_pending 工具（BigMHC/CNNeo/IEDB_Calis/MHCflurry/Repitope）Phase B 重推理后数字可能微变，方向不变。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新增 7 对比工具横评 · QuantImmuBench</dc:title>
  <dc:subject>PptxGenJS Presentation</dc:subject>
  <dc:creator>PptxGenJS</dc:creator>
  <cp:lastModifiedBy>PptxGenJS</cp:lastModifiedBy>
  <cp:revision>1</cp:revision>
  <dcterms:created xsi:type="dcterms:W3CDTF">2026-06-27T05:13:02Z</dcterms:created>
  <dcterms:modified xsi:type="dcterms:W3CDTF">2026-06-27T05:13:02Z</dcterms:modified>
</cp:coreProperties>
</file>
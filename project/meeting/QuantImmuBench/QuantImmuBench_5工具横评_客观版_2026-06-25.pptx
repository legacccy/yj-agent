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C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Shape 1"/>
          <p:cNvSpPr/>
          <p:nvPr/>
        </p:nvSpPr>
        <p:spPr>
          <a:xfrm>
            <a:off x="9171432" y="-1463040"/>
            <a:ext cx="4206240" cy="4206240"/>
          </a:xfrm>
          <a:prstGeom prst="ellipse">
            <a:avLst/>
          </a:prstGeom>
          <a:solidFill>
            <a:srgbClr val="028090">
              <a:alpha val="2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360152" y="3291840"/>
            <a:ext cx="2926080" cy="2926080"/>
          </a:xfrm>
          <a:prstGeom prst="ellipse">
            <a:avLst/>
          </a:prstGeom>
          <a:solidFill>
            <a:srgbClr val="00A896">
              <a:alpha val="18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371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02C3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癌症个性化新抗原疫苗 · 预测工具部署与基准评估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1874520"/>
            <a:ext cx="10515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新抗原免疫原性预测工具</a:t>
            </a:r>
            <a:endParaRPr lang="en-US" sz="4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部署测试与基准评估报告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822960" y="38862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第一批 5 工具：DeepImmuno · PredIG · pTuneos · IMPROVE · NeoTImmuML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68680" y="4663440"/>
            <a:ext cx="2926080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489204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8FB7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逐工具部署 + 工作原理 + 四类信息 · ELISpot 统一基准评估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FB7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单位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西交利物浦大学 · 癌症新抗原疫苗课题组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994392" y="61264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FB7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2026-06-25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项目背景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 · 报告范围 · 四类信息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5074920" cy="2788920"/>
          </a:xfrm>
          <a:prstGeom prst="rect">
            <a:avLst/>
          </a:prstGeom>
          <a:solidFill>
            <a:srgbClr val="0B3C49"/>
          </a:solidFill>
          <a:ln/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96112" y="1783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2C3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项目目标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96112" y="2212848"/>
            <a:ext cx="4617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构建一个能预测 T 细胞反应 </a:t>
            </a:r>
            <a:pPr indent="0" marL="0">
              <a:lnSpc>
                <a:spcPct val="118000"/>
              </a:lnSpc>
              <a:buNone/>
            </a:pPr>
            <a:r>
              <a:rPr lang="en-US" sz="1700" b="1" dirty="0">
                <a:solidFill>
                  <a:srgbClr val="02C3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「强弱程度」</a:t>
            </a:r>
            <a:pPr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的工具。</a:t>
            </a:r>
            <a:endParaRPr lang="en-US" sz="14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现有工具多数只判断「是否具有免疫原性」（二分类）；目标是更进一步，给出反应强度的连续估计（定量）。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4526280"/>
            <a:ext cx="507492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68680" y="4645152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本报告范围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4992624"/>
            <a:ext cx="4754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对第一批 5 个现有免疫原性预测工具完成部署与运行测试，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在统一的 ELISpot 实验数据上做横向基准评估，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0B3C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每个工具记录 4 类信息并整理成本报告。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126480" y="162763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每个工具记录的 4 类信息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126480" y="2103120"/>
            <a:ext cx="539496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72784" y="2313432"/>
            <a:ext cx="420624" cy="42062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6272784" y="23134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858000" y="2231136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输入数据格式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858000" y="2560320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文件格式、必填列、肽段长度、HLA 写法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126480" y="3054096"/>
            <a:ext cx="539496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272784" y="3264408"/>
            <a:ext cx="420624" cy="42062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9" name="Text 17"/>
          <p:cNvSpPr/>
          <p:nvPr/>
        </p:nvSpPr>
        <p:spPr>
          <a:xfrm>
            <a:off x="6272784" y="32644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858000" y="3182112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运行参数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858000" y="3511296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可调参数及其功能、运行模式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126480" y="4005072"/>
            <a:ext cx="539496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272784" y="4215384"/>
            <a:ext cx="420624" cy="42062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4" name="Text 22"/>
          <p:cNvSpPr/>
          <p:nvPr/>
        </p:nvSpPr>
        <p:spPr>
          <a:xfrm>
            <a:off x="6272784" y="42153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858000" y="4133088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输出数据含义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6858000" y="4462272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关键列、分数类型、能否定量强弱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126480" y="4956048"/>
            <a:ext cx="539496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272784" y="5166360"/>
            <a:ext cx="420624" cy="42062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9" name="Text 27"/>
          <p:cNvSpPr/>
          <p:nvPr/>
        </p:nvSpPr>
        <p:spPr>
          <a:xfrm>
            <a:off x="6272784" y="51663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858000" y="5084064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工具简介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6858000" y="5413248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所用方法、特点、优势与限制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126480" y="5943600"/>
            <a:ext cx="5394960" cy="457200"/>
          </a:xfrm>
          <a:prstGeom prst="rect">
            <a:avLst/>
          </a:prstGeom>
          <a:solidFill>
            <a:srgbClr val="E6F4F1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27648" y="5961888"/>
            <a:ext cx="5120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3C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个工具均完成部署并产出可进入基准的连续分数；端到端完整度分级见下页。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总览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个工具：方法 · 端到端完整度 · 基准判别力</a:t>
            </a:r>
            <a:endParaRPr lang="en-US" sz="26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91640"/>
          <a:ext cx="1088136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2377440"/>
                <a:gridCol w="1737360"/>
                <a:gridCol w="1554480"/>
                <a:gridCol w="310896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工具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方法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能否定量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基准 AUC*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端到端完整度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DeepImmuno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卷积网络 CNN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A89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连续 0–1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0.481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A89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完整端到端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PredIG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梯度提升树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A89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连续 0–1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0.661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A89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完整端到端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pTuneos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机器学习流程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A89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排名分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0.752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974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子模型 (对账 r=1.0)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IMPROVE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随机森林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A89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连续 0–1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0.621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974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特征降级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NeoTImmuML ★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集成机器学习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A89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概率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0.655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974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自训版 (非官方权重)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40080" y="525780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* 基准 AUC = ELISpot 测试集 DS2、max 聚合、阈值&gt;0 口径下的判别力（0.5=随机，与全项目其它交付同口径）。完整数字见 analysis/metrics_ds2.csv。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 NeoTImmuML：官方未发布预训练权重，基准使用基于公开数据自训的版本，数值不对标原论文。「端到端完整度」三档：完整双验证 / 子模型 / 降级或自训，均不影响进入基准，仅口径需说明。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 1 / 5 · 工作原理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DeepImmuno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335024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用卷积神经网络判断一条肽段能不能激活 CD8+ T 细胞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534924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68680" y="2011680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用什么输入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2359152"/>
            <a:ext cx="4937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只要两样东西：一条肽段序列（9 或 10 个氨基酸）和它对应的 HLA 分型。不需要基因组、不需要表达量，是十个工具里最省事的。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68680" y="3474720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模型怎么算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3822192"/>
            <a:ext cx="4937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先把氨基酸序列和 HLA 假基序按物化性质编码成一张数字矩阵，再用卷积神经网络（CNN）像扫图像一样扫过这张矩阵，自动抓出和免疫原性有关的局部模式，最后汇总成一个分数。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68680" y="4937760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给出什么输出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5285232"/>
            <a:ext cx="4937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输出一个 0 到 1 之间的连续分，越接近 1 表示越可能激活 T 细胞。实测已知强表位（如 CMV 的 NLVPMVATV）确实拿到高分，符合预期。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63640" y="1783080"/>
            <a:ext cx="5257800" cy="1481328"/>
          </a:xfrm>
          <a:prstGeom prst="roundRect">
            <a:avLst>
              <a:gd name="adj" fmla="val 3704"/>
            </a:avLst>
          </a:prstGeom>
          <a:solidFill>
            <a:srgbClr val="0B3C49"/>
          </a:solidFill>
          <a:ln/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46520" y="1892808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运行命令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64808" y="2203704"/>
            <a:ext cx="489204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单条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deepimmuno-cnn.py \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--mode single \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--epitope NLVPMVATV \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--hla HLA-A*0201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批量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deepimmuno-cnn.py --mode \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multiple --intdir in --outdir out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263640" y="3401568"/>
            <a:ext cx="5257800" cy="1417320"/>
          </a:xfrm>
          <a:prstGeom prst="roundRect">
            <a:avLst>
              <a:gd name="adj" fmla="val 3871"/>
            </a:avLst>
          </a:prstGeom>
          <a:solidFill>
            <a:srgbClr val="0B3C49"/>
          </a:solidFill>
          <a:ln/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46520" y="3511296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输入数据样例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64808" y="3822192"/>
            <a:ext cx="4892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CSV，两列，无表头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肽段, HLA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NLVPMVATV,HLA-A*0201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GILGFVFTL,HLA-A*0201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263640" y="4956048"/>
            <a:ext cx="5257800" cy="1371600"/>
          </a:xfrm>
          <a:prstGeom prst="roundRect">
            <a:avLst>
              <a:gd name="adj" fmla="val 4000"/>
            </a:avLst>
          </a:prstGeom>
          <a:solidFill>
            <a:srgbClr val="0B3C49"/>
          </a:solidFill>
          <a:ln/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446520" y="5065776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输出数据样例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64808" y="5376672"/>
            <a:ext cx="4892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peptide    HLA          immunogenicity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NLVPMVATV  HLA-A*0201   0.957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GILGFVFTL  HLA-A*0201   0.887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40080" y="6419088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i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  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DeepImmuno, Briefings in Bioinformatics 2021 · DOI 10.1093/bib/bbab160 · github.com/frankligy/DeepImmuno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 1 / 5 · 四类信息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DeepImmuno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335024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用卷积神经网络判断一条肽段能否激活 CD8+ T 细胞（HLA-I），最轻量、只要肽段+HLA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9262872" y="658368"/>
            <a:ext cx="2286000" cy="384048"/>
          </a:xfrm>
          <a:prstGeom prst="roundRect">
            <a:avLst>
              <a:gd name="adj" fmla="val 50000"/>
            </a:avLst>
          </a:prstGeom>
          <a:solidFill>
            <a:srgbClr val="00A896"/>
          </a:solidFill>
          <a:ln/>
        </p:spPr>
      </p:sp>
      <p:sp>
        <p:nvSpPr>
          <p:cNvPr id="7" name="Text 5"/>
          <p:cNvSpPr/>
          <p:nvPr/>
        </p:nvSpPr>
        <p:spPr>
          <a:xfrm>
            <a:off x="9262872" y="65836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完整端到端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262872" y="11155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  卷积网络 CNN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1874520"/>
            <a:ext cx="5486400" cy="2157984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" y="1874520"/>
            <a:ext cx="82296" cy="215798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896112" y="2020824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输入数据 / 格式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14400" y="2404872"/>
            <a:ext cx="4983480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CSV，两列无表头  peptide, HLA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肽段长度固定 9 或 10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HLA 写法  HLA-A*0201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不需要基因组 / HLA 库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19088" y="1874520"/>
            <a:ext cx="5486400" cy="2157984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19088" y="1874520"/>
            <a:ext cx="82296" cy="215798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5" name="Text 13"/>
          <p:cNvSpPr/>
          <p:nvPr/>
        </p:nvSpPr>
        <p:spPr>
          <a:xfrm>
            <a:off x="6675120" y="2020824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运行参数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693408" y="2404872"/>
            <a:ext cx="4983480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--mode single  单条，结果打印屏幕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--mode multiple  批量，指定输入输出目录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没有可调超参；须在 repo 根目录运行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0080" y="4325112"/>
            <a:ext cx="5486400" cy="2157984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0080" y="4325112"/>
            <a:ext cx="82296" cy="215798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9" name="Text 17"/>
          <p:cNvSpPr/>
          <p:nvPr/>
        </p:nvSpPr>
        <p:spPr>
          <a:xfrm>
            <a:off x="896112" y="4471416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输出格式 / 含义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14400" y="4855464"/>
            <a:ext cx="4983480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三列  peptide / HLA / immunogenicity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immunogenicity = 0~1 连续分，越高越强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实测已知强表位高分（CMV NLVPMVATV=0.957）→ 合理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419088" y="4325112"/>
            <a:ext cx="5486400" cy="2157984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419088" y="4325112"/>
            <a:ext cx="82296" cy="215798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3" name="Text 21"/>
          <p:cNvSpPr/>
          <p:nvPr/>
        </p:nvSpPr>
        <p:spPr>
          <a:xfrm>
            <a:off x="6675120" y="4471416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简介 / 特点优势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693408" y="4855464"/>
            <a:ext cx="4983480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最省事：纯肽段+HLA 就能跑，不依赖任何收费工具，CPU 即可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环境：Python3.8 + TensorFlow2.3（protobuf 须降到 3.20）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限制：肽长只能 9 或 10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40080" y="6419088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i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  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DeepImmuno, Briefings in Bioinformatics 2021 · DOI 10.1093/bib/bbab160 · github.com/frankligy/DeepImmuno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 2 / 5 · 工作原理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PredIG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335024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用梯度提升树预测免疫原性，并给出一串可解释的特征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534924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68680" y="2011680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用什么输入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2359152"/>
            <a:ext cx="4937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输入肽段、HLA 分型，以及（重组模式下）肽段所在的蛋白序列。支持三种输入模式，肽段长度 8–14。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68680" y="3474720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模型怎么算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3822192"/>
            <a:ext cx="4937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先调用一串内置工具算出 13 类特征——蛋白酶切位点、提呈分（NOAH）、物化性质、TCR 接触位点等——再把这些特征喂给 XGBoost 梯度提升树模型综合打分。特征可解释是它的卖点。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68680" y="4937760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给出什么输出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5285232"/>
            <a:ext cx="4937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输出一个 0 到 1 的免疫原性分（PredIG 列），同时附上那 13 列特征，方便回看模型是凭什么给的分。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63640" y="1783080"/>
            <a:ext cx="5257800" cy="1481328"/>
          </a:xfrm>
          <a:prstGeom prst="roundRect">
            <a:avLst>
              <a:gd name="adj" fmla="val 3704"/>
            </a:avLst>
          </a:prstGeom>
          <a:solidFill>
            <a:srgbClr val="0B3C49"/>
          </a:solidFill>
          <a:ln/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46520" y="1892808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运行命令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64808" y="2203704"/>
            <a:ext cx="489204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predig.py \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--type recombinant \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--modelXG neoant \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-i input.csv \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-o result.csv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263640" y="3401568"/>
            <a:ext cx="5257800" cy="1417320"/>
          </a:xfrm>
          <a:prstGeom prst="roundRect">
            <a:avLst>
              <a:gd name="adj" fmla="val 3871"/>
            </a:avLst>
          </a:prstGeom>
          <a:solidFill>
            <a:srgbClr val="0B3C49"/>
          </a:solidFill>
          <a:ln/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46520" y="3511296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输入数据样例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64808" y="3822192"/>
            <a:ext cx="4892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CSV，重组模式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epitope,HLA_allele,protein_seq,protein_name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SLLMWITQV,HLA-A*0201,MSLL...,TP53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263640" y="4956048"/>
            <a:ext cx="5257800" cy="1371600"/>
          </a:xfrm>
          <a:prstGeom prst="roundRect">
            <a:avLst>
              <a:gd name="adj" fmla="val 4000"/>
            </a:avLst>
          </a:prstGeom>
          <a:solidFill>
            <a:srgbClr val="0B3C49"/>
          </a:solidFill>
          <a:ln/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446520" y="5065776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输出数据样例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64808" y="5376672"/>
            <a:ext cx="4892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CSV，含 PredIG 分 + 13 列特征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epitope    PredIG   NOAH   TCR_contact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SLLMWITQV  0.0061   0.42   ...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40080" y="6419088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i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  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PredIG, Genome Medicine 2025 · DOI 10.1186/s13073-025-01569-8 · github.com/BSC-CNS-EAPM/PredIG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 2 / 5 · 四类信息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PredIG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335024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用梯度提升树预测 T 细胞表位免疫原性，按抗原类型分专用模型，结果可解释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9262872" y="658368"/>
            <a:ext cx="2286000" cy="384048"/>
          </a:xfrm>
          <a:prstGeom prst="roundRect">
            <a:avLst>
              <a:gd name="adj" fmla="val 50000"/>
            </a:avLst>
          </a:prstGeom>
          <a:solidFill>
            <a:srgbClr val="00A896"/>
          </a:solidFill>
          <a:ln/>
        </p:spPr>
      </p:sp>
      <p:sp>
        <p:nvSpPr>
          <p:cNvPr id="7" name="Text 5"/>
          <p:cNvSpPr/>
          <p:nvPr/>
        </p:nvSpPr>
        <p:spPr>
          <a:xfrm>
            <a:off x="9262872" y="65836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完整端到端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262872" y="11155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  梯度提升树 XGBoost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1874520"/>
            <a:ext cx="5486400" cy="2157984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" y="1874520"/>
            <a:ext cx="82296" cy="215798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896112" y="2020824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输入数据 / 格式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14400" y="2404872"/>
            <a:ext cx="4983480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种模式：Uniprot / Recombinant / FASTA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Recombinant 列  epitope, HLA_allele, protein_seq, protein_name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肽段 8–14 个氨基酸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19088" y="1874520"/>
            <a:ext cx="5486400" cy="2157984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19088" y="1874520"/>
            <a:ext cx="82296" cy="215798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5" name="Text 13"/>
          <p:cNvSpPr/>
          <p:nvPr/>
        </p:nvSpPr>
        <p:spPr>
          <a:xfrm>
            <a:off x="6675120" y="2020824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运行参数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693408" y="2404872"/>
            <a:ext cx="4983480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--modelXG  选模型（neoant / noncan / 自定义）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--type  选输入模式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-o  输出文件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0080" y="4325112"/>
            <a:ext cx="5486400" cy="2157984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0080" y="4325112"/>
            <a:ext cx="82296" cy="215798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9" name="Text 17"/>
          <p:cNvSpPr/>
          <p:nvPr/>
        </p:nvSpPr>
        <p:spPr>
          <a:xfrm>
            <a:off x="896112" y="4471416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输出格式 / 含义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14400" y="4855464"/>
            <a:ext cx="4983480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CSV，PredIG 列 = 0~1 连续免疫原性分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另附 13 列特征（切割/提呈/物化/TCR 接触等）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实测 SLLMWITQV = 0.0061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419088" y="4325112"/>
            <a:ext cx="5486400" cy="2157984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419088" y="4325112"/>
            <a:ext cx="82296" cy="215798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3" name="Text 21"/>
          <p:cNvSpPr/>
          <p:nvPr/>
        </p:nvSpPr>
        <p:spPr>
          <a:xfrm>
            <a:off x="6675120" y="4471416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简介 / 特点优势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693408" y="4855464"/>
            <a:ext cx="4983480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连续分 + 可解释特征 + 容器化（依赖全打包，省去装环境）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环境：官方 Docker（14.4G）→ HPC 转 Singularity（4.6G）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限制：镜像体积大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40080" y="6419088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i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  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PredIG, Genome Medicine 2025 · DOI 10.1186/s13073-025-01569-8 · github.com/BSC-CNS-EAPM/PredIG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 3 / 5 · 工作原理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pTuneos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335024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一整套新抗原流程；其中识别子模型可单独给肽段打分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534924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68680" y="2011680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用什么输入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2359152"/>
            <a:ext cx="4937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完整流程要测序变异（VCF）、表达量、拷贝数、肿瘤纯度、HLA——需要全基因组数据，喂不了纯肽段。但它的识别子模型 Pre&amp;RecNeo 只要三列：突变肽、对应野生肽、HLA，这部分能用来跑 ELISpot 肽段。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68680" y="3474720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模型怎么算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3822192"/>
            <a:ext cx="4937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完整流程先把测序变异注释成突变肽，再逐层打分；识别子模型则针对一对「突变肽 vs 野生肽」算结合、相似度、被 T 细胞识别等特征，输出免疫识别分。本基准用的就是这个子模型。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68680" y="4937760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给出什么输出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5285232"/>
            <a:ext cx="4937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完整流程给患者级排名分（乘了表达量和突变频率，需测序）；子模型给纯肽免疫识别分，这部分可与其它工具横比。实测示例数据端到端跑出 40 个候选新抗原。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63640" y="1783080"/>
            <a:ext cx="5257800" cy="1481328"/>
          </a:xfrm>
          <a:prstGeom prst="roundRect">
            <a:avLst>
              <a:gd name="adj" fmla="val 3704"/>
            </a:avLst>
          </a:prstGeom>
          <a:solidFill>
            <a:srgbClr val="0B3C49"/>
          </a:solidFill>
          <a:ln/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46520" y="1892808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运行命令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64808" y="2203704"/>
            <a:ext cx="489204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完整流程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pTuneos.py VCF -i config.yaml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识别子模型（喂肽段）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自写脚本调用 InVivoModelAndScore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263640" y="3401568"/>
            <a:ext cx="5257800" cy="1417320"/>
          </a:xfrm>
          <a:prstGeom prst="roundRect">
            <a:avLst>
              <a:gd name="adj" fmla="val 3871"/>
            </a:avLst>
          </a:prstGeom>
          <a:solidFill>
            <a:srgbClr val="0B3C49"/>
          </a:solidFill>
          <a:ln/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46520" y="3511296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输入数据样例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64808" y="3822192"/>
            <a:ext cx="4892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子模型输入：三列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MT_pep,     WT_pep,     HLA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AAAVFKTLP,  AAAVFKTLR,  HLA-A*02:01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263640" y="4956048"/>
            <a:ext cx="5257800" cy="1371600"/>
          </a:xfrm>
          <a:prstGeom prst="roundRect">
            <a:avLst>
              <a:gd name="adj" fmla="val 4000"/>
            </a:avLst>
          </a:prstGeom>
          <a:solidFill>
            <a:srgbClr val="0B3C49"/>
          </a:solidFill>
          <a:ln/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446520" y="5065776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输出数据样例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64808" y="5376672"/>
            <a:ext cx="4892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子模型识别分 model_pro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MT_pep      model_pro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AAAVFKTLP   0.73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40080" y="6419088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i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  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pTuneos, Genome Medicine 2019 · DOI 10.1186/s13073-019-0679-x · github.com/bm2-lab/pTuneos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 3 / 5 · 四类信息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pTuneos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335024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一整套个性化新抗原流程（从测序数据到排名）；识别子模型可单独拿肽段来打分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9262872" y="658368"/>
            <a:ext cx="2286000" cy="384048"/>
          </a:xfrm>
          <a:prstGeom prst="roundRect">
            <a:avLst>
              <a:gd name="adj" fmla="val 50000"/>
            </a:avLst>
          </a:prstGeom>
          <a:solidFill>
            <a:srgbClr val="C9743D"/>
          </a:solidFill>
          <a:ln/>
        </p:spPr>
      </p:sp>
      <p:sp>
        <p:nvSpPr>
          <p:cNvPr id="7" name="Text 5"/>
          <p:cNvSpPr/>
          <p:nvPr/>
        </p:nvSpPr>
        <p:spPr>
          <a:xfrm>
            <a:off x="9262872" y="65836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⚠️ 子模型端到端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262872" y="11155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  机器学习流程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1874520"/>
            <a:ext cx="5486400" cy="2157984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" y="1874520"/>
            <a:ext cx="82296" cy="215798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896112" y="2020824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输入数据 / 格式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14400" y="2404872"/>
            <a:ext cx="4983480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完整流程：测序变异 + 表达量 + 拷贝数 + 纯度 + HLA（要全基因组，喂不了纯肽）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 识别子模型：只要 突变肽 + 野生肽 + HLA 三列（能跑 ELISpot 肽）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19088" y="1874520"/>
            <a:ext cx="5486400" cy="2157984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19088" y="1874520"/>
            <a:ext cx="82296" cy="215798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5" name="Text 13"/>
          <p:cNvSpPr/>
          <p:nvPr/>
        </p:nvSpPr>
        <p:spPr>
          <a:xfrm>
            <a:off x="6675120" y="2020824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运行参数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693408" y="2404872"/>
            <a:ext cx="4983480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完整：python pTuneos.py  +  配置文件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子模型：自写脚本调用识别打分函数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可并行加速（多进程 + 批量结合预测）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0080" y="4325112"/>
            <a:ext cx="5486400" cy="2157984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0080" y="4325112"/>
            <a:ext cx="82296" cy="215798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9" name="Text 17"/>
          <p:cNvSpPr/>
          <p:nvPr/>
        </p:nvSpPr>
        <p:spPr>
          <a:xfrm>
            <a:off x="896112" y="4471416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输出格式 / 含义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14400" y="4855464"/>
            <a:ext cx="4983480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完整流程出患者级排名分（乘了表达/突变频率，需测序）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子模型出纯肽免疫原性识别分 → 这部分进基准、可与其它工具比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示例数据跑出 40 个候选新抗原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419088" y="4325112"/>
            <a:ext cx="5486400" cy="2157984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419088" y="4325112"/>
            <a:ext cx="82296" cy="215798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3" name="Text 21"/>
          <p:cNvSpPr/>
          <p:nvPr/>
        </p:nvSpPr>
        <p:spPr>
          <a:xfrm>
            <a:off x="6675120" y="4471416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简介 / 特点优势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693408" y="4855464"/>
            <a:ext cx="4983480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镜像自带 netMHCpan / VEP / GATK 等全套；修了 8 处坑 + 14G 注释缓存才端到端跑通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进基准用的是识别子模型，对账官方逻辑一致（r=1.0），不等于整条流程的端到端能力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完整流程在本地容器跑通；HPC 因权限限制未跑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40080" y="6419088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i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  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pTuneos, Genome Medicine 2019 · DOI 10.1186/s13073-019-0679-x · github.com/bm2-lab/pTuneos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 4 / 5 · 工作原理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IMPROVE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335024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用随机森林给新表位打分，整合了 22 个特征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534924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68680" y="2011680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用什么输入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2359152"/>
            <a:ext cx="4937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输入突变肽、对应野生肽、HLA（TSV 格式，肽段 8–12）。流程分两步：先算特征，再预测。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68680" y="3474720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模型怎么算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3822192"/>
            <a:ext cx="4937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第一步用外部工具算出 22 个特征（包含结合、稳定性、TCR 识别 PRIME 分、自相似度等）；第二步把特征喂给随机森林（每个变体 5 个森林做集成）综合打分。本基准里表达相关特征因 ELISpot 无 RNA 数据而降级。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68680" y="4937760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给出什么输出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5285232"/>
            <a:ext cx="4937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在输入表后追加一列 mean_prediction_rf，是多折多森林的集成平均分（0 到 1）。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63640" y="1783080"/>
            <a:ext cx="5257800" cy="1481328"/>
          </a:xfrm>
          <a:prstGeom prst="roundRect">
            <a:avLst>
              <a:gd name="adj" fmla="val 3704"/>
            </a:avLst>
          </a:prstGeom>
          <a:solidFill>
            <a:srgbClr val="0B3C49"/>
          </a:solidFill>
          <a:ln/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46520" y="1892808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运行命令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64808" y="2203704"/>
            <a:ext cx="489204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第一步：算特征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bash run_feature_calc.sh input.tsv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第二步：预测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Predict.py --model Simple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263640" y="3401568"/>
            <a:ext cx="5257800" cy="1417320"/>
          </a:xfrm>
          <a:prstGeom prst="roundRect">
            <a:avLst>
              <a:gd name="adj" fmla="val 3871"/>
            </a:avLst>
          </a:prstGeom>
          <a:solidFill>
            <a:srgbClr val="0B3C49"/>
          </a:solidFill>
          <a:ln/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46520" y="3511296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输入数据样例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64808" y="3822192"/>
            <a:ext cx="4892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TSV：突变肽 + 野生肽 + HLA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Mut_pep     Norm_pep    HLA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EEFLNSWML   EEFLNSWMV   HLA-B*08:01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263640" y="4956048"/>
            <a:ext cx="5257800" cy="1371600"/>
          </a:xfrm>
          <a:prstGeom prst="roundRect">
            <a:avLst>
              <a:gd name="adj" fmla="val 4000"/>
            </a:avLst>
          </a:prstGeom>
          <a:solidFill>
            <a:srgbClr val="0B3C49"/>
          </a:solidFill>
          <a:ln/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446520" y="5065776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输出数据样例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64808" y="5376672"/>
            <a:ext cx="4892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追加 mean_prediction_rf 列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Mut_pep     mean_prediction_rf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EEFLNSWML   0.5146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40080" y="6419088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i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  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IMPROVE, Frontiers in Immunology 2024 · DOI 10.3389/fimmu.2024.1360281 · github.com/SRHgroup/IMPROVE_tool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 4 / 5 · 四类信息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IMPROVE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335024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用随机森林给新表位的免疫原性打分，22 个特征，分三种变体模型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9262872" y="658368"/>
            <a:ext cx="2286000" cy="384048"/>
          </a:xfrm>
          <a:prstGeom prst="roundRect">
            <a:avLst>
              <a:gd name="adj" fmla="val 50000"/>
            </a:avLst>
          </a:prstGeom>
          <a:solidFill>
            <a:srgbClr val="C9743D"/>
          </a:solidFill>
          <a:ln/>
        </p:spPr>
      </p:sp>
      <p:sp>
        <p:nvSpPr>
          <p:cNvPr id="7" name="Text 5"/>
          <p:cNvSpPr/>
          <p:nvPr/>
        </p:nvSpPr>
        <p:spPr>
          <a:xfrm>
            <a:off x="9262872" y="65836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⚠️ 特征降级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262872" y="11155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  随机森林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1874520"/>
            <a:ext cx="5486400" cy="2157984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" y="1874520"/>
            <a:ext cx="82296" cy="215798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896112" y="2020824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输入数据 / 格式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14400" y="2404872"/>
            <a:ext cx="4983480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TSV，必填  突变肽 + 野生肽 + HLA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肽段 8–12 个氨基酸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两步走：先算特征，再跑随机森林预测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19088" y="1874520"/>
            <a:ext cx="5486400" cy="2157984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19088" y="1874520"/>
            <a:ext cx="82296" cy="215798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5" name="Text 13"/>
          <p:cNvSpPr/>
          <p:nvPr/>
        </p:nvSpPr>
        <p:spPr>
          <a:xfrm>
            <a:off x="6675120" y="2020824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运行参数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693408" y="2404872"/>
            <a:ext cx="4983480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--model  选 Simple / TME_excluded / TME_included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每个变体加载 5 个森林做集成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0080" y="4325112"/>
            <a:ext cx="5486400" cy="2157984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0080" y="4325112"/>
            <a:ext cx="82296" cy="215798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9" name="Text 17"/>
          <p:cNvSpPr/>
          <p:nvPr/>
        </p:nvSpPr>
        <p:spPr>
          <a:xfrm>
            <a:off x="896112" y="4471416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输出格式 / 含义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14400" y="4855464"/>
            <a:ext cx="4983480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TSV 追加一列  mean_prediction_rf（0~1 连续）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= 多折 × 多森林的集成平均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实测 Simple 变体 EEFLNSWML = 0.5146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419088" y="4325112"/>
            <a:ext cx="5486400" cy="2157984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419088" y="4325112"/>
            <a:ext cx="82296" cy="215798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3" name="Text 21"/>
          <p:cNvSpPr/>
          <p:nvPr/>
        </p:nvSpPr>
        <p:spPr>
          <a:xfrm>
            <a:off x="6675120" y="4471416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简介 / 特点优势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693408" y="4855464"/>
            <a:ext cx="4983480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22 个特征专为新表位排名设计，整合了 TCR 识别信号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缺口：ELISpot 没有 RNA 表达量 → 表达相关特征降级；稳定性特征依赖的外部工具受系统库版本所限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预测步本地+HPC 都跑通；这是「数据缺一块」不是「装不上」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40080" y="6419088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i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  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IMPROVE, Frontiers in Immunology 2024 · DOI 10.3389/fimmu.2024.1360281 · github.com/SRHgroup/IMPROVE_tool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 5 / 5 · 工作原理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NeoTImmuML ★ 自训版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335024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三种模型加权集成，用 78 个肽段物化特征；官方无权重，本基准为自训版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534924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68680" y="2011680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用什么输入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2359152"/>
            <a:ext cx="4937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输入肽段加上 78 个物化特征（要先用 R 的 Peptides 包算好），不需要 HLA，肽段 8–13。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68680" y="3474720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模型怎么算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3822192"/>
            <a:ext cx="4937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 78 维特征喂给 LightGBM、XGBoost、随机森林三个模型，再加权集成成一个概率。官方仓库是研究用 notebook、没带预训练权重，所以本基准用公开肿瘤抗原库自己重训了一版（数值不对标原论文）。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68680" y="4937760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给出什么输出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5285232"/>
            <a:ext cx="4937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 0 到 1 的免疫原性概率（predict_proba），能用来排强弱；同时给分类指标和雷达图。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63640" y="1783080"/>
            <a:ext cx="5257800" cy="1481328"/>
          </a:xfrm>
          <a:prstGeom prst="roundRect">
            <a:avLst>
              <a:gd name="adj" fmla="val 3704"/>
            </a:avLst>
          </a:prstGeom>
          <a:solidFill>
            <a:srgbClr val="0B3C49"/>
          </a:solidFill>
          <a:ln/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46520" y="1892808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运行命令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64808" y="2203704"/>
            <a:ext cx="489204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不是命令行，是 Jupyter notebook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改 file_path 指向数据后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顺序运行 21 个单元格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（含 8 算法对比 + 加权集成）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263640" y="3401568"/>
            <a:ext cx="5257800" cy="1417320"/>
          </a:xfrm>
          <a:prstGeom prst="roundRect">
            <a:avLst>
              <a:gd name="adj" fmla="val 3871"/>
            </a:avLst>
          </a:prstGeom>
          <a:solidFill>
            <a:srgbClr val="0B3C49"/>
          </a:solidFill>
          <a:ln/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46520" y="3511296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输入数据样例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64808" y="3822192"/>
            <a:ext cx="4892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CSV：肽段 + 标签 + 78 特征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Peptide    label  feat1  feat2 ... feat78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AAAVFKTLP  1      0.12   -0.4  ...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263640" y="4956048"/>
            <a:ext cx="5257800" cy="1371600"/>
          </a:xfrm>
          <a:prstGeom prst="roundRect">
            <a:avLst>
              <a:gd name="adj" fmla="val 4000"/>
            </a:avLst>
          </a:prstGeom>
          <a:solidFill>
            <a:srgbClr val="0B3C49"/>
          </a:solidFill>
          <a:ln/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446520" y="5065776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输出数据样例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64808" y="5376672"/>
            <a:ext cx="4892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predict_proba 连续概率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Peptide    immuno_prob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AAAVFKTLP  0.81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40080" y="6419088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i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  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NeoTImmuML, Frontiers in Immunology 2025 · DOI 10.3389/fimmu.2025.1681396 · github.com/01SYan19/NeoTImmuML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 5 / 5 · 四类信息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NeoTImmuML ★ 自训版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335024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三种模型加权集成（LightGBM+XGBoost+随机森林）预测肿瘤新抗原免疫原性，用 78 个肽段物化特征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9262872" y="658368"/>
            <a:ext cx="2286000" cy="384048"/>
          </a:xfrm>
          <a:prstGeom prst="roundRect">
            <a:avLst>
              <a:gd name="adj" fmla="val 50000"/>
            </a:avLst>
          </a:prstGeom>
          <a:solidFill>
            <a:srgbClr val="C9743D"/>
          </a:solidFill>
          <a:ln/>
        </p:spPr>
      </p:sp>
      <p:sp>
        <p:nvSpPr>
          <p:cNvPr id="7" name="Text 5"/>
          <p:cNvSpPr/>
          <p:nvPr/>
        </p:nvSpPr>
        <p:spPr>
          <a:xfrm>
            <a:off x="9262872" y="65836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⚠️ 自训版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262872" y="11155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  集成机器学习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1874520"/>
            <a:ext cx="5486400" cy="2157984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" y="1874520"/>
            <a:ext cx="82296" cy="215798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896112" y="2020824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输入数据 / 格式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14400" y="2404872"/>
            <a:ext cx="4983480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CSV：肽段 + 标签 + 78 个物化特征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肽段 8–13 个氨基酸，不需要 HLA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78 个特征要先用 R 的 Peptides 包算好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19088" y="1874520"/>
            <a:ext cx="5486400" cy="2157984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19088" y="1874520"/>
            <a:ext cx="82296" cy="215798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5" name="Text 13"/>
          <p:cNvSpPr/>
          <p:nvPr/>
        </p:nvSpPr>
        <p:spPr>
          <a:xfrm>
            <a:off x="6675120" y="2020824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运行参数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693408" y="2404872"/>
            <a:ext cx="4983480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不是命令行，是 Jupyter notebook（21 个单元格）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改路径指向数据；内含 8 种算法对比 + 加权集成 + 交叉验证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0080" y="4325112"/>
            <a:ext cx="5486400" cy="2157984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0080" y="4325112"/>
            <a:ext cx="82296" cy="215798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9" name="Text 17"/>
          <p:cNvSpPr/>
          <p:nvPr/>
        </p:nvSpPr>
        <p:spPr>
          <a:xfrm>
            <a:off x="896112" y="4471416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输出格式 / 含义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14400" y="4855464"/>
            <a:ext cx="4983480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分类指标 + 雷达图 + 连续概率（能分强弱）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 官方没放预训练权重 → 基准用自训的版本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数值不对标原论文精度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419088" y="4325112"/>
            <a:ext cx="5486400" cy="2157984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419088" y="4325112"/>
            <a:ext cx="82296" cy="215798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3" name="Text 21"/>
          <p:cNvSpPr/>
          <p:nvPr/>
        </p:nvSpPr>
        <p:spPr>
          <a:xfrm>
            <a:off x="6675120" y="4471416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简介 / 特点优势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693408" y="4855464"/>
            <a:ext cx="4983480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纯肽段特征，不要 HLA、不要任何收费工具，装起来最省心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限制：是研究用 notebook，没带权重 → 用公开肿瘤抗原库重训了一版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不含 78 特征的计算代码 → 要自己用 R 算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40080" y="6419088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i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  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NeoTImmuML, Frontiers in Immunology 2025 · DOI 10.3389/fimmu.2025.1681396 · github.com/01SYan19/NeoTImmuML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部署环境与典型技术问题（按工具归属）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1645920"/>
            <a:ext cx="4206240" cy="4434840"/>
          </a:xfrm>
          <a:prstGeom prst="rect">
            <a:avLst/>
          </a:prstGeom>
          <a:solidFill>
            <a:srgbClr val="0B3C49"/>
          </a:solidFill>
          <a:ln/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18745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2C3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部署环境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68680" y="2286000"/>
            <a:ext cx="37947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本机 WSL2 Ubuntu</a:t>
            </a:r>
            <a:endParaRPr lang="en-US" sz="13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150" dirty="0">
                <a:solidFill>
                  <a:srgbClr val="9FD9C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调试主场 · 直通显卡 · conda + Docker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学校 HPC 集群</a:t>
            </a:r>
            <a:endParaRPr lang="en-US" sz="13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150" dirty="0">
                <a:solidFill>
                  <a:srgbClr val="9FD9C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最终部署目标 · Singularity 容器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出网情况</a:t>
            </a:r>
            <a:endParaRPr lang="en-US" sz="1350" dirty="0"/>
          </a:p>
          <a:p>
            <a:pPr indent="0" marL="0">
              <a:buNone/>
            </a:pPr>
            <a:r>
              <a:rPr lang="en-US" sz="1150" dirty="0">
                <a:solidFill>
                  <a:srgbClr val="9FD9C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GitHub / PyPI / DTU 通；Docker Hub 不通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120640" y="17373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典型的坑与解法（标明工具）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120640" y="2194560"/>
            <a:ext cx="310896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120640" y="2194560"/>
            <a:ext cx="3108960" cy="54864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1" name="Text 9"/>
          <p:cNvSpPr/>
          <p:nvPr/>
        </p:nvSpPr>
        <p:spPr>
          <a:xfrm>
            <a:off x="5285232" y="2313432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DeepImmuno：版本敏感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285232" y="2651760"/>
            <a:ext cx="28163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protobuf 必须降到 3.20，否则报 Descriptors 错；TF2.3 + Python3.8 严格对版本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8412480" y="2194560"/>
            <a:ext cx="310896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412480" y="2194560"/>
            <a:ext cx="3108960" cy="54864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5" name="Text 13"/>
          <p:cNvSpPr/>
          <p:nvPr/>
        </p:nvSpPr>
        <p:spPr>
          <a:xfrm>
            <a:off x="8577072" y="2313432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PredIG：镜像体积大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577072" y="2651760"/>
            <a:ext cx="28163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官方 Docker 14.4G；HPC 不通 Docker Hub → 转 Singularity（4.6G）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120640" y="3493008"/>
            <a:ext cx="310896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120640" y="3493008"/>
            <a:ext cx="3108960" cy="54864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9" name="Text 17"/>
          <p:cNvSpPr/>
          <p:nvPr/>
        </p:nvSpPr>
        <p:spPr>
          <a:xfrm>
            <a:off x="5285232" y="3611880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pTuneos：老链 + 大缓存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285232" y="3950208"/>
            <a:ext cx="28163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老依赖修了 8 处坑 + VEP 注释缓存 14G 才端到端跑通；HPC 因容器权限受限未跑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8412480" y="3493008"/>
            <a:ext cx="310896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412480" y="3493008"/>
            <a:ext cx="3108960" cy="54864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23" name="Text 21"/>
          <p:cNvSpPr/>
          <p:nvPr/>
        </p:nvSpPr>
        <p:spPr>
          <a:xfrm>
            <a:off x="8577072" y="3611880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IMPROVE：外部工具受限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8577072" y="3950208"/>
            <a:ext cx="28163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稳定性特征依赖的 netMHCstabpan 受系统库版本所限；表达特征因无 RNA 降级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120640" y="4791456"/>
            <a:ext cx="310896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120640" y="4791456"/>
            <a:ext cx="3108960" cy="54864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27" name="Text 25"/>
          <p:cNvSpPr/>
          <p:nvPr/>
        </p:nvSpPr>
        <p:spPr>
          <a:xfrm>
            <a:off x="5285232" y="4910328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NeoTImmuML：无官方权重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285232" y="5248656"/>
            <a:ext cx="28163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研究用 notebook 不带权重 → 用公开数据自训；78 特征需先用 R 算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8412480" y="4791456"/>
            <a:ext cx="310896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412480" y="4791456"/>
            <a:ext cx="3108960" cy="54864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31" name="Text 29"/>
          <p:cNvSpPr/>
          <p:nvPr/>
        </p:nvSpPr>
        <p:spPr>
          <a:xfrm>
            <a:off x="8577072" y="4910328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通用：Docker Hub 不通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8577072" y="5248656"/>
            <a:ext cx="28163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HPC 出网受限 → 镜像转 Singularity；老二进制改内核兼容配置绕过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基准方法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用什么数据、怎么比、看什么指标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1088136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691640"/>
            <a:ext cx="82296" cy="107899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837944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测试数据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108960" y="1819656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 ELISpot 实验数据 DS2：101 条肽段。按实验反应值切分 —— 有反应 90 条、无反应 11 条（反应值≤0 算真无反应）。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2862072"/>
            <a:ext cx="1088136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" y="2862072"/>
            <a:ext cx="82296" cy="1078992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3008376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0A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参评工具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108960" y="2990088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第一批 5 个免疫原性工具：DeepImmuno / PredIG / pTuneos / IMPROVE / NeoTImmuML。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4032504"/>
            <a:ext cx="1088136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0080" y="4032504"/>
            <a:ext cx="82296" cy="107899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4178808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怎么比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108960" y="41605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一条肽段拆成多个子肽×HLA，先聚合（统一取 max 最大值，与全项目其它交付同口径）再按阈值切，保证可比。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5202936"/>
            <a:ext cx="1088136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0080" y="5202936"/>
            <a:ext cx="82296" cy="107899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9" name="Text 17"/>
          <p:cNvSpPr/>
          <p:nvPr/>
        </p:nvSpPr>
        <p:spPr>
          <a:xfrm>
            <a:off x="914400" y="534924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看什么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3108960" y="5330952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AUC（能否分开「有反应/无反应」，0.5=随机）、AUPRC、Spearman 相关（分数与反应强弱是否同向 = 能否定量）。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0080" y="63550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所有数字经 analysis/metrics_ds2.csv 核对（max 聚合, &gt;0）；图表为 5 工具 max 聚合版，与全项目口径一致。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C9743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74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判别力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工具 AUC：除 pTuneos / PredIG 外，多数接近随机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685800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pic>
        <p:nvPicPr>
          <p:cNvPr id="6" name="Image 0" descr="D:/YJ-Agent/project/meeting/QuantImmuBench/analysis/figures/fig6_5tools_auc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13232" y="1691640"/>
            <a:ext cx="6537960" cy="42976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66928" y="603504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图：5 工具 AUC（DS2，max 聚合，阈值&gt;0）+ 95% bootstrap CI。虚线=随机 0.5。pTuneos 0.75、PredIG 0.66 居前；DeepImmuno 0.48 低于随机。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7589520" y="1627632"/>
            <a:ext cx="406908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589520" y="1627632"/>
            <a:ext cx="82296" cy="148132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0" name="Text 7"/>
          <p:cNvSpPr/>
          <p:nvPr/>
        </p:nvSpPr>
        <p:spPr>
          <a:xfrm>
            <a:off x="7772400" y="1737360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两个居前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772400" y="2084832"/>
            <a:ext cx="3749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pTuneos（0.75）与 PredIG（0.66）在阈值&gt;0 下判别力点估相对最好；其余三个在 0.48–0.66 之间。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7589520" y="3200400"/>
            <a:ext cx="406908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7589520" y="3200400"/>
            <a:ext cx="82296" cy="1481328"/>
          </a:xfrm>
          <a:prstGeom prst="rect">
            <a:avLst/>
          </a:prstGeom>
          <a:solidFill>
            <a:srgbClr val="C9743D"/>
          </a:solidFill>
          <a:ln/>
        </p:spPr>
      </p:sp>
      <p:sp>
        <p:nvSpPr>
          <p:cNvPr id="14" name="Text 11"/>
          <p:cNvSpPr/>
          <p:nvPr/>
        </p:nvSpPr>
        <p:spPr>
          <a:xfrm>
            <a:off x="7772400" y="3310128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74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阈值敏感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7772400" y="3657600"/>
            <a:ext cx="3749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换更严的阈值（&gt;median），pTuneos 从 0.75 掉到 0.53、DeepImmuno 始终≤0.52 → 多数工具的优势不跨阈值稳健。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7589520" y="4773168"/>
            <a:ext cx="406908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7589520" y="4773168"/>
            <a:ext cx="82296" cy="1481328"/>
          </a:xfrm>
          <a:prstGeom prst="rect">
            <a:avLst/>
          </a:prstGeom>
          <a:solidFill>
            <a:srgbClr val="B23A48"/>
          </a:solidFill>
          <a:ln/>
        </p:spPr>
      </p:sp>
      <p:sp>
        <p:nvSpPr>
          <p:cNvPr id="18" name="Text 15"/>
          <p:cNvSpPr/>
          <p:nvPr/>
        </p:nvSpPr>
        <p:spPr>
          <a:xfrm>
            <a:off x="7772400" y="4882896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23A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样本小须谨慎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7772400" y="5230368"/>
            <a:ext cx="3749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无反应样本仅 11 个，工具间的差距置信区间较宽；本页给点估，不下「最优」判断。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判别力 · ROC 曲线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工具 ROC：多数贴近随机对角线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685800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pic>
        <p:nvPicPr>
          <p:cNvPr id="6" name="Image 0" descr="D:/YJ-Agent/project/meeting/QuantImmuBench/analysis/figures/fig8_5tools_roc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77240" y="1645920"/>
            <a:ext cx="6400800" cy="45262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66928" y="6053328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图：5 工具 ROC 曲线（DS2，max 聚合，阈值&gt;0）。曲线越往左上凸=判别力越强；贴近对角线=接近随机。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7589520" y="1645920"/>
            <a:ext cx="406908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589520" y="1645920"/>
            <a:ext cx="82296" cy="14630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0" name="Text 7"/>
          <p:cNvSpPr/>
          <p:nvPr/>
        </p:nvSpPr>
        <p:spPr>
          <a:xfrm>
            <a:off x="7772400" y="176479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怎么看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772400" y="2121408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曲线离左上角越远 = 判别力越强；贴着对角线 = 与随机猜测相当。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7589520" y="3200400"/>
            <a:ext cx="406908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7589520" y="3200400"/>
            <a:ext cx="82296" cy="1463040"/>
          </a:xfrm>
          <a:prstGeom prst="rect">
            <a:avLst/>
          </a:prstGeom>
          <a:solidFill>
            <a:srgbClr val="C9743D"/>
          </a:solidFill>
          <a:ln/>
        </p:spPr>
      </p:sp>
      <p:sp>
        <p:nvSpPr>
          <p:cNvPr id="14" name="Text 11"/>
          <p:cNvSpPr/>
          <p:nvPr/>
        </p:nvSpPr>
        <p:spPr>
          <a:xfrm>
            <a:off x="7772400" y="331927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74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表现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7772400" y="3675888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pTuneos、PredIG 的曲线较明显凸向左上；DeepImmuno 等缠绕在对角线附近。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7589520" y="4754880"/>
            <a:ext cx="406908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7589520" y="4754880"/>
            <a:ext cx="82296" cy="146304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8" name="Text 15"/>
          <p:cNvSpPr/>
          <p:nvPr/>
        </p:nvSpPr>
        <p:spPr>
          <a:xfrm>
            <a:off x="7772400" y="487375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A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与柱状图一致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7772400" y="5230368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与上一页 AUC 柱状图相互印证：仅少数工具具备一定判别力。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能否定量强弱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分数与真实反应强度的相关：仅个别工具显著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640080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pic>
        <p:nvPicPr>
          <p:cNvPr id="6" name="Image 0" descr="D:/YJ-Agent/project/meeting/QuantImmuBench/analysis/figures/fig7_5tools_spearma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85800" y="1645920"/>
            <a:ext cx="6126480" cy="45262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66928" y="605332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图：5 工具 Spearman 相关（max 聚合，分数 vs 反应强度）。* = p&lt;0.05。仅 IMPROVE / PredIG 显著正相关。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7132320" y="1600200"/>
            <a:ext cx="4526280" cy="2331720"/>
          </a:xfrm>
          <a:prstGeom prst="rect">
            <a:avLst/>
          </a:prstGeom>
          <a:solidFill>
            <a:srgbClr val="0B3C49"/>
          </a:solidFill>
          <a:ln/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315200" y="175564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2C3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Spearman 相关（分数 vs 反应强度）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7315200" y="2212848"/>
            <a:ext cx="41605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IMPROVE  ρ=0.243（p=0.014，显著）</a:t>
            </a:r>
            <a:endParaRPr lang="en-US" sz="1100" dirty="0"/>
          </a:p>
          <a:p>
            <a:pPr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PredIG  ρ=0.198（p=0.047，显著）</a:t>
            </a:r>
            <a:endParaRPr lang="en-US" sz="11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pTuneos ρ=0.136、NeoTImmuML ρ=0.022、DeepImmuno ρ=−0.117 —— 均不显著。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7132320" y="4069080"/>
            <a:ext cx="4526280" cy="2194560"/>
          </a:xfrm>
          <a:prstGeom prst="rect">
            <a:avLst/>
          </a:prstGeom>
          <a:solidFill>
            <a:srgbClr val="E6F4F1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315200" y="4187952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用全阳数据 DS1 进一步验证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7315200" y="4535424"/>
            <a:ext cx="41605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DS1 = 82 条肽，全部有反应（强度差约 40 倍）。在 DS2 上头部还能正向排强弱的工具，到全阳的 DS1 上相关系数普遍落到 0 附近。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0B3C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说明现有工具的能力集中在「区分有/无反应」，对「反应有多强」的定量预测仍弱 —— 这正是「强弱定量」方向的空白所在。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C9743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74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诚实边界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已知限制与口径说明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72237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691640"/>
            <a:ext cx="82296" cy="1097280"/>
          </a:xfrm>
          <a:prstGeom prst="rect">
            <a:avLst/>
          </a:prstGeom>
          <a:solidFill>
            <a:srgbClr val="B23A48"/>
          </a:solidFill>
          <a:ln/>
        </p:spPr>
      </p:sp>
      <p:sp>
        <p:nvSpPr>
          <p:cNvPr id="7" name="Text 5"/>
          <p:cNvSpPr/>
          <p:nvPr/>
        </p:nvSpPr>
        <p:spPr>
          <a:xfrm>
            <a:off x="896112" y="1819656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B23A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样本量较小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697480" y="1801368"/>
            <a:ext cx="50292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无反应样本仅 11 个 → AUC/相关的置信区间偏宽，工具间小于 0.05 的 AUC 差距不具显著性。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40080" y="2880360"/>
            <a:ext cx="72237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" y="2880360"/>
            <a:ext cx="82296" cy="1097280"/>
          </a:xfrm>
          <a:prstGeom prst="rect">
            <a:avLst/>
          </a:prstGeom>
          <a:solidFill>
            <a:srgbClr val="C9743D"/>
          </a:solidFill>
          <a:ln/>
        </p:spPr>
      </p:sp>
      <p:sp>
        <p:nvSpPr>
          <p:cNvPr id="11" name="Text 9"/>
          <p:cNvSpPr/>
          <p:nvPr/>
        </p:nvSpPr>
        <p:spPr>
          <a:xfrm>
            <a:off x="896112" y="3008376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974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数据存在聚集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697480" y="2990088"/>
            <a:ext cx="50292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101 条肽来自 9 个病人，部分病人贡献较多阴性肽 → 有效样本数小于 101，判别力可能部分反映「区分病人」。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40080" y="4069080"/>
            <a:ext cx="72237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0080" y="4069080"/>
            <a:ext cx="82296" cy="10972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5" name="Text 13"/>
          <p:cNvSpPr/>
          <p:nvPr/>
        </p:nvSpPr>
        <p:spPr>
          <a:xfrm>
            <a:off x="896112" y="4197096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完整度分级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697480" y="4178808"/>
            <a:ext cx="50292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DeepImmuno / PredIG 完整端到端双验证；pTuneos 为识别子模型（对账 r=1.0）；IMPROVE 特征链降级；NeoTImmuML 为自训版（非官方权重）。结论按此口径解读。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40080" y="5257800"/>
            <a:ext cx="72237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0080" y="5257800"/>
            <a:ext cx="82296" cy="109728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9" name="Text 17"/>
          <p:cNvSpPr/>
          <p:nvPr/>
        </p:nvSpPr>
        <p:spPr>
          <a:xfrm>
            <a:off x="896112" y="5385816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A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聚合口径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697480" y="5367528"/>
            <a:ext cx="50292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本报告统一采用 max 聚合（与全项目其它交付一致）；换 mean / top3mean 点估略有差异，但「多数工具判别力偏弱、定量相关弱」的总体结论一致。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8046720" y="1691640"/>
            <a:ext cx="3611880" cy="4572000"/>
          </a:xfrm>
          <a:prstGeom prst="rect">
            <a:avLst/>
          </a:prstGeom>
          <a:solidFill>
            <a:srgbClr val="4A1F24"/>
          </a:solidFill>
          <a:ln/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275320" y="18745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C2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⚠️ 许可提示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275320" y="2331720"/>
            <a:ext cx="324612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netMHCpan / netMHCstabpan</a:t>
            </a:r>
            <a:endParaRPr lang="en-US" sz="1250" dirty="0"/>
          </a:p>
          <a:p>
            <a:pPr indent="0" marL="0">
              <a:lnSpc>
                <a:spcPct val="105000"/>
              </a:lnSpc>
              <a:spcAft>
                <a:spcPts val="1400"/>
              </a:spcAft>
              <a:buNone/>
            </a:pPr>
            <a:r>
              <a:rPr lang="en-US" sz="1100" dirty="0">
                <a:solidFill>
                  <a:srgbClr val="F2C2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 DTU 学术许可。未经书面同意，不得向第三方发布在其软件上跑出的结果（含数字）。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pTuneos / IMPROVE 依赖上述工具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2C2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对外报告含相关对比数字前，需先取得 DTU 书面同意（投稿阶段处理）。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参考文献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个工具的论文出处与代码仓库</a:t>
            </a:r>
            <a:endParaRPr lang="en-US" sz="26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91640"/>
          <a:ext cx="1092708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2834640"/>
                <a:gridCol w="2606040"/>
                <a:gridCol w="361188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 工具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发表期刊 / 年份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DOI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代码仓库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 DeepImmuno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Briefings in Bioinformatics 2021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10.1093/bib/bbab160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github.com/frankligy/DeepImmuno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 PredIG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Genome Medicine 2025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10.1186/s13073-025-01569-8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github.com/BSC-CNS-EAPM/PredIG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 pTuneos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Genome Medicine 2019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10.1186/s13073-019-0679-x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github.com/bm2-lab/pTuneos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 IMPROVE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Frontiers in Immunology 2024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10.3389/fimmu.2024.1360281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github.com/SRHgroup/IMPROVE_tool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 NeoTImmuML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Frontiers in Immunology 2025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10.3389/fimmu.2025.1681396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github.com/01SYan19/NeoTImmuML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40080" y="5074920"/>
            <a:ext cx="10927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外部依赖工具：netMHCpan / netMHCstabpan（DTU Health Tech，学术许可）· MixMHCpred（Gfeller lab）· Ensembl VEP · R Peptides 包。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B3C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6400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结论与下一步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22960" y="16916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已完成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2148840"/>
            <a:ext cx="534924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个工具全部完成部署，四类信息逐工具记录齐全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DeepImmuno / PredIG 完整端到端双验证；其余按口径诚实分级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ELISpot 基准结论：5 个工具判别力总体偏弱，仅 pTuneos / PredIG 点估居前；定量相关仅 IMPROVE / PredIG 显著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b="1" dirty="0">
                <a:solidFill>
                  <a:srgbClr val="02C3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现有工具对「反应强弱」的定量预测仍弱 → 该方向存在明确空白与价值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0" y="16916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74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下一步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0" y="2148840"/>
            <a:ext cx="5029200" cy="786384"/>
          </a:xfrm>
          <a:prstGeom prst="rect">
            <a:avLst/>
          </a:prstGeom>
          <a:solidFill>
            <a:srgbClr val="123F4B"/>
          </a:solidFill>
          <a:ln w="12700">
            <a:solidFill>
              <a:srgbClr val="1C556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0" y="2148840"/>
            <a:ext cx="73152" cy="786384"/>
          </a:xfrm>
          <a:prstGeom prst="rect">
            <a:avLst/>
          </a:prstGeom>
          <a:solidFill>
            <a:srgbClr val="C9743D"/>
          </a:solidFill>
          <a:ln/>
        </p:spPr>
      </p:sp>
      <p:sp>
        <p:nvSpPr>
          <p:cNvPr id="9" name="Text 7"/>
          <p:cNvSpPr/>
          <p:nvPr/>
        </p:nvSpPr>
        <p:spPr>
          <a:xfrm>
            <a:off x="6629400" y="224028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扩充阴性样本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629400" y="2532888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FD9C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无反应样本仅 11 个 → 补充至 ≥30 后重测，使结论更稳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400800" y="3026664"/>
            <a:ext cx="5029200" cy="786384"/>
          </a:xfrm>
          <a:prstGeom prst="rect">
            <a:avLst/>
          </a:prstGeom>
          <a:solidFill>
            <a:srgbClr val="123F4B"/>
          </a:solidFill>
          <a:ln w="12700">
            <a:solidFill>
              <a:srgbClr val="1C556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0" y="3026664"/>
            <a:ext cx="73152" cy="786384"/>
          </a:xfrm>
          <a:prstGeom prst="rect">
            <a:avLst/>
          </a:prstGeom>
          <a:solidFill>
            <a:srgbClr val="C9743D"/>
          </a:solidFill>
          <a:ln/>
        </p:spPr>
      </p:sp>
      <p:sp>
        <p:nvSpPr>
          <p:cNvPr id="13" name="Text 11"/>
          <p:cNvSpPr/>
          <p:nvPr/>
        </p:nvSpPr>
        <p:spPr>
          <a:xfrm>
            <a:off x="6629400" y="3118104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统一多聚合口径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629400" y="3410712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FD9C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补充 max / top3mean 口径的对照，确认结论稳健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400800" y="3904488"/>
            <a:ext cx="5029200" cy="786384"/>
          </a:xfrm>
          <a:prstGeom prst="rect">
            <a:avLst/>
          </a:prstGeom>
          <a:solidFill>
            <a:srgbClr val="123F4B"/>
          </a:solidFill>
          <a:ln w="12700">
            <a:solidFill>
              <a:srgbClr val="1C556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0" y="3904488"/>
            <a:ext cx="73152" cy="786384"/>
          </a:xfrm>
          <a:prstGeom prst="rect">
            <a:avLst/>
          </a:prstGeom>
          <a:solidFill>
            <a:srgbClr val="C9743D"/>
          </a:solidFill>
          <a:ln/>
        </p:spPr>
      </p:sp>
      <p:sp>
        <p:nvSpPr>
          <p:cNvPr id="17" name="Text 15"/>
          <p:cNvSpPr/>
          <p:nvPr/>
        </p:nvSpPr>
        <p:spPr>
          <a:xfrm>
            <a:off x="6629400" y="3995928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核连续标签数据量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629400" y="4288536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FD9C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评估公开库中带反应强度标签的数据是否足以支撑定量回归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400800" y="4782312"/>
            <a:ext cx="5029200" cy="786384"/>
          </a:xfrm>
          <a:prstGeom prst="rect">
            <a:avLst/>
          </a:prstGeom>
          <a:solidFill>
            <a:srgbClr val="123F4B"/>
          </a:solidFill>
          <a:ln w="12700">
            <a:solidFill>
              <a:srgbClr val="1C556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0" y="4782312"/>
            <a:ext cx="73152" cy="786384"/>
          </a:xfrm>
          <a:prstGeom prst="rect">
            <a:avLst/>
          </a:prstGeom>
          <a:solidFill>
            <a:srgbClr val="C9743D"/>
          </a:solidFill>
          <a:ln/>
        </p:spPr>
      </p:sp>
      <p:sp>
        <p:nvSpPr>
          <p:cNvPr id="21" name="Text 19"/>
          <p:cNvSpPr/>
          <p:nvPr/>
        </p:nvSpPr>
        <p:spPr>
          <a:xfrm>
            <a:off x="6629400" y="4873752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接入正式数据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629400" y="516636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FD9C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正式数据到位后按各工具格式转换并正式测试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400800" y="5660136"/>
            <a:ext cx="5029200" cy="786384"/>
          </a:xfrm>
          <a:prstGeom prst="rect">
            <a:avLst/>
          </a:prstGeom>
          <a:solidFill>
            <a:srgbClr val="123F4B"/>
          </a:solidFill>
          <a:ln w="12700">
            <a:solidFill>
              <a:srgbClr val="1C556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00800" y="5660136"/>
            <a:ext cx="73152" cy="786384"/>
          </a:xfrm>
          <a:prstGeom prst="rect">
            <a:avLst/>
          </a:prstGeom>
          <a:solidFill>
            <a:srgbClr val="C9743D"/>
          </a:solidFill>
          <a:ln/>
        </p:spPr>
      </p:sp>
      <p:sp>
        <p:nvSpPr>
          <p:cNvPr id="25" name="Text 23"/>
          <p:cNvSpPr/>
          <p:nvPr/>
        </p:nvSpPr>
        <p:spPr>
          <a:xfrm>
            <a:off x="6629400" y="5751576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对外许可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6629400" y="6044184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FD9C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对外报告含 netMHCpan 相关数字前取 DTU 书面同意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822960" y="644652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E9AA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基准数字均经 analysis/metrics_ds2.csv 核对（max 聚合, &gt;0）；逐工具四类信息见 TOOLS/ 目录。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21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新抗原免疫原性预测工具 5 工具部署测试与基准评估报告</dc:title>
  <dc:subject>PptxGenJS Presentation</dc:subject>
  <dc:creator>PptxGenJS</dc:creator>
  <cp:lastModifiedBy>PptxGenJS</cp:lastModifiedBy>
  <cp:revision>1</cp:revision>
  <dcterms:created xsi:type="dcterms:W3CDTF">2026-06-25T07:46:50Z</dcterms:created>
  <dcterms:modified xsi:type="dcterms:W3CDTF">2026-06-25T07:46:50Z</dcterms:modified>
</cp:coreProperties>
</file>
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hyperlink" Target="https://doi.org/10.1186/s13073-025-01569-8" TargetMode="External"/><Relationship Id="rId4" Type="http://schemas.openxmlformats.org/officeDocument/2006/relationships/hyperlink" Target="https://github.com/BSC-CNS-EAPM/PredIG" TargetMode="External"/><Relationship Id="rId5" Type="http://schemas.openxmlformats.org/officeDocument/2006/relationships/hyperlink" Target="https://doi.org/10.1186/s13073-019-0679-x" TargetMode="External"/><Relationship Id="rId6" Type="http://schemas.openxmlformats.org/officeDocument/2006/relationships/hyperlink" Target="https://github.com/bm2-lab/pTuneos" TargetMode="External"/><Relationship Id="rId7" Type="http://schemas.openxmlformats.org/officeDocument/2006/relationships/hyperlink" Target="https://doi.org/10.3389/fimmu.2024.1360281" TargetMode="External"/><Relationship Id="rId8" Type="http://schemas.openxmlformats.org/officeDocument/2006/relationships/hyperlink" Target="https://github.com/SRHgroup/IMPROVE_tool" TargetMode="External"/><Relationship Id="rId9" Type="http://schemas.openxmlformats.org/officeDocument/2006/relationships/hyperlink" Target="https://doi.org/10.3389/fimmu.2025.1681396" TargetMode="External"/><Relationship Id="rId10" Type="http://schemas.openxmlformats.org/officeDocument/2006/relationships/hyperlink" Target="https://github.com/01SYan19/NeoTImmuML" TargetMode="External"/><Relationship Id="rId11" Type="http://schemas.openxmlformats.org/officeDocument/2006/relationships/hyperlink" Target="https://doi.org/10.1093/nar/gkaa379" TargetMode="External"/><Relationship Id="rId12" Type="http://schemas.openxmlformats.org/officeDocument/2006/relationships/hyperlink" Target="https://services.healthtech.dtu.dk/services/NetMHCpan-4.1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nar/gkaa37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 5 个免疫原性预测工具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部署测试与基准评估报告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· PredIG · pTuneos · IMPROVE · NeoTImmuML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9377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对第一批五个现有免疫原性预测工具完成部署与运行测试，统一在 ELISpot 实验数据上评估它们对 T 细胞反应强弱的定量预测能力，并逐工具记录工作原理与四类信息。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要解决什么、本报告做了什么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工具逐一解析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每个工具的工作原理与四类信息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部署工程与环境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运行环境、依赖与部署中遇到的问题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129784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数据与评测方法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5660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测试数据来源、评测流程与指标含义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 Spearman 为主，判别力 AUC 为辅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诚实边界与许可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已知限制、口径说明与许可提示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066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664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总体结论与后续计划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我们到底想预测什么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从是非题到程度题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这个项目要解决的核心问题，是预测一条新抗原肽段在患者体内激发 T 细胞反应的强弱程度，而不只是判断它有没有免疫原性。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过去大多数工具回答的是一道是非题，也就是这条肽能不能被免疫系统识别；而本项目关心的是一道程度题，也就是它能引起多强的反应。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这个差别很关键，因为癌症疫苗和个体化免疫治疗在挑选靶点时，真正需要的是把候选肽按反应强弱排出优先次序，而不是简单地分成有反应和没反应两类。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本报告做了什么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本报告对第一批五个现有免疫原性预测工具完成了部署与运行测试，并在统一的 ELISpot 实验数据上做横向基准评估。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每个工具都记录四类信息：输入数据与格式、运行参数、输出格式与含义，以及方法特点与选用理由。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五个工具均已完成部署，都能产出可以进入基准的连续分数。由于各工具的端到端完整度不同，报告对此分级说明，但都不影响它们进入同一套基准比较。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五个工具的方法、定量能力与判别力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103120"/>
                <a:gridCol w="1737360"/>
                <a:gridCol w="25603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定量能力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Spearman*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判别力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端到端完整度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+0.243*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+0.198*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+0.136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识别子模型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集成机器学习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+0.022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自训版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−0.117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本项目最关心的是工具能否对免疫反应的强弱做出定量预测，因此 Spearman 相关系数是首要指标，它衡量工具打分的排序与真实反应强弱排序的吻合程度；AUC 只反映能否做有无的二分判别，仅作参考。标星的两个工具达到统计显著的正相关，其余三个不显著。表中数字取自 ELISpot 测试集 DS2、统一的最强结合子肽聚合口径，与全项目其它报告一致。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官方未发布预训练权重，基准使用基于公开数据自训的版本，数值不对标原论文；端到端完整度三档为完整双验证、识别子模型与降级或自训，均不影响进入基准，仅口径需说明。完整数据见 analysis/metrics_ds2.csv。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用卷积神经网络判断一条肽段能不能激活 CD8+ T 细胞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只要两样东西，一条肽段序列和它对应的 HLA 分型，肽段长度固定为九或十个氨基酸。它不需要基因组，也不需要表达量，是这一批工具里最省事的。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先把氨基酸序列和 HLA 假基序按物化性质编码成一张数字矩阵，再用卷积神经网络像扫图像一样扫过这张矩阵，自动抓出与免疫原性有关的局部模式，最后汇总成一个分数。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输出一个零到一之间的连续分数，越接近一表示越可能激活 T 细胞。实测已知强表位如 CMV 的 NLVPMVATV 确实拿到高分，符合预期。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单条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 single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--epitope NLVPMVATV --hla HLA-A*0201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--mode multiple --intdir IN --outdir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CSV，两列，无表头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肽段,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NLVPMVATV,HLA-A*0201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GILGFVFTL,HLA-A*0201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HLA          immunogenicity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  HLA-A*0201   0.957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  HLA-A*0201   0.887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用卷积神经网络判断一条肽段能否激活 CD8+ T 细胞，最轻量，只要肽段和 HLA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完整端到端 · AUC 0.481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卷积网络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输入是一个没有表头的两列 CSV 文件，第一列是肽段序列，第二列是对应的 HLA 分型，HLA 按 HLA-A*0201 的写法填写。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肽段长度固定为九或十个氨基酸，运行时不需要基因组，也不需要任何 HLA 数据库。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单条预测用 single 模式，结果直接打印在屏幕上；批量预测用 multiple 模式，指定输入和输出目录即可。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它没有可调的超参数，但必须在代码仓库的根目录下运行。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输出是三列，分别是肽段、HLA 和免疫原性分数，这个分数是零到一之间的连续值，越高代表越可能激活 T 细胞。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CMV 的强表位 NLVPMVATV 拿到零点九五七的高分，结果合理。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它是这一批工具里最省事的，只要肽段和 HLA 就能运行，不依赖任何收费工具，普通处理器即可。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运行环境为 Python 3.8 加 TensorFlow 2.3，需要把 protobuf 降到 3.20，它的主要限制是肽长只能是九或十。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用梯度提升树预测免疫原性，并给出一串可解释的特征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输入肽段、HLA 分型，以及在重组模式下肽段所在的蛋白序列。它支持三种输入模式，肽段长度为八到十四个氨基酸。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先调用一串内置工具算出十三类特征，包括蛋白酶切位点、提呈分、物化性质和 TCR 接触位点等，再把这些特征喂给梯度提升树模型综合打分。特征可解释是它的卖点。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输出一个零到一之间的免疫原性分数，同时附上那十三列特征，方便回看模型究竟凭什么给出这个分数。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predig.py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recombinant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--modelXG neoant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input.csv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CSV，重组模式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epitope,HLA_allele,protein_seq,protein_name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SLLMWITQV,HLA-A*0201,MSLL...,TP53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CSV，含 PredIG 分 + 13 列特征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    PredIG   NOAH   TCR_contact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  0.0061   0.42  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 T 细胞表位免疫原性，按抗原类型分专用模型，结果可解释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完整端到端 · AUC 0.661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梯度提升树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它支持三种输入模式，分别基于 Uniprot 编号、重组蛋白序列和 FASTA 文件。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以重组模式为例，需要肽段、HLA 分型、所在蛋白序列和蛋白名四列，肽段长度为八到十四个氨基酸。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modelXG 参数选择模型，可选新抗原专用、非经典抗原或自定义模型；用 type 参数选择输入模式；用 o 参数指定输出文件。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输出是一个 CSV 文件，PredIG 列是零到一之间的连续免疫原性分数，同时附带十三列特征，包括切割位点、提呈分、物化性质和 TCR 接触位点等。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得到零点零零六一。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它的卖点是连续分数加可解释特征，并且把全部依赖打包进容器，省去自行配置环境的麻烦。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官方提供的 Docker 镜像约十四点四 GB，在集群上转成 Singularity 后约四点六 GB，主要限制是镜像体积较大。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一整套个性化新抗原流程，其中识别子模型可以单独给肽段打分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完整流程需要测序得到的变异、表达量、拷贝数、肿瘤纯度和 HLA，依赖全基因组数据，无法直接喂入纯肽段。它的识别子模型只要突变肽、对应野生肽和 HLA 三列，这一部分能用来跑 ELISpot 肽段。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完整流程先把测序变异注释成突变肽，再逐层打分；识别子模型则针对一对突变肽与野生肽算结合、相似度和被 T 细胞识别等特征，输出免疫识别分。本基准用的就是这个子模型。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完整流程给出患者级别的排名分，这个分乘进了表达量和突变频率，需要测序数据；识别子模型给出纯肽段的免疫识别分，这一部分可以与其它工具横向比较。示例数据端到端跑出四十个候选新抗原。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完整流程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pTuneos.py VCF -i config.yaml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识别子模型（喂肽段）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自写脚本调用 InVivoModelAndScore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子模型输入：三列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MT_pep,     WT_pep,    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AAAVFKTLP,  AAAVFKTLR,  HLA-A*02:01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子模型识别分 model_pro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      model_pro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 0.73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一整套个性化新抗原流程，从测序数据到排名；识别子模型可单独拿肽段来打分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识别子模型 · AUC 0.752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机器学习流程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完整流程需要测序变异、表达量、拷贝数、肿瘤纯度和 HLA，依赖全基因组数据，无法直接喂入纯肽段。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它的识别子模型只需要突变肽、对应野生肽和 HLA 三列，这一部分可以用来评测 ELISpot 肽段。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完整流程通过 pTuneos.py 配合配置文件运行；识别子模型则需要自行编写脚本调用其打分函数。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运行时可以用多进程和批量结合预测来加速。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完整流程给出患者级别的排名分，这个分乘进了表达量和突变频率，必须有测序数据；识别子模型给出纯肽段的免疫识别分，本基准用的就是这部分，可以与其它工具横比。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示例数据端到端跑出四十个候选新抗原。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它的镜像自带 netMHCpan、VEP、GATK 等全套工具，修复八处问题并准备十四 GB 注释缓存后才端到端跑通。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进入基准用的是识别子模型，与官方逻辑对账完全一致，相关系数为一，但这并不代表整条流程的端到端能力。完整流程在本地容器跑通，集群因权限限制未运行。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用随机森林给新表位打分，整合了二十二个特征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输入突变肽、对应野生肽和 HLA，采用 TSV 格式，肽段长度为八到十二个氨基酸。流程分两步，先计算特征，再做预测。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第一步用外部工具算出二十二个特征，包含结合、稳定性、TCR 识别分和自相似度等；第二步把特征喂给随机森林综合打分，每个变体用五个森林做集成。本基准里表达相关特征因 ELISpot 没有 RNA 数据而降级。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在输入表后追加一列 mean_prediction_rf，是多折多森林集成后的平均分，取值在零到一之间。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第一步：算特征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run_feature_calc.sh input.tsv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第二步：预测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--model Simple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TSV：突变肽 + 野生肽 +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Norm_pep    HLA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EEFLNSWMV   HLA-B*08:01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追加 mean_prediction_rf 列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mean_prediction_rf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0.5146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用随机森林给新表位的免疫原性打分，二十二个特征，分三种变体模型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特征降级 · AUC 0.621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随机森林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 TSV 格式，必填突变肽、对应野生肽和 HLA 三列，肽段长度为八到十二个氨基酸。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流程分两步，先计算特征，再跑随机森林做预测。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model 参数选择 Simple、TME_excluded 或 TME_included 三种变体，每个变体加载五个森林做集成。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输出在输入表后追加一列 mean_prediction_rf，是多折与多森林集成后的平均分数，取值在零到一之间。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变体的 EEFLNSWML 得到零点五一四六。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它整合了二十二个专为新表位排名设计的特征，其中包含 TCR 识别信号。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本基准的缺口在于 ELISpot 没有 RNA 表达量，导致表达相关特征降级，稳定性特征依赖的外部工具又受系统库版本限制。预测步骤在本地和集群都跑通，这属于数据缺一块而不是装不上。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NeoTImmuML（自训版）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三种模型加权集成，用七十八个肽段物化特征；官方无权重，本基准为自训版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用什么输入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输入肽段加上七十八个物化特征，需要先用 R 语言的 Peptides 包算好，不需要 HLA，肽段长度为八到十三个氨基酸。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把七十八维特征喂给 LightGBM、XGBoost 和随机森林三个模型，再加权集成成一个概率。官方仓库是研究用 notebook，没有带预训练权重，因此本基准用公开肿瘤抗原库自己重训了一版，数值不对标原论文。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给出什么输出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输出一个零到一之间的免疫原性概率，可以用来排出强弱，同时给出分类指标和雷达图。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81328"/>
          </a:xfrm>
          <a:prstGeom prst="roundRect">
            <a:avLst>
              <a:gd name="adj" fmla="val 3704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4808" y="2203704"/>
            <a:ext cx="4892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不是命令行，是 Jupyter notebook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 file_path 指向数据后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21 个单元格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（含 8 算法对比 + 加权集成）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01568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5112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38221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CSV：肽段 + 标签 + 78 特征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label  feat1  feat2 ... feat78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1      0.12   -0.4 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495604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64808" y="53766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predict_proba 连续概率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immuno_prob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0.81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5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NeoTImmuML（自训版）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三种模型加权集成预测肿瘤新抗原免疫原性，用七十八个肽段物化特征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自训版 · AUC 0.655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集成机器学习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输入数据与格式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输入是 CSV 格式，包含肽段、标签和七十八个物化特征，不需要 HLA，肽段长度为八到十三个氨基酸。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这七十八个特征需要先用 R 语言的 Peptides 包计算好。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95728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它不是命令行工具，而是一个包含二十一个单元格的 Jupyter notebook。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把数据路径改好之后顺序运行即可，内含八种算法的对比、加权集成与交叉验证。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输出格式与含义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输出是零到一之间的免疫原性概率，可以用来排出强弱，同时给出分类指标和雷达图。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官方仓库没有发布预训练权重，因此本基准使用公开肿瘤抗原库自行重训的版本，数值不对标原论文精度。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特点与选用理由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983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它只用肽段特征，不需要 HLA 也不需要任何收费工具，安装最省心。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主要限制是官方只提供研究用的 notebook 而没有权重，需要用公开数据重新训练，并且不含七十八个特征的计算代码，需要自行用 R 计算。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两套部署战场：本机调试，集群正式跑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本批五个工具都经过两套环境，先在本机的 Linux 子系统里逐个调通并摸清四类信息，再以学校的高性能计算集群作为最终部署目标。两边出网都受限，工具多为面向 Linux 的老链路，需要逐个适配。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3977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· WSL2 Ubuntu 24.04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角色是调试主场，逐个工具跑通并摸清四类信息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环境为直通显卡加 conda 加 Docker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不用原生 Windows，是因为仓库含带星号的非法文件名，且工具多为 Linux 老链路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07992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920240"/>
            <a:ext cx="82296" cy="3977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· 学校集群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角色是正式大规模跑，也是团队最终交付目标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环境为 Singularity 容器加多核处理器，没有 Docker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推理大多在处理器上完成，基本不占显卡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75904" y="1920240"/>
            <a:ext cx="3172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0240"/>
            <a:ext cx="82296" cy="39776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06654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两边共同约束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50224" y="2450592"/>
            <a:ext cx="26700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GitHub、PyPI、DTU 可达，但 Docker Hub 两边都不通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对策是本机打包镜像后上传，再转成 Singularity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学术工具如 netMHCpan 禁止再分发，包含其跑出的数字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下面先看各工具的运行环境与依赖，再按工具逐个列出部署中遇到的问题，并标注来源环境。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 · 环境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各工具的运行环境与依赖包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201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361188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运行环境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关键包与版本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外部工具与权重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2.3.0 · numpy 1.18.5 · pandas 1.1.1 · protobuf 3.20.3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无，纯肽段加 HLA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 镜像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 R 与 XGBoost 全套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NetCleave · NOAH · netCTLpan · MHCflurry，镜像自带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2.7 · R 3.2.3 · scikit-learn，容器内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netMHCpan-4.0 · VEP 加 14G 缓存 · GATK · PyClone，镜像自带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≥2.0 · scikit-learn 1.9 · pandas · seaborn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· netMHCstabpan · PRIME · MixMHCpred 加 1.9G 权重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3.10 加 R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lightgbm · xgboost · scikit-learn · pandas · numpy · R Peptides 2.4.6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无许可工具，权重自训，官方未发布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5216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环境分两类，轻量工具用 conda 建独立的 Python 环境装包，老链路或多依赖工具则用官方 Docker 镜像，在集群上转成 Singularity 打包整套环境。NeoTImmuML 官方未发布权重，用公开数据自训替代；netMHCpan 等学术工具需 DTU 许可，禁止再分发。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各工具部署中遇到的问题与解法，并标注来源环境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  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指本地 WSL2，  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指学校集群。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· 本机加集群均通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仓库含星号文件名，Windows 无法保存，改搬到 WSL2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须降到 3.20，TF2.3 与 Py3.8 对版本严格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顺利跑通，结果与本机一字不差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· 官方镜像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14.4G 加 Docker Hub 受限，改用镜像源加代理拉取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单次输入硬限不到 5000 行，切块串跑后按序拼回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镜像转 Singularity，只读容器写临时目录需开 writable-tmpfs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流水线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自带样例连修 8 处 bug 才端到端跑通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VEP 注释库 14G 下载龟速，多连接提速约 12 倍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完整版喂不了 ELISpot，改用识别子模型进基准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镜像程序在 root 目录且无 fakeroot，改在本机容器验证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模型用新版 numpy 保存，换 Py3.11 才读得了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老二进制 netMHCpan-2.8 崩溃，靠内核 vsyscall 救活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表达量特征需 RNA-seq，ELISpot 没有，该特征降级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glibc 2.28 低于 stabpan 要求的 2.29，稳定性特征跑不了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ML · 自训替代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URL 未公开，用浏览器自动化从数据库站抓出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无官方权重，用公开数据自训，已确认全网无权重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特征的 R 库接口随版本变，逐列核对修对 76 个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测试数据从哪来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实测数据、规模与正负比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19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· 主测试集，有阴有阳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2199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一百零一条肽段，其中有反应九十条、无反应十一条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来自九位患者，反应值 SFC 范围从负三十四到二百零九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用途是算 AUC，衡量能不能分开有反应和无反应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739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· 定量验证集，全阳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14223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八十二条肽段，全部有反应，没有阴性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来自六位患者，强度 SFC 从十六到六百七十七，约四十倍跨度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用途是检验能不能把强弱排对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1691640"/>
            <a:ext cx="4023360" cy="37033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249424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标签是 ELISpot SFC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SFC 是斑点形成细胞数，反映 T 细胞反应强度的实验读数，阈值大于零记为有反应。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展开规模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每条肽按子肽与 HLA 窗口展开，DS1 加 DS2 共三万四千二百四十七行预测。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样本来自有限患者，存在聚集；DS2 阴性仅十一条，置信区间偏宽。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数据来源为课题组 ELISpot 实测（Elispot_Dataset1.xlsx / Elispot_Dataset2.xlsx），为内部数据，无公开链接。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从一条肽段到工具横向对比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与 DS2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的肽段加 HLA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9424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23744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五工具打分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15184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各工具独立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给免疫原性分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子肽与 HLA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逐肽取最大值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0176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4496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切标签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SFC 大于零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分有无反应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45552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19872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算指标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1312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与 AUC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等同口径计算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10928" y="286207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8524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 w="25400">
            <a:solidFill>
              <a:srgbClr val="0B3C49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98524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7668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五工具同口径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排名与显著性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10881360" cy="1783080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34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同一批肽段喂给五个工具，每个工具独立打分。因为一条肽会拆成多个子肽与 HLA 组合，所以统一按逐肽取最大分聚合，再按实验反应值大于零切出有无反应标签，最后用同一套指标评估，让五个工具在完全相同的口径下横向对比。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关键在于所有工具都走完全一致的聚合、阈值与指标口径，保证可比。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用什么数据、怎么比、看什么指标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ELISpot 实验数据 DS2 共一百零一条肽段，按实验反应值切分为有反应九十条、无反应十一条，反应值不大于零算真无反应。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990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第一批五个免疫原性工具，分别是 DeepImmuno、PredIG、pTuneos、IMPROVE 和 NeoTImmuML。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一条肽段会拆成多个子肽与 HLA 组合，先统一取最大值聚合，再按阈值切标签，与全项目其它交付同口径，保证可比。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330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首要指标是 Spearman 相关，衡量分数与反应强弱是否同向，也就是能否定量；AUC 衡量能否分开有反应和无反应，零点五相当于随机，只作参考；AUPRC 作为补充。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所有数字经 analysis/metrics_ds2.csv 核对，统一最大值聚合、阈值大于零，与全项目其它交付一致。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先看懂这些指标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后面每个数字是什么意思、最该信哪个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379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相关（能否分强弱）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10328" y="18379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910328" y="1837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3317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模型分数的高低排序，和真实反应强弱的排序，吻合到什么程度。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正一是完全同向，零是没关系，负一是完全反着。这是本报告最看重的定量能力指标。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82512" y="16916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0256" y="18379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AUC（判别力）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52760" y="18379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2760" y="1837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3317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随便挑一条有反应和一条没反应的肽，模型给有反应那条打更高分的概率。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一是完美，零点五和瞎猜一样，小于零点五是反着的。它只回答有没有反应，作为参考。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82296" cy="17830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8953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10328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参考有限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43891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精确率与召回率曲线下的面积，在阳性很少时比 AUC 更敏感。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本数据阳性本就占百分之八十九，起点很高，提升空间小，参考意义有限。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82512" y="3749040"/>
            <a:ext cx="541324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749040"/>
            <a:ext cx="82296" cy="17830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389534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置信区间与 p 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652760" y="389534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652760" y="38953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看可信度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38544" y="438912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重复抽样两千次看指标的波动范围，p 小于零点零五才算不是偶然。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区间越宽越不确定。本数据样本小，区间普遍偏宽。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10899648" cy="77724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5961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本报告以 Spearman 衡量能否分强弱、作为首要指标，AUC 衡量判别力、只作参考；AUPRC 因阳性占比高参考有限；样本量小使所有指标的置信区间都偏宽，结论以方向性为主，不抠零点几的差距。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 Spearman — 患者内相关（计入患者差异）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perpatient_fisherz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17875"/>
            <a:ext cx="5907024" cy="4073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衡量工具能否把反应的强弱排对，最直接的指标是 Spearman 相关系数。由于不同患者的肽段集合和反应基线差异很大，把所有患者的肽混在一起算一个相关，会让患者之间的差异掩盖真实的排序能力，因此正确的做法是先在每一位患者内部计算相关，再跨患者聚合。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这张图就是患者内的口径：先对每位患者单独算 Spearman，再用 Fisher-Z 加权聚合，误差棒是百分之九十五置信区间。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在主测试集 DS2 上，IMPROVE 最高约为零点二五五，PredIG 约为零点二零二，pTuneos 约为零点一三六，NeoTImmuML 约为零点零三三，DeepImmuno 约为零点零一三。在患者内口径下五个工具都为正，但数值普遍偏低，且多数工具的置信区间仍然跨过零。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这说明现有工具的能力主要集中在区分有没有反应，对反应到底有多强的定量预测仍然很弱，而这正是强弱定量这一方向尚待填补的空白。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患者内 Spearman，Fisher-Z 加权聚合，误差棒为 95% 置信区间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Spearman — 不区分患者的对照口径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spearman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17875"/>
            <a:ext cx="5907024" cy="4073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作为对照，这张图把所有患者的肽段合并在一起算一个全局 Spearman，每个工具取相关系数绝对值最大的聚合方式。这是过去常用的口径，但它没有区分患者，容易受患者间差异干扰。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在全局口径下，IMPROVE 约为零点二四三、PredIG 约为零点一九八均达到统计显著，pTuneos 约为零点一三六，NeoTImmuML 约为零点零二二，DeepImmuno 约为负零点一一七。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对比上一页可以看到，DeepImmuno 在全局口径里是负值，但在患者内口径里转为接近零的小正值，说明全局口径确实会因为患者差异给出有偏的结论。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因此本报告以患者内口径为准来判断定量能力，全局口径仅作对照参考。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全局 Spearman，每工具取 |ρ| 最大聚合，星号表示 p 小于 0.05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AUC — 作为定量能力的补充参考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auc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17875"/>
            <a:ext cx="5907024" cy="40738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作为二分判别能力的补充参考，AUC 衡量工具能不能把有反应和没反应的肽区分开，取零点五相当于随机猜测，取零点七五为一条参考线。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在最优聚合与阈值的口径下，pTuneos 约为零点七五、PredIG 约为零点六六点估相对靠前，其余工具落在零点四八到零点六六之间，DeepImmuno 约零点四八低于随机线。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无反应样本只有十一个，工具之间的差距置信区间较宽，因此这里只给点估，不下最优的判断。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需要强调的是，判别力高并不等于能定量排出强弱，所以 AUC 始终只作参考，本项目的核心指标是上面两页的 Spearman。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每工具取最高 AUC 的聚合方式与阈值组合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ROC 曲线 — 多数贴近随机对角线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roc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664208"/>
            <a:ext cx="5497373" cy="4581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 曲线把判别力画成一条线，曲线越凸向左上角代表判别力越强，越贴近对角线代表越接近随机猜测。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约零点七二、PredIG 约零点六六、NeoTImmuML 约零点六六的曲线相对凸向左上，DeepImmuno 约零点四六则基本缠绕在对角线附近。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这与 AUC 柱状图互相印证，只有少数工具具备一定的二分判别力，且都谈不上强。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肽级最大分聚合，Elispot 大于零为阳性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工具之间一致吗 — 彼此基本不相关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consistency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068" y="1664208"/>
            <a:ext cx="5222504" cy="4581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这张热力图把五个工具在同一批肽段上的打分两两做 Spearman 相关，颜色越绿代表越正相关，越红代表越负相关，对角线是工具与自身的相关恒为一。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对角线以外的格子大多接近零，说明不同工具对同一条肽给出的排序基本各说各话。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其中只有少数几对略高，可能是方法或训练数据有重叠所致；工具之间缺乏共识，意味着没有哪一个能当作公认标准，简单做平均集成提升也有限。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corrected-full，101 条肽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肽级分数两两 Spearman 相关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按肽长分层的判别力 AUC — 看是否跨肽长稳健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lenstrat_5tools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31827"/>
            <a:ext cx="5907024" cy="4045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把肽段按长度分成几个区间，分别看各工具的 AUC，可以检查判别力是不是只在某个肽长上成立。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整体看，工具的判别力在不同肽长区间并不稳定，随机线上下波动，没有哪个工具在所有区间都明显优于随机。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样本被分层后每个区间更小，这张图只作稳健性的参考，不用来下定论。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按肽长分层，AUC 仅作参考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已知限制与口径说明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972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1965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样本量较小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80136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无反应样本仅十一个，AUC 和相关的置信区间偏宽，工具间小于零点零五的 AUC 差距不具显著性。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80360"/>
            <a:ext cx="82296" cy="109728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0837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数据存在聚集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99008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一百零一条肽来自九个病人，部分病人贡献较多阴性肽，有效样本数小于一百零一，判别力可能部分反映区分病人的能力。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69080"/>
            <a:ext cx="82296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19709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完整度分级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417880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 和 PredIG 完整端到端双验证，pTuneos 为识别子模型且与官方对账一致，IMPROVE 特征链降级，NeoTImmuML 为自训版非官方权重，结论按此口径解读。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7223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57800"/>
            <a:ext cx="82296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385816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聚合口径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5367528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本报告统一采用最大值聚合，与全项目其它交付一致，换成 mean 或 top3mean 点估略有差异，但多数工具判别力偏弱、定量相关弱的总体结论一致。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91640"/>
            <a:ext cx="3611880" cy="457200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许可提示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331720"/>
            <a:ext cx="3246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与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DTU 学术许可，未经书面同意，不得向第三方发布在其软件上跑出的结果，包含数字。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与 IMPROVE 依赖上述工具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对外报告含相关对比数字前，需先取得 DTU 书面同意，在投稿阶段处理。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五个工具的论文出处与代码仓库</a:t>
            </a:r>
            <a:endParaRPr lang="en-US" sz="2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834640"/>
                <a:gridCol w="2606040"/>
                <a:gridCol w="3611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工具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发表期刊与年份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DOI（可点击）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代码仓库（可点击）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" invalidUrl="" action="" tgtFrame="" tooltip="https://doi.org/10.1093/bib/bbab16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10.1093/bib/bbab160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" invalidUrl="" action="" tgtFrame="" tooltip="https://github.com/frankligy/DeepImmun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github.com/frankligy/DeepImmuno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3" invalidUrl="" action="" tgtFrame="" tooltip="https://doi.org/10.1186/s13073-025-01569-8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10.1186/s13073-025-01569-8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4" invalidUrl="" action="" tgtFrame="" tooltip="https://github.com/BSC-CNS-EAPM/PredIG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github.com/BSC-CNS-EAPM/PredIG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5" invalidUrl="" action="" tgtFrame="" tooltip="https://doi.org/10.1186/s13073-019-0679-x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10.1186/s13073-019-0679-x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6" invalidUrl="" action="" tgtFrame="" tooltip="https://github.com/bm2-lab/pTune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github.com/bm2-lab/pTuneos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7" invalidUrl="" action="" tgtFrame="" tooltip="https://doi.org/10.3389/fimmu.2024.1360281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10.3389/fimmu.2024.1360281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8" invalidUrl="" action="" tgtFrame="" tooltip="https://github.com/SRHgroup/IMPROVE_too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github.com/SRHgroup/IMPROVE_tool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9" invalidUrl="" action="" tgtFrame="" tooltip="https://doi.org/10.3389/fimmu.2025.168139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10.3389/fimmu.2025.1681396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0" invalidUrl="" action="" tgtFrame="" tooltip="https://github.com/01SYan19/NeoTImmuM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github.com/01SYan19/NeoTImmuML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表中 DOI 与代码仓库均可点击跳转。外部依赖工具包括 netMHCpan 与 netMHCstabpan（DTU Health Tech，学术许可）、MixMHCpred、Ensembl VEP 与 R 语言的 Peptides 包。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netMHCpan-4.1 DOI 10.1093/nar/gkaa379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services.healthtech.dtu.dk/services/NetMHCpan-4.1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总体结论、已知空白与后续计划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8978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539496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第一批五个工具已经全部完成部署，每个工具的四类信息都逐一记录齐全。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在统一的 ELISpot 基准上，五个工具对反应强弱的定量能力普遍偏弱，按 Spearman 相关衡量只有 IMPROVE 和 PredIG 达到统计显著的正相关，其余三个都不显著；作为参考的二分判别力 AUC 也只有 pTuneos 和 PredIG 点估相对靠前。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这说明现有工具的能力主要停留在区分有没有反应，对反应到底有多强的定量预测仍然是一块明确的空白，也正是后续自研工具立项的价值所在。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205740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0" y="205740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21488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扩充阴性样本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24414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目前无反应样本只有十一个，补充到三十个以上后重新评测，可以让结论更稳。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292608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292608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30175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统一多聚合口径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95160" y="33101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补充最大值之外的 mean 与 top3mean 口径作对照，确认结论稳健。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379476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379476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3886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核连续标签数据量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95160" y="41788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评估公开库中带反应强度标签的数据，是否足以支撑定量回归。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466344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466344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47548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接入正式数据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95160" y="50474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正式数据到位后，按各工具格式转换并正式测试。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5532120"/>
            <a:ext cx="478231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553212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56235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95160" y="59161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对外报告包含 netMHCpan 相关数字之前，先取得 DTU 书面同意。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netMHCpan-4.1 DOI 10.1093/nar/gkaa379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基准数字经 analysis/metrics_ds2.csv 核对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逐工具四类信息见 TOOLS 目录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— 第一批 5 工具横评报告</dc:title>
  <dc:subject>PptxGenJS Presentation</dc:subject>
  <dc:creator>PptxGenJS</dc:creator>
  <cp:lastModifiedBy>PptxGenJS</cp:lastModifiedBy>
  <cp:revision>1</cp:revision>
  <dcterms:created xsi:type="dcterms:W3CDTF">2026-06-27T10:36:43Z</dcterms:created>
  <dcterms:modified xsi:type="dcterms:W3CDTF">2026-06-27T10:36:43Z</dcterms:modified>
</cp:coreProperties>
</file>
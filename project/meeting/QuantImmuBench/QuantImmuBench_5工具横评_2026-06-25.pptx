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4" d="100"/>
          <a:sy n="154" d="100"/>
        </p:scale>
        <p:origin x="104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1387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93/bib/bbab160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frankligy/DeepImmuno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93/bib/bbab160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frankligy/DeepImmuno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86/s13073-025-01569-8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BSC-CNS-EAPM/PredIG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86/s13073-025-01569-8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BSC-CNS-EAPM/PredIG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86/s13073-019-0679-x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bm2-lab/pTuneos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86/s13073-019-0679-x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bm2-lab/pTuneos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3389/fimmu.2024.1360281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RHgroup/IMPROVE_tool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3389/fimmu.2024.1360281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RHgroup/IMPROVE_too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3389/fimmu.2025.1681396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01SYan19/NeoTImmuML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3389/fimmu.2025.1681396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01SYan19/NeoTImmuML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bm2-lab/pTuneos" TargetMode="External"/><Relationship Id="rId3" Type="http://schemas.openxmlformats.org/officeDocument/2006/relationships/hyperlink" Target="https://doi.org/10.1093/bib/bbab160" TargetMode="External"/><Relationship Id="rId7" Type="http://schemas.openxmlformats.org/officeDocument/2006/relationships/hyperlink" Target="https://doi.org/10.1186/s13073-019-0679-x" TargetMode="External"/><Relationship Id="rId12" Type="http://schemas.openxmlformats.org/officeDocument/2006/relationships/hyperlink" Target="https://github.com/01SYan19/NeoTImmuML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BSC-CNS-EAPM/PredIG" TargetMode="External"/><Relationship Id="rId11" Type="http://schemas.openxmlformats.org/officeDocument/2006/relationships/hyperlink" Target="https://doi.org/10.3389/fimmu.2025.1681396" TargetMode="External"/><Relationship Id="rId5" Type="http://schemas.openxmlformats.org/officeDocument/2006/relationships/hyperlink" Target="https://doi.org/10.1186/s13073-025-01569-8" TargetMode="External"/><Relationship Id="rId10" Type="http://schemas.openxmlformats.org/officeDocument/2006/relationships/hyperlink" Target="https://github.com/SRHgroup/IMPROVE_tool" TargetMode="External"/><Relationship Id="rId4" Type="http://schemas.openxmlformats.org/officeDocument/2006/relationships/hyperlink" Target="https://github.com/frankligy/DeepImmuno" TargetMode="External"/><Relationship Id="rId9" Type="http://schemas.openxmlformats.org/officeDocument/2006/relationships/hyperlink" Target="https://doi.org/10.3389/fimmu.2024.1360281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9171432" y="-1463040"/>
            <a:ext cx="4206240" cy="4206240"/>
          </a:xfrm>
          <a:prstGeom prst="ellipse">
            <a:avLst/>
          </a:prstGeom>
          <a:solidFill>
            <a:srgbClr val="028090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360152" y="3291840"/>
            <a:ext cx="2926080" cy="2926080"/>
          </a:xfrm>
          <a:prstGeom prst="ellipse">
            <a:avLst/>
          </a:prstGeom>
          <a:solidFill>
            <a:srgbClr val="00A896">
              <a:alpha val="1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癌症个性化新抗原疫苗 · 预测工具部署与基准评估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新抗原免疫原性预测工具</a:t>
            </a:r>
            <a:endParaRPr lang="en-US" sz="4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部署测试与基准评估报告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22960" y="38862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第一批 5 工具：DeepImmuno · PredIG · pTuneos · IMPROVE · NeoTImmuML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" y="4663440"/>
            <a:ext cx="29260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8920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  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逐工具部署 + 工作原理 + 四类信息 · ELISpot 统一基准评估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  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癌症新抗原疫苗协作项目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994392" y="6126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2026-06-25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本报告的内容结构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783080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98424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783080" y="19293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项目背景与任务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783080" y="2313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要解决什么、本报告做了什么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898648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898648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30998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783080" y="304495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工具逐一解析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78308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每个工具的工作原理 + 四类信息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014216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4014216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896112" y="421538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783080" y="41605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部署工程与踩坑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783080" y="4544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环境、典型问题与解决（按工具归属）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5129784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5129784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" y="533095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1783080" y="527608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数据与评测方法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783080" y="566013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测试数据来源、评测流程、指标说明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63640" y="1783080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63640" y="1783080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7" name="Text 25"/>
          <p:cNvSpPr/>
          <p:nvPr/>
        </p:nvSpPr>
        <p:spPr>
          <a:xfrm>
            <a:off x="6519672" y="198424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7406640" y="19293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基准结果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406640" y="2313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判别力 / 能否定量 / 工具间一致性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63640" y="2898648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263640" y="2898648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2" name="Text 30"/>
          <p:cNvSpPr/>
          <p:nvPr/>
        </p:nvSpPr>
        <p:spPr>
          <a:xfrm>
            <a:off x="6519672" y="30998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7406640" y="304495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诚实边界与许可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40664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已知限制、口径、许可红线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63640" y="4014216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263640" y="4014216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7" name="Text 35"/>
          <p:cNvSpPr/>
          <p:nvPr/>
        </p:nvSpPr>
        <p:spPr>
          <a:xfrm>
            <a:off x="6519672" y="421538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7406640" y="41605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结论与下一步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7406640" y="4544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总结与后续计划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 · 报告范围 · 四类信息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5074920" cy="2788920"/>
          </a:xfrm>
          <a:prstGeom prst="rect">
            <a:avLst/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96112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项目目标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96112" y="2212848"/>
            <a:ext cx="4617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构建一个能预测 T 细胞反应 </a:t>
            </a:r>
            <a:r>
              <a:rPr lang="en-US" sz="17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「强弱程度」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的工具。</a:t>
            </a:r>
            <a:endParaRPr lang="en-US" sz="14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现有工具多数只判断「是否具有免疫原性」（二分类）；目标是更进一步，给出反应强度的连续估计（定量）。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526280"/>
            <a:ext cx="50749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4645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本报告范围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4992624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对第一批 5 个现有免疫原性预测工具完成部署与运行测试，</a:t>
            </a:r>
            <a:endParaRPr lang="en-US" sz="1200" dirty="0"/>
          </a:p>
          <a:p>
            <a:pPr marL="0" indent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在统一的 ELISpot 实验数据上做横向基准评估，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每个工具记录 4 类信息并整理成本报告。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26480" y="16276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每个工具记录的 4 类信息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26480" y="2103120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72784" y="2313432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6272784" y="23134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0" y="223113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输入数据格式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858000" y="256032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文件格式、必填列、肽段长度、HLA 写法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26480" y="3054096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72784" y="3264408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6272784" y="3264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0" y="318211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运行参数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858000" y="351129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可调参数及其功能、运行模式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26480" y="4005072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72784" y="4215384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/>
          <p:nvPr/>
        </p:nvSpPr>
        <p:spPr>
          <a:xfrm>
            <a:off x="6272784" y="42153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58000" y="413308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输出数据含义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858000" y="446227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关键列、分数类型、能否定量强弱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26480" y="4956048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72784" y="5166360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9" name="Text 27"/>
          <p:cNvSpPr/>
          <p:nvPr/>
        </p:nvSpPr>
        <p:spPr>
          <a:xfrm>
            <a:off x="6272784" y="5166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858000" y="508406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工具简介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858000" y="541324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所用方法、特点、优势与限制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26480" y="5943600"/>
            <a:ext cx="5394960" cy="457200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27648" y="5961888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个工具均完成部署并产出可进入基准的连续分数；端到端完整度分级见下页。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个工具：方法 · 端到端完整度 · 基准判别力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329184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能否定量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基准 AUC*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端到端完整度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DeepImmuno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卷积网络 CNN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 0–1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0.481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完整端到端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PredIG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梯度提升树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 0–1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0.661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完整端到端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pTuneos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机器学习流程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排名分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0.752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子模型 (对账 r=1.0)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随机森林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 0–1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0.621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特征降级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NeoTImmuML ★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集成机器学习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0.655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自训版 (非官方权重)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2578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基准 AUC = ELISpot 测试集 DS2、max 聚合、阈值&gt;0 口径下的判别力（0.5=随机，与全项目其它交付同口径）。完整数字见 analysis/metrics_ds2.csv。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NeoTImmuML：官方未发布预训练权重，基准使用基于公开数据自训的版本，数值不对标原论文。「端到端完整度」三档：完整双验证 / 子模型 / 降级或自训，均不影响进入基准，仅口径需说明。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1 / 5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用卷积神经网络判断一条肽段能不能激活 CD8+ T 细胞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0116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5915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只要两样东西：一条肽段序列（9 或 10 个氨基酸）和它对应的 HLA 分型。不需要基因组、不需要表达量，是十个工具里最省事的。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34747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82219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先把氨基酸序列和 HLA 假基序按物化性质编码成一张数字矩阵，再用卷积神经网络（CNN）像扫图像一样扫过这张矩阵，自动抓出和免疫原性有关的局部模式，最后汇总成一个分数。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493776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528523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输出一个 0 到 1 之间的连续分，越接近 1 表示越可能激活 T 细胞。实测已知强表位（如 CMV 的 NLVPMVATV）确实拿到高分，符合预期。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81328"/>
          </a:xfrm>
          <a:prstGeom prst="roundRect">
            <a:avLst>
              <a:gd name="adj" fmla="val 3704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46520" y="189280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64808" y="2203704"/>
            <a:ext cx="48920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单条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deepimmuno-cnn.py \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--mode single \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--epitope NLVPMVATV --hla HLA-A*0201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批量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--mode multiple --intdir IN --outdir OUT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01568"/>
            <a:ext cx="5257800" cy="1417320"/>
          </a:xfrm>
          <a:prstGeom prst="roundRect">
            <a:avLst>
              <a:gd name="adj" fmla="val 3871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46520" y="35112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64808" y="3822192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CSV，两列，无表头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肽段, HLA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NLVPMVATV,HLA-A*0201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GILGFVFTL,HLA-A*0201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4956048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46520" y="506577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64808" y="5376672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peptide    HLA          immunogenicity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NLVPMVATV  HLA-A*0201   0.957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GILGFVFTL  HLA-A*0201   0.887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DeepImmuno, Briefings in Bioinformatics 2021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tooltip="DOI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10.1093/bib/bbab160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tooltip="rep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github.com/frankligy/DeepImmuno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1 / 5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用卷积神经网络判断一条肽段能否激活 CD8+ T 细胞（HLA-I），最轻量、只要肽段+HLA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完整端到端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卷积网络 CNN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CSV，两列无表头  peptide,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肽段长度固定 9 或 10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 写法  HLA-A*0201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不需要基因组 / HLA 库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 single  单条，结果打印屏幕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 multiple  批量，指定输入输出目录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没有可调超参；须在 repo 根目录运行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三列  peptide / HLA / immunogenicity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immunogenicity = 0~1 连续分，越高越强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实测已知强表位高分（CMV NLVPMVATV=0.957）→ 合理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最省事：纯肽段+HLA 就能跑，不依赖任何收费工具，CPU 即可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环境：Python3.8 + TensorFlow2.3（protobuf 须降到 3.20）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限制：肽长只能 9 或 10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DeepImmuno, Briefings in Bioinformatics 2021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tooltip="DOI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10.1093/bib/bbab160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tooltip="rep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github.com/frankligy/DeepImmuno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2 / 5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用梯度提升树预测免疫原性，并给出一串可解释的特征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0116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5915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输入肽段、HLA 分型，以及（重组模式下）肽段所在的蛋白序列。支持三种输入模式，肽段长度 8–14。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34747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82219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先调用一串内置工具算出 13 类特征——蛋白酶切位点、提呈分（NOAH）、物化性质、TCR 接触位点等——再把这些特征喂给 XGBoost 梯度提升树模型综合打分。特征可解释是它的卖点。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493776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528523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输出一个 0 到 1 的免疫原性分（PredIG 列），同时附上那 13 列特征，方便回看模型是凭什么给的分。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81328"/>
          </a:xfrm>
          <a:prstGeom prst="roundRect">
            <a:avLst>
              <a:gd name="adj" fmla="val 3704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46520" y="189280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64808" y="2203704"/>
            <a:ext cx="48920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predig.py \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--type recombinant \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--modelXG neoant \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-i input.csv \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-o result.csv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01568"/>
            <a:ext cx="5257800" cy="1417320"/>
          </a:xfrm>
          <a:prstGeom prst="roundRect">
            <a:avLst>
              <a:gd name="adj" fmla="val 3871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46520" y="35112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64808" y="3822192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CSV，重组模式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epitope,HLA_allele,protein_seq,protein_name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SLLMWITQV,HLA-A*0201,MSLL...,TP53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4956048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46520" y="506577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64808" y="5376672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CSV，含 PredIG 分 + 13 列特征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epitope    PredIG   NOAH   TCR_contact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SLLMWITQV  0.0061   0.42   ...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PredIG, Genome Medicine 2025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tooltip="DOI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10.1186/s13073-025-01569-8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tooltip="rep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github.com/BSC-CNS-EAPM/PredIG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2 / 5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用梯度提升树预测 T 细胞表位免疫原性，按抗原类型分专用模型，结果可解释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完整端到端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梯度提升树 XGBoost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种模式：Uniprot / Recombinant / FASTA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Recombinant 列  epitope, HLA_allele, protein_seq, protein_name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8–14 个氨基酸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--modelXG  选模型（neoant / noncan / 自定义）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--type  选输入模式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  输出文件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CSV，PredIG 列 = 0~1 连续免疫原性分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另附 13 列特征（切割/提呈/物化/TCR 接触等）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SLLMWITQV = 0.0061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连续分 + 可解释特征 + 容器化（依赖全打包，省去装环境）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环境：官方 Docker（14.4G）→ HPC 转 Singularity（4.6G）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限制：镜像体积大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PredIG, Genome Medicine 2025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tooltip="DOI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10.1186/s13073-025-01569-8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tooltip="rep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github.com/BSC-CNS-EAPM/PredIG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3 / 5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一整套新抗原流程；其中识别子模型可单独给肽段打分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0116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5915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完整流程要测序变异（VCF）、表达量、拷贝数、肿瘤纯度、HLA——需要全基因组数据，喂不了纯肽段。但它的识别子模型 Pre&amp;RecNeo 只要三列：突变肽、对应野生肽、HLA，这部分能用来跑 ELISpot 肽段。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34747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82219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完整流程先把测序变异注释成突变肽，再逐层打分；识别子模型则针对一对「突变肽 vs 野生肽」算结合、相似度、被 T 细胞识别等特征，输出免疫识别分。本基准用的就是这个子模型。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493776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528523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完整流程给患者级排名分（乘了表达量和突变频率，需测序）；子模型给纯肽免疫识别分，这部分可与其它工具横比。实测示例数据端到端跑出 40 个候选新抗原。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81328"/>
          </a:xfrm>
          <a:prstGeom prst="roundRect">
            <a:avLst>
              <a:gd name="adj" fmla="val 3704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46520" y="189280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64808" y="2203704"/>
            <a:ext cx="48920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完整流程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pTuneos.py VCF -i config.yaml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识别子模型（喂肽段）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自写脚本调用 InVivoModelAndScore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01568"/>
            <a:ext cx="5257800" cy="1417320"/>
          </a:xfrm>
          <a:prstGeom prst="roundRect">
            <a:avLst>
              <a:gd name="adj" fmla="val 3871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46520" y="35112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64808" y="3822192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子模型输入：三列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MT_pep,     WT_pep,     HLA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AAAVFKTLP,  AAAVFKTLR,  HLA-A*02:01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4956048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46520" y="506577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64808" y="5376672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子模型识别分 model_pro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MT_pep      model_pro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AAAVFKTLP   0.73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pTuneos, Genome Medicine 2019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tooltip="DOI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10.1186/s13073-019-0679-x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tooltip="rep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github.com/bm2-lab/pTuneos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3 / 5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一整套个性化新抗原流程（从测序数据到排名）；识别子模型可单独拿肽段来打分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子模型端到端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机器学习流程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完整流程：测序变异 + 表达量 + 拷贝数 + 纯度 + HLA（要全基因组，喂不了纯肽）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识别子模型：只要 突变肽 + 野生肽 + HLA 三列（能跑 ELISpot 肽）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完整：python pTuneos.py  +  配置文件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子模型：自写脚本调用识别打分函数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可并行加速（多进程 + 批量结合预测）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完整流程出患者级排名分（乘了表达/突变频率，需测序）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子模型出纯肽免疫原性识别分 → 这部分进基准、可与其它工具比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示例数据跑出 40 个候选新抗原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镜像自带 netMHCpan / VEP / GATK 等全套；修了 8 处坑 + 14G 注释缓存才端到端跑通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进基准用的是识别子模型，对账官方逻辑一致（r=1.0），不等于整条流程的端到端能力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完整流程在本地容器跑通；HPC 因权限限制未跑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pTuneos, Genome Medicine 2019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tooltip="DOI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10.1186/s13073-019-0679-x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tooltip="rep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github.com/bm2-lab/pTuneos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4 / 5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用随机森林给新表位打分，整合了 22 个特征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0116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5915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输入突变肽、对应野生肽、HLA（TSV 格式，肽段 8–12）。流程分两步：先算特征，再预测。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34747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82219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第一步用外部工具算出 22 个特征（包含结合、稳定性、TCR 识别 PRIME 分、自相似度等）；第二步把特征喂给随机森林（每个变体 5 个森林做集成）综合打分。本基准里表达相关特征因 ELISpot 无 RNA 数据而降级。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493776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528523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在输入表后追加一列 mean_prediction_rf，是多折多森林的集成平均分（0 到 1）。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81328"/>
          </a:xfrm>
          <a:prstGeom prst="roundRect">
            <a:avLst>
              <a:gd name="adj" fmla="val 3704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46520" y="189280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64808" y="2203704"/>
            <a:ext cx="48920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第一步：算特征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run_feature_calc.sh input.tsv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第二步：预测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Predict.py --model Simple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01568"/>
            <a:ext cx="5257800" cy="1417320"/>
          </a:xfrm>
          <a:prstGeom prst="roundRect">
            <a:avLst>
              <a:gd name="adj" fmla="val 3871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46520" y="35112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64808" y="3822192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TSV：突变肽 + 野生肽 + HLA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Mut_pep     Norm_pep    HLA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EEFLNSWML   EEFLNSWMV   HLA-B*08:01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4956048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46520" y="506577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64808" y="5376672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追加 mean_prediction_rf 列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Mut_pep     mean_prediction_rf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EEFLNSWML   0.5146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IMPROVE, Frontiers in Immunology 2024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tooltip="DOI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10.3389/fimmu.2024.1360281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tooltip="rep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github.com/SRHgroup/IMPROVE_tool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4 / 5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用随机森林给新表位的免疫原性打分，22 个特征，分三种变体模型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特征降级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随机森林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TSV，必填  突变肽 + 野生肽 +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8–12 个氨基酸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两步走：先算特征，再跑随机森林预测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--model  选 Simple / TME_excluded / TME_included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每个变体加载 5 个森林做集成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TSV 追加一列  mean_prediction_rf（0~1 连续）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多折 × 多森林的集成平均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Simple 变体 EEFLNSWML = 0.5146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 个特征专为新表位排名设计，整合了 TCR 识别信号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缺口：ELISpot 没有 RNA 表达量 → 表达相关特征降级；稳定性特征依赖的外部工具受系统库版本所限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预测步本地+HPC 都跑通；这是「数据缺一块」不是「装不上」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IMPROVE, Frontiers in Immunology 2024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tooltip="DOI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10.3389/fimmu.2024.1360281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tooltip="rep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github.com/SRHgroup/IMPROVE_tool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5 / 5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 ★ 自训版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三种模型加权集成，用 78 个肽段物化特征；官方无权重，本基准为自训版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0116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5915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输入肽段加上 78 个物化特征（要先用 R 的 Peptides 包算好），不需要 HLA，肽段 8–13。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34747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82219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78 维特征喂给 LightGBM、XGBoost、随机森林三个模型，再加权集成成一个概率。官方仓库是研究用 notebook、没带预训练权重，所以本基准用公开肿瘤抗原库自己重训了一版（数值不对标原论文）。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493776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528523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0 到 1 的免疫原性概率（predict_proba），能用来排强弱；同时给分类指标和雷达图。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81328"/>
          </a:xfrm>
          <a:prstGeom prst="roundRect">
            <a:avLst>
              <a:gd name="adj" fmla="val 3704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46520" y="189280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64808" y="2203704"/>
            <a:ext cx="48920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不是命令行，是 Jupyter notebook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改 file_path 指向数据后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顺序运行 21 个单元格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（含 8 算法对比 + 加权集成）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01568"/>
            <a:ext cx="5257800" cy="1417320"/>
          </a:xfrm>
          <a:prstGeom prst="roundRect">
            <a:avLst>
              <a:gd name="adj" fmla="val 3871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46520" y="35112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64808" y="3822192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CSV：肽段 + 标签 + 78 特征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Peptide    label  feat1  feat2 ... feat78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AAAVFKTLP  1      0.12   -0.4  ...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4956048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46520" y="506577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64808" y="5376672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predict_proba 连续概率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Peptide    immuno_prob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AAAVFKTLP  0.81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NeoTImmuML, Frontiers in Immunology 2025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tooltip="DOI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10.3389/fimmu.2025.1681396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tooltip="rep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github.com/01SYan19/NeoTImmuML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5 / 5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 ★ 自训版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三种模型加权集成（LightGBM+XGBoost+随机森林）预测肿瘤新抗原免疫原性，用 78 个肽段物化特征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自训版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集成机器学习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CSV：肽段 + 标签 + 78 个物化特征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8–13 个氨基酸，不需要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 个特征要先用 R 的 Peptides 包算好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不是命令行，是 Jupyter notebook（21 个单元格）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改路径指向数据；内含 8 种算法对比 + 加权集成 + 交叉验证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分类指标 + 雷达图 + 连续概率（能分强弱）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官方没放预训练权重 → 基准用自训的版本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数值不对标原论文精度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纯肽段特征，不要 HLA、不要任何收费工具，装起来最省心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限制：是研究用 notebook，没带权重 → 用公开肿瘤抗原库重训了一版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不含 78 特征的计算代码 → 要自己用 R 算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NeoTImmuML, Frontiers in Immunology 2025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tooltip="DOI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10.3389/fimmu.2025.1681396</a:t>
            </a: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tooltip="rep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github.com/01SYan19/NeoTImmuML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部署环境与典型技术问题（按工具归属）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4206240" cy="4434840"/>
          </a:xfrm>
          <a:prstGeom prst="rect">
            <a:avLst/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部署环境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286000"/>
            <a:ext cx="3794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WSL2 Ubuntu</a:t>
            </a:r>
            <a:endParaRPr lang="en-US" sz="13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调试主场 · 直通显卡 · conda + Docker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 HPC 集群</a:t>
            </a:r>
            <a:endParaRPr lang="en-US" sz="13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最终部署目标 · Singularity 容器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出网情况</a:t>
            </a:r>
            <a:endParaRPr lang="en-US" sz="1350" dirty="0"/>
          </a:p>
          <a:p>
            <a:pPr marL="0" indent="0"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/ PyPI / DTU 通；Docker Hub 不通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120640" y="17373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典型的坑与解法（标明工具）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120640" y="2194560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120640" y="2194560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5285232" y="231343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DeepImmuno：版本敏感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285232" y="2651760"/>
            <a:ext cx="2816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protobuf 必须降到 3.20，否则报 Descriptors 错；TF2.3 + Python3.8 严格对版本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412480" y="2194560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0" y="2194560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8577072" y="231343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PredIG：镜像体积大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77072" y="2651760"/>
            <a:ext cx="2816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 Docker 14.4G；HPC 不通 Docker Hub → 转 Singularity（4.6G）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120640" y="3493008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120640" y="3493008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9" name="Text 17"/>
          <p:cNvSpPr/>
          <p:nvPr/>
        </p:nvSpPr>
        <p:spPr>
          <a:xfrm>
            <a:off x="5285232" y="361188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pTuneos：老链 + 大缓存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285232" y="3950208"/>
            <a:ext cx="2816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老依赖修了 8 处坑 + VEP 注释缓存 14G 才端到端跑通；HPC 因容器权限受限未跑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412480" y="3493008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412480" y="3493008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/>
          <p:nvPr/>
        </p:nvSpPr>
        <p:spPr>
          <a:xfrm>
            <a:off x="8577072" y="361188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IMPROVE：外部工具受限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577072" y="3950208"/>
            <a:ext cx="2816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稳定性特征依赖的 netMHCstabpan 受系统库版本所限；表达特征因无 RNA 降级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120640" y="4791456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120640" y="4791456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7" name="Text 25"/>
          <p:cNvSpPr/>
          <p:nvPr/>
        </p:nvSpPr>
        <p:spPr>
          <a:xfrm>
            <a:off x="5285232" y="491032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NeoTImmuML：无官方权重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285232" y="5248656"/>
            <a:ext cx="2816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研究用 notebook 不带权重 → 用公开数据自训；78 特征需先用 R 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412480" y="4791456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412480" y="4791456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1" name="Text 29"/>
          <p:cNvSpPr/>
          <p:nvPr/>
        </p:nvSpPr>
        <p:spPr>
          <a:xfrm>
            <a:off x="8577072" y="491032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通用：Docker Hub 不通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577072" y="5248656"/>
            <a:ext cx="2816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HPC 出网受限 → 镜像转 Singularity；老二进制改内核兼容配置绕过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测试数据从哪来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ELISpot 实测数据 · 规模 · 正负比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66751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91640"/>
            <a:ext cx="82296" cy="1783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181965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DS2 · 主测试集（有阴有阳）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2221992"/>
            <a:ext cx="6263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101 条肽段：有反应 90 条 / 无反应 11 条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 9 位患者；反应值 SFC 范围 −34 ~ 209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用途：算 AUC（能不能分开「有/无反应」）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611880"/>
            <a:ext cx="66751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611880"/>
            <a:ext cx="82296" cy="17830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73989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DS1 · 定量验证集（全阳）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96112" y="4142232"/>
            <a:ext cx="6263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82 条肽段：全部有反应，无阴性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 6 位患者；强度 SFC 16 ~ 677（约 40 倍跨度）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用途：检验「能不能把强弱排对」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543800" y="1691640"/>
            <a:ext cx="4023360" cy="3703320"/>
          </a:xfrm>
          <a:prstGeom prst="rect">
            <a:avLst/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0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关键说明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0" y="2249424"/>
            <a:ext cx="3611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 = ELISpot SFC</a:t>
            </a:r>
            <a:endParaRPr lang="en-US" sz="1200" dirty="0"/>
          </a:p>
          <a:p>
            <a:pPr marL="0" indent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SFC = 斑点形成细胞数，T 细胞反应强度的实验读数；阈值 &gt;0 记为有反应。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展开规模</a:t>
            </a:r>
            <a:endParaRPr lang="en-US" sz="1200" dirty="0"/>
          </a:p>
          <a:p>
            <a:pPr marL="0" indent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每条肽按子肽×HLA 窗口展开，DS1+DS2 共 34,247 行预测。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样本来自有限患者 → 存在聚集；DS2 阴性仅 11 条，置信区间偏宽。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5321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数据来源：课题组 ELISpot 实测（Elispot_Dataset1.xlsx / Elispot_Dataset2.xlsx）。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评测流程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从一条肽段到工具横向对比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58368" y="2578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肽段输入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3035808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DS1 / DS2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的肽段 + HLA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49424" y="2862072"/>
            <a:ext cx="310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523744" y="23774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23744" y="2578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工具打分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615184" y="3035808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各工具独立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给免疫原性分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0" y="2862072"/>
            <a:ext cx="310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89120" y="23774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389120" y="2578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80560" y="3035808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子肽×HLA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逐肽取 max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80176" y="2862072"/>
            <a:ext cx="310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54496" y="23774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54496" y="2578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切标签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45936" y="3035808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SFC&gt;0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分有/无反应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845552" y="2862072"/>
            <a:ext cx="310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119872" y="23774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19872" y="2578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算指标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11312" y="3035808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AUC / Spearman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 PPV / MCC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710928" y="2862072"/>
            <a:ext cx="310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985248" y="23774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0B3C49"/>
          </a:solidFill>
          <a:ln w="25400">
            <a:solidFill>
              <a:srgbClr val="0B3C49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985248" y="2578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横向对比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076688" y="3035808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工具同口径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排名与显著性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58368" y="4297680"/>
            <a:ext cx="10881360" cy="1783080"/>
          </a:xfrm>
          <a:prstGeom prst="rect">
            <a:avLst/>
          </a:prstGeom>
          <a:solidFill>
            <a:srgbClr val="F2F7F7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4434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读这张图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68680" y="4800600"/>
            <a:ext cx="10469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同一批肽段喂给 5 个工具 → 每个工具独立打分 → 因一条肽会拆成多个子肽×HLA，统一「逐肽取最大分」聚合 → 按实验反应值 SFC&gt;0 切「有/无反应」标签 → 用同一套指标评估 → 5 个工具在完全相同的口径下横向对比。</a:t>
            </a:r>
            <a:endParaRPr lang="en-US" sz="11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关键：所有工具走完全一致的聚合、阈值、指标口径，保证「apples-to-apples」可比。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基准方法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用什么数据、怎么比、看什么指标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91640"/>
            <a:ext cx="82296" cy="107899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37944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测试数据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108960" y="181965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 ELISpot 实验数据 DS2：101 条肽段。按实验反应值切分 —— 有反应 90 条、无反应 11 条（反应值≤0 算真无反应）。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862072"/>
            <a:ext cx="10881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862072"/>
            <a:ext cx="82296" cy="107899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0837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参评工具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108960" y="299008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第一批 5 个免疫原性工具：DeepImmuno / PredIG / pTuneos / IMPROVE / NeoTImmuML。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032504"/>
            <a:ext cx="10881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032504"/>
            <a:ext cx="82296" cy="107899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17880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怎么比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108960" y="4160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一条肽段拆成多个子肽×HLA，先聚合（统一取 max 最大值，与全项目其它交付同口径）再按阈值切，保证可比。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5202936"/>
            <a:ext cx="10881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5202936"/>
            <a:ext cx="82296" cy="107899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349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看什么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08960" y="5330952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AUC（能否分开「有反应/无反应」，0.5=随机）、AUPRC、Spearman 相关（分数与反应强弱是否同向 = 能否定量）。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所有数字经 analysis/metrics_ds2.csv 核对（max 聚合, &gt;0）；图表为 5 工具 max 聚合口径，与全项目一致。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先看懂这些指标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后面每个数字是什么意思、最该信哪个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41324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91640"/>
            <a:ext cx="82296" cy="1783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1837944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AUC（判别力）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910328" y="183794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4910328" y="183794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主看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96112" y="2331720"/>
            <a:ext cx="49103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随便挑「一条有反应 + 一条没反应」，模型给有反应那条打分更高的概率。</a:t>
            </a:r>
            <a:endParaRPr lang="en-US" sz="11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1=完美，0.5=</a:t>
            </a:r>
            <a:r>
              <a:rPr lang="zh-CN" alt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</a:t>
            </a: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，&lt;0.5=反着的。本报告最主要看它。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82512" y="1691640"/>
            <a:ext cx="541324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82512" y="1691640"/>
            <a:ext cx="82296" cy="17830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6620256" y="1837944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Spearman 相关（能否分强弱）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652760" y="183794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10652760" y="183794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看定量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38544" y="2331720"/>
            <a:ext cx="49103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模型分数的高低排序，和真实反应强弱的排序，吻合到什么程度。</a:t>
            </a:r>
            <a:endParaRPr lang="en-US" sz="11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+1=完全同向，0=没关系，−1=完全反着。这是「能不能分强弱」的关键。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749040"/>
            <a:ext cx="541324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3749040"/>
            <a:ext cx="82296" cy="178308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9" name="Text 17"/>
          <p:cNvSpPr/>
          <p:nvPr/>
        </p:nvSpPr>
        <p:spPr>
          <a:xfrm>
            <a:off x="877824" y="3895344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AUPRC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910328" y="389534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21" name="Text 19"/>
          <p:cNvSpPr/>
          <p:nvPr/>
        </p:nvSpPr>
        <p:spPr>
          <a:xfrm>
            <a:off x="4910328" y="389534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参考有限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96112" y="4389120"/>
            <a:ext cx="49103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精确率-召回率曲线下的面积，阳性很少时比 AUC 更敏感。</a:t>
            </a:r>
            <a:endParaRPr lang="en-US" sz="11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本数据阳性本就占 89%，起点就高 → 提升空间小，参考意义有限。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82512" y="3749040"/>
            <a:ext cx="541324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82512" y="3749040"/>
            <a:ext cx="82296" cy="178308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25" name="Text 23"/>
          <p:cNvSpPr/>
          <p:nvPr/>
        </p:nvSpPr>
        <p:spPr>
          <a:xfrm>
            <a:off x="6620256" y="3895344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95% 置信区间 / p 值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0652760" y="389534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B23A48"/>
          </a:solidFill>
          <a:ln/>
        </p:spPr>
      </p:sp>
      <p:sp>
        <p:nvSpPr>
          <p:cNvPr id="27" name="Text 25"/>
          <p:cNvSpPr/>
          <p:nvPr/>
        </p:nvSpPr>
        <p:spPr>
          <a:xfrm>
            <a:off x="10652760" y="389534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看可信度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38544" y="4389120"/>
            <a:ext cx="49103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重复抽样 2000 次看指标的波动范围；p&lt;0.05 才算「不是偶然」。</a:t>
            </a:r>
            <a:endParaRPr lang="en-US" sz="11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区间越宽=越不确定。本数据样本小（101 条、阴性仅 11）→ 区间普遍偏宽。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532120"/>
            <a:ext cx="10899648" cy="777240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559612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</a:t>
            </a: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本报告主看 AUC（判别力）和 Spearman（能否分强弱）；AUPRC 因阳性占比高、参考有限；样本量小 → 所有指标的置信区间都偏宽，结论以「方向性」为主、不抠零点几的差距。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判别力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工具 AUC：除 pTuneos / PredIG 外，多数接近随机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858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/fig6_5tools_auc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3232" y="1691640"/>
            <a:ext cx="6537960" cy="42976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6291072"/>
            <a:ext cx="815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图：5 工具 AUC（DS2，max 聚合，阈值&gt;0）+ 95% bootstrap CI。虚线=随机 0.5。pTuneos 0.75、PredIG 0.66 居前；DeepImmuno 0.48 低于随机。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589520" y="1627632"/>
            <a:ext cx="40690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589520" y="1627632"/>
            <a:ext cx="82296" cy="14813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0" y="173736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两个居前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72400" y="2084832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pTuneos（0.75）与 PredIG（0.66）在阈值&gt;0 下判别力点估相对最好；其余三个在 0.48–0.66 之间。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589520" y="3200400"/>
            <a:ext cx="40690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589520" y="3200400"/>
            <a:ext cx="82296" cy="148132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0" y="331012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阈值敏感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77240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换更严的阈值（&gt;median），pTuneos 从 0.75 掉到 0.53、DeepImmuno 始终≤0.52 → 多数工具的优势不跨阈值稳健。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589520" y="4773168"/>
            <a:ext cx="40690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589520" y="4773168"/>
            <a:ext cx="82296" cy="1481328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0" y="48828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样本小须谨慎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772400" y="5230368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无反应样本仅 11 个，工具间的差距置信区间较宽；本页给点估，不下「最优」判断。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判别力 · ROC 曲线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工具 ROC：多数贴近随机对角线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858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/fig8_5tools_roc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7240" y="1645920"/>
            <a:ext cx="6400800" cy="4526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63550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图：5 工具 ROC 曲线（DS2，max 聚合，阈值&gt;0）。曲线越往左上凸=判别力越强；贴近对角线=接近随机。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589520" y="1645920"/>
            <a:ext cx="40690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589520" y="1645920"/>
            <a:ext cx="82296" cy="1463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0" y="176479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怎么看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72400" y="212140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曲线离左上角越远 = 判别力越强；贴着对角线 = 与随机猜测相当。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589520" y="3200400"/>
            <a:ext cx="40690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589520" y="3200400"/>
            <a:ext cx="82296" cy="146304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0" y="331927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表现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772400" y="367588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pTuneos、PredIG 的曲线较明显凸向左上；DeepImmuno 等缠绕在对角线附近。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589520" y="4754880"/>
            <a:ext cx="40690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589520" y="4754880"/>
            <a:ext cx="82296" cy="14630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0" y="487375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与柱状图一致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772400" y="523036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与上一页 AUC 柱状图相互印证：仅少数工具具备一定判别力。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能否定量强弱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分数与真实反应强度的相关：仅个别工具显著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4008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/fig7_5tools_spearma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5800" y="1645920"/>
            <a:ext cx="6126480" cy="4526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6355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图：5 工具 Spearman 相关（max 聚合，分数 vs 反应强度）。* = p&lt;0.05。仅 IMPROVE / PredIG 显著正相关。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132320" y="1600200"/>
            <a:ext cx="4526280" cy="2331720"/>
          </a:xfrm>
          <a:prstGeom prst="rect">
            <a:avLst/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Spearman 相关（分数 vs 反应强度）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315200" y="2212848"/>
            <a:ext cx="4160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  ρ=0.243（p=0.014，显著）</a:t>
            </a:r>
            <a:endParaRPr lang="en-US" sz="1100" dirty="0"/>
          </a:p>
          <a:p>
            <a:pPr marL="0" indent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  ρ=0.198（p=0.047，显著）</a:t>
            </a:r>
            <a:endParaRPr lang="en-US" sz="11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 ρ=0.136、NeoTImmuML ρ=0.022、DeepImmuno ρ=−0.117 —— 均不显著。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132320" y="4069080"/>
            <a:ext cx="4526280" cy="2194560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0" y="418795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用全阳数据 DS1 进一步验证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0" y="4535424"/>
            <a:ext cx="4160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DS1 = 82 条肽，全部有反应（强度差约 40 倍）。在 DS2 上头部还能正向排强弱的工具，到全阳的 DS1 上相关系数普遍落到 0 附近。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说明现有工具的能力集中在「区分有/无反应」，对「反应有多强」的定量预测仍弱 —— 这正是「强弱定量」方向的空白所在。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工具之间一致吗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把同一批肽段的打分两两比对：彼此基本不相关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4008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/fig_corr_heatmap_5tool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3232" y="1664208"/>
            <a:ext cx="6080760" cy="4480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350942"/>
            <a:ext cx="6748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图：5 工具在同一批肽段（DS2，n=101）上打分的两两 Spearman 相关。颜色越红越正相关，越白越不相关；对角线为自身=1。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132320" y="1645920"/>
            <a:ext cx="4526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0" y="1645920"/>
            <a:ext cx="82296" cy="146304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176479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大多互不相关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15200" y="212140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对角线之外多数格子接近 0 —— 不同工具对同一条肽段给的排序基本各说各话。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132320" y="3200400"/>
            <a:ext cx="4526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132320" y="3200400"/>
            <a:ext cx="82296" cy="146304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0" y="331927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少数偏高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315200" y="367588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IMPROVE–pTuneos 0.31、IMPROVE–PredIG 0.28 略高，可能因方法或训练数据有重叠。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132320" y="4754880"/>
            <a:ext cx="4526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132320" y="4754880"/>
            <a:ext cx="82296" cy="1463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0" y="487375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这说明什么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0" y="523036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工具之间缺乏共识 → 没有一个是公认标准；简单做平均集成提升也有限。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诚实边界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已知限制与口径说明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72237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91640"/>
            <a:ext cx="82296" cy="109728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819656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样本量较小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97480" y="1801368"/>
            <a:ext cx="5029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无反应样本仅 11 个 → AUC/相关的置信区间偏宽，工具间小于 0.05 的 AUC 差距不具显著性。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880360"/>
            <a:ext cx="72237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880360"/>
            <a:ext cx="82296" cy="109728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3008376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数据存在聚集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97480" y="2990088"/>
            <a:ext cx="5029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101 条肽来自 9 个病人，部分病人贡献较多阴性肽 → 有效样本数小于 101，判别力可能部分反映「区分病人」。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4069080"/>
            <a:ext cx="72237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069080"/>
            <a:ext cx="82296" cy="1097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896112" y="4197096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完整度分级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97480" y="4178808"/>
            <a:ext cx="5029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 / PredIG 完整端到端双验证；pTuneos 为识别子模型（对账 r=1.0）；IMPROVE 特征链降级；NeoTImmuML 为自训版（非官方权重）。结论按此口径解读。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5257800"/>
            <a:ext cx="72237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5257800"/>
            <a:ext cx="82296" cy="10972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5385816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聚合口径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697480" y="5367528"/>
            <a:ext cx="5029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本报告统一采用 max 聚合（与全项目其它交付一致）；换 mean / top3mean 点估略有差异，但「多数工具判别力偏弱、定量相关弱」的总体结论一致。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046720" y="1691640"/>
            <a:ext cx="3611880" cy="4572000"/>
          </a:xfrm>
          <a:prstGeom prst="rect">
            <a:avLst/>
          </a:prstGeom>
          <a:solidFill>
            <a:srgbClr val="4A1F24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7532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C2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许可提示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75320" y="2331720"/>
            <a:ext cx="32461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netMHCpan / netMHCstabpan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F2C2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 DTU 学术许可。未经书面同意，不得向第三方发布在其软件上跑出的结果（含数字）。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 / IMPROVE 依赖上述工具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C2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对外报告含相关对比数字前，需先取得 DTU 书面同意（投稿阶段处理）。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个工具的论文出处与代码仓库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27080" cy="3200400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11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工具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发表期刊 / 年份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DOI（可点击）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代码仓库（可点击）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DeepImmuno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Briefings in Bioinformatics 2021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3" tooltip="https://doi.org/10.1093/bib/bbab16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10.1093/bib/bbab160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4" tooltip="https://github.com/frankligy/DeepImmuno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github.com/frankligy/DeepImmuno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PredIG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Genome Medicine 2025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5" tooltip="https://doi.org/10.1186/s13073-025-01569-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10.1186/s13073-025-01569-8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6" tooltip="https://github.com/BSC-CNS-EAPM/PredIG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github.com/BSC-CNS-EAPM/PredIG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pTuneos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Genome Medicine 2019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7" tooltip="https://doi.org/10.1186/s13073-019-0679-x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10.1186/s13073-019-0679-x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8" tooltip="https://github.com/bm2-lab/pTuneos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github.com/bm2-lab/pTuneos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IMPROVE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Frontiers in Immunology 2024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9" tooltip="https://doi.org/10.3389/fimmu.2024.136028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10.3389/fimmu.2024.1360281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0" tooltip="https://github.com/SRHgroup/IMPROVE_tool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github.com/SRHgroup/IMPROVE_tool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NeoTImmuML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Frontiers in Immunology 2025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1" tooltip="https://doi.org/10.3389/fimmu.2025.168139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10.3389/fimmu.2025.1681396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2" tooltip="https://github.com/01SYan19/NeoTImmuML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github.com/01SYan19/NeoTImmuML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074920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外部依赖工具：netMHCpan / netMHCstabpan（DTU Health Tech，学术许可）· MixMHCpred（Gfeller lab）· Ensembl VEP · R Peptides 包。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结论与下一步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5349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个工具全部完成部署，四类信息逐工具记录齐全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 / PredIG 完整端到端双验证；其余按口径诚实分级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ELISpot 基准结论：5 个工具判别力总体偏弱，仅 pTuneos / PredIG 点估居前；定量相关仅 IMPROVE / PredIG 显著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现有工具对「反应强弱」的定量预测仍弱 → 该方向存在明确空白与价值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0" y="2148840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2148840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22402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扩充阴性样本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629400" y="253288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无反应样本仅 11 个 → 补充至 ≥30 后重测，使结论更稳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400800" y="3026664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3026664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3" name="Text 11"/>
          <p:cNvSpPr/>
          <p:nvPr/>
        </p:nvSpPr>
        <p:spPr>
          <a:xfrm>
            <a:off x="6629400" y="311810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统一多聚合口径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629400" y="341071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 max / top3mean 口径的对照，确认结论稳健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00800" y="3904488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904488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7" name="Text 15"/>
          <p:cNvSpPr/>
          <p:nvPr/>
        </p:nvSpPr>
        <p:spPr>
          <a:xfrm>
            <a:off x="6629400" y="399592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核连续标签数据量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629400" y="428853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评估公开库中带反应强度标签的数据是否足以支撑定量回归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0" y="4782312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4782312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21" name="Text 19"/>
          <p:cNvSpPr/>
          <p:nvPr/>
        </p:nvSpPr>
        <p:spPr>
          <a:xfrm>
            <a:off x="6629400" y="487375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接入正式数据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629400" y="5166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正式数据到位后按各工具格式转换并正式测试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00800" y="5660136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5660136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25" name="Text 23"/>
          <p:cNvSpPr/>
          <p:nvPr/>
        </p:nvSpPr>
        <p:spPr>
          <a:xfrm>
            <a:off x="6629400" y="57515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对外许可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29400" y="60441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对外报告含 netMHCpan 相关数字前取 DTU 书面同意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3054</Words>
  <Application>Microsoft Office PowerPoint</Application>
  <PresentationFormat>宽屏</PresentationFormat>
  <Paragraphs>559</Paragraphs>
  <Slides>26</Slides>
  <Notes>26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0" baseType="lpstr">
      <vt:lpstr>Microsoft YaHei</vt:lpstr>
      <vt:lpstr>Arial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新抗原免疫原性预测工具 5 工具部署测试与基准评估报告</dc:title>
  <dc:subject>PptxGenJS Presentation</dc:subject>
  <dc:creator>PptxGenJS</dc:creator>
  <cp:lastModifiedBy>嘉 余</cp:lastModifiedBy>
  <cp:revision>2</cp:revision>
  <dcterms:created xsi:type="dcterms:W3CDTF">2026-06-25T08:32:45Z</dcterms:created>
  <dcterms:modified xsi:type="dcterms:W3CDTF">2026-06-25T08:58:24Z</dcterms:modified>
</cp:coreProperties>
</file>
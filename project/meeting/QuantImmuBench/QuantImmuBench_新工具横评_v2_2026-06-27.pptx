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371/journal.pcbi.1003266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371/journal.pcbi.1003266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19.00827" TargetMode="External"/><Relationship Id="rId2" Type="http://schemas.openxmlformats.org/officeDocument/2006/relationships/hyperlink" Target="https://github.com/masato-ogishi/Repitop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19.00827" TargetMode="External"/><Relationship Id="rId2" Type="http://schemas.openxmlformats.org/officeDocument/2006/relationships/hyperlink" Target="https://github.com/masato-ogishi/Repitop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nar/gkaa379" TargetMode="External"/><Relationship Id="rId2" Type="http://schemas.openxmlformats.org/officeDocument/2006/relationships/hyperlink" Target="https://services.healthtech.dtu.dk/services/NetMHCpan-4.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nar/gkaa379" TargetMode="External"/><Relationship Id="rId2" Type="http://schemas.openxmlformats.org/officeDocument/2006/relationships/hyperlink" Target="https://services.healthtech.dtu.dk/services/NetMHCpan-4.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cels.2020.06.010" TargetMode="External"/><Relationship Id="rId2" Type="http://schemas.openxmlformats.org/officeDocument/2006/relationships/hyperlink" Target="https://github.com/openvax/mhcflurry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cels.2020.06.010" TargetMode="External"/><Relationship Id="rId2" Type="http://schemas.openxmlformats.org/officeDocument/2006/relationships/hyperlink" Target="https://github.com/openvax/mhcflurry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6.1722117" TargetMode="External"/><Relationship Id="rId2" Type="http://schemas.openxmlformats.org/officeDocument/2006/relationships/hyperlink" Target="https://github.com/AaronChen007/neoantige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6.1722117" TargetMode="External"/><Relationship Id="rId2" Type="http://schemas.openxmlformats.org/officeDocument/2006/relationships/hyperlink" Target="https://github.com/AaronChen007/neoantige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2256-023-00694-6" TargetMode="External"/><Relationship Id="rId2" Type="http://schemas.openxmlformats.org/officeDocument/2006/relationships/hyperlink" Target="https://github.com/KarchinLab/bigmhc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2256-023-00694-6" TargetMode="External"/><Relationship Id="rId2" Type="http://schemas.openxmlformats.org/officeDocument/2006/relationships/hyperlink" Target="https://github.com/KarchinLab/bigmhc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26/sciadv.adz8759" TargetMode="External"/><Relationship Id="rId2" Type="http://schemas.openxmlformats.org/officeDocument/2006/relationships/hyperlink" Target="https://github.com/seoklab/T-SCAP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26/sciadv.adz8759" TargetMode="External"/><Relationship Id="rId2" Type="http://schemas.openxmlformats.org/officeDocument/2006/relationships/hyperlink" Target="https://github.com/seoklab/T-SCAP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 · 预测工具部署与基准评估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7 个对比工具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部署测试 · 基准评估 · pooling 评判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BigMHC · CNNeo · MHCflurry · IEDB_Calis · Repitope · T-SCAPE · netMHCpan-BA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66344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8920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逐工具部署 + 工作原理 + 四类信息 + 为什么选作对比 · 结合朱同学 pooling 研究的 spearman 评判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在原 10 工具横评基础上扩充方法学多样性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94392" y="6126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本报告的内容结构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9842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83080" y="19293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为什么扩这 7 个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83080" y="2313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方法学演化光谱 + 文献矩阵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898648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898648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0998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83080" y="3044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工具逐一解析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8308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每个工具的工作原理 + 四类信息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014216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014216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2153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83080" y="4160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数据与评测方法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83080" y="4544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测试数据来源、评测流程、指标说明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129784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5129784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33095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783080" y="52760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783080" y="566013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 AUC + 能否定量 Spearman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1783080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1783080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19842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406640" y="19293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pooling 评判专章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06640" y="2313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结合朱同学：换 pooling 如何改变排序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2898648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2898648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6519672" y="30998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406640" y="3044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诚实边界与许可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0664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已知限制、口径、许可红线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4014216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4014216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6519672" y="42153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406640" y="4160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结论与下一步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406640" y="4544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总结与后续计划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为什么在 10 工具之外再扩 7 个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074920" cy="233172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目标回顾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2157984"/>
            <a:ext cx="4617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做一个能预测 T 细胞反应 </a:t>
            </a:r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「强弱程度」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的工具。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路线 = 大量跑现有工具，钉死它们的定量能力上限，再立项自研。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5074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42062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为什么不止 10 个工具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553712"/>
            <a:ext cx="4754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10 工具多为「浅层 ML / 早期 CNN 直接拟合免疫原性」一类方法。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要让 benchmark 有说服力，必须覆盖更多方法学范式——统计、纯结合、提呈、LLM、大模型迁移、多域结构。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7 个工具各占一格生态位，把方法学谱系填满。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89320" y="1554480"/>
            <a:ext cx="5559552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89320" y="1554480"/>
            <a:ext cx="82296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245352" y="1700784"/>
            <a:ext cx="5193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7 工具一览（主榜 max 口径 AUC）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2084832"/>
            <a:ext cx="505663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IEDB_Calis · 经典氨基酸统计基线（2013）· AUC 0.449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Repitope · 唯一 HLA-agnostic 路线（2019）· AUC 0.620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netMHCpan-BA · 纯结合亲和力金标准（2020）· AUC 0.419 ⚠️DTU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MHCflurry · 社区金标准提呈代理（2020）· AUC 0.432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CNNeo · LLM(BioBERT) 增强 CNN（2026）· AUC 0.382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BigMHC · 大规模迁移学习 ensemble（2023）· AUC 0.396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T-SCAPE · 多域对抗 DL，2025 SOTA · AUC 0.362 ⚠️NC-ND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为什么扩这 7 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一条方法学演化主轴，每个工具占一格生态位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566928"/>
          </a:xfrm>
          <a:prstGeom prst="rect">
            <a:avLst/>
          </a:prstGeom>
          <a:solidFill>
            <a:srgbClr val="8A9BA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9B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6916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IEDB_Calis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16916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B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经典统计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0" y="169164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氨基酸理化富集，无 ML，2013 历史临界线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350008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350008"/>
            <a:ext cx="82296" cy="5669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35000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3500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Repitope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235000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HLA-agnostic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235000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不问 HLA，测肽序列本身免疫原潜力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008376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008376"/>
            <a:ext cx="82296" cy="56692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00837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300837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netMHCpan-BA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300837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纯结合亲和力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300837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验证「结合≠免疫原性」核心命题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666744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666744"/>
            <a:ext cx="82296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66674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366674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MHCflurry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49040" y="36667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提呈代理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52160" y="366674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检验「能提呈能否当强弱代理」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325112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4325112"/>
            <a:ext cx="82296" cy="5669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3251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71600" y="43251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CNNeo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49040" y="432511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增强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52160" y="432511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BioBERT 序列表征，2026 最新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4983480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" y="4983480"/>
            <a:ext cx="82296" cy="5669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49834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371600" y="4983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BigMHC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749040" y="49834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大规模迁移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852160" y="498348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提呈预训练→免疫原性迁移，Nat MI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5641848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0080" y="5641848"/>
            <a:ext cx="82296" cy="56692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" y="564184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371600" y="56418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T-SCAPE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749040" y="56418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多域结构 SOTA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852160" y="56418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TCR-pMHC+激活信号四路对抗融合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" y="6355080"/>
            <a:ext cx="10881360" cy="0"/>
          </a:xfrm>
          <a:prstGeom prst="rect">
            <a:avLst/>
          </a:prstGeom>
          <a:noFill/>
          <a:ln w="12700">
            <a:solidFill>
              <a:srgbClr val="D5E3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文献矩阵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个新增对比工具 — 论文出处 · repo · 许可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07899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2743200"/>
                <a:gridCol w="292608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 · 期刊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官方 repo / web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许可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280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IEDB_Calis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2013 · PLOS Comput Biol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10.1371/journal.pcbi.1003266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tools.iedb.org/immunogenicity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NPOSL-3.0 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280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Repitope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2019 · Front Immunol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10.3389/fimmu.2019.00827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github.com/masato-ogishi/Repitope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 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netMHCpan-BA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2020 · Nucleic Acids Res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10.1093/nar/gkaa379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services.healthtech.dtu.dk/NetMHCpan-4.1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DTU 学术·禁再分发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280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MHCflurry 2.0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2020 · Cell Systems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10.1016/j.cels.2020.06.010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github.com/openvax/mhcflurry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Apache-2.0 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280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CNNeo / CNNeoPP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 · Front Immunol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10.3389/fimmu.2026.1722117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github.com/AaronChen007/neoantigen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 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280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BigMHC (-m=im)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 · Nature MI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10.1038/s42256-023-00694-6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github.com/KarchinLab/bigmhc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学术非商用 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T-SCAPE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 · Science Advances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10.1126/sciadv.adz8759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github.com/seoklab/T-SCAPE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CC-BY-NC-ND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横评总表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新工具 — 方法范式 · 判别力 · 定量能力 · 许可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04241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1645920"/>
                <a:gridCol w="1463040"/>
                <a:gridCol w="23774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方法范式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能否定量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AUC(max,&gt;0)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许可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IEDB_Calis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经典统计线性加权，无 ML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连续分可排名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0.449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NPOSL-3.0 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Repitope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HLA-agnostic CPP + ERT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0-1 连续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280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0.620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 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netMHCpan-BA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Pan-allele 神经网络（结合亲和力）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连续可排名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0.419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DTU pending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MHCflurry 2.0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提呈代理神经网络（双分数）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间接代理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0.432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Apache-2.0 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CNNeo / CNNeoPP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BioBERT 序列嵌入 + TextCNN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0-1 连续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0.382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 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BigMHC (-m=im)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大规模迁移学习 7-ckpt ensemble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0-1 连续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0.396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学术非商用 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T-SCAPE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ByteNet 跨域辅助多任务 DL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0-1 连续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0.362 ⚠️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CC-BY-NC-ND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893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注：Repitope 0.620 = 新工具最高；全组新工具未突破旧工具天花板（pTuneos 0.719）；TSCAPE 0.362 + Spearman 全聚合负 → 方向待核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 / 7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IEDB Immunogenicity (Calis 2013)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经典统计基线 · 无 ML · 被主流新抗原流水线默认集成 · NPOSL-3.0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纯文本肽序列列表（大写氨基酸，一行一肽）+ HLA allele 命令行参数（--allele=HLA-A0201）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8–15mer 均有分，65 allele，0 NaN；每次调用处理一个 allele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各位置氨基酸 immunogenicity propensity 分值线性加权求和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allele-specific anchor mask 屏蔽 HLA 锚位（P1/P2/C-term）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ML 无梯度无权重文件，纯统计，秒级完成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immunogenicity score（无硬边界，通常 -1.5~+1.5），越高越免疫原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34247 行 0 NaN；AUC(max,&gt;0) 0.449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predict_immunogenicity.py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--allele=HLA-A0201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HLA-A0201.txt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纯文本，一行一肽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FIAGLIAIV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LITGRLQSL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NLVPMVATV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peptide,length,score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FIAGLIAIV,9,0.45678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LITGRLQSL,9,0.23456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NLVPMVATV,9,0.12345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IEDB Immunogenicity, PLOS Comput Biol 2013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10.1371/journal.pcbi.1003266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tools.iedb.org/immunogenicity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 / 7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IEDB Immunogenicity (Calis 2013)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2013 历史对照基准 · 任何新工具不超过它即可判无效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RUN_DONE · AUC 0.449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线性统计（无 ML）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格式：纯文本 .txt，每行一肽（大写 20 种氨基酸，无表头）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格式：去 * 去 :（如 HLA-A*02:01 → HLA-A0201）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肽长：8–15mer 均有分（8/10mer+ 有特殊位置调整规则）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每次调用处理一个 allele，benchmark 共 65 allele，秒级全量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--allele=HLA-A0201  使用 allele-specific anchor mask（42 个已知 allele）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不加 --allele  回退默认 mask（P1, P2, C-term）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Python 3，无需 pip/GPU/权重文件，pip free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流水线：prep_input.py → run_iedb_calis.sh → parse_output.py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 连续无界（通常 -1.5~+1.5），越高越免疫原，直接用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列：MT_IEDB_Calis / WT_IEDB_Calis（浮点无界）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实测：34247 行，0 NaN；65 allele 全覆盖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产物：IEDB_Calis_DS1DS2_scores.csv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为什么选作对比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 2013 年历史基准——现代 DL 工具须显著高于此线才算真进步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 pVACseq / iNeo-Suite 等主流新抗原流水线默认集成，引用频次最高经典基准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任何工具 AUC 不超过 0.449 即可判定方法无贡献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NPOSL-3.0，数字完全自由发布，无 DTU 限制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IEDB Immunogenicity, PLOS Comput Biol 2013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10.1371/journal.pcbi.1003266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tools.iedb.org/immunogenicity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2 / 7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Repitope (2019)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 HLA-agnostic 路线 · CPP 接触势 + ERT · MIT 许可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仅需肽段序列（8–11mer，大写氨基酸），不接受 HLA allele 输入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12–14mer → NaN；需下载预计算文件（Mendeley，~127MB）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Contact Potential Profiling（CPP）：用公开 TCR CDR3b 库模拟整个人群 TCR 对肽的 in-silico 接触势能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个最小特征；25 个 Extremely Randomized Trees（ERT）ensemble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训练于 MHCI_Human（~7000 肽，IEDB 等公开标注）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ImmunogenicityScore ∈ [0,1]，越高越免疫原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实测：22391 行有分（8–11mer），12–14mer NaN，分数范围 0.06–0.61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RSCRIPT=E:\R-4.3.3\bin\Rscript.exe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Rscript run_repitope.R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--input repitope_input.csv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--frag-lib FragmentLibrary.fst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--feature-df FeatureDF_Weighted.10000.fst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--cores 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SIINFEKL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LITGRLQSL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FIAGLIAIV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Peptide,ImmunogenicityScore,ImmunogenicityScore.cv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SIINFEKL,0.421,0.087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LITGRLQSL,0.338,0.092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FIAGLIAIV,0.195,0.104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Repitope, Front Immunol 2019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10.3389/fimmu.2019.00827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github.com/masato-ogishi/Repitope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2 / 7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Repitope (2019)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不问 HLA，测肽序列本身的免疫原性潜力——新工具最高 AUC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RUN_DONE · AUC 0.620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HLA-agnostic CPP + ERT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仅需肽序列（8–11mer 大写氨基酸），不接受 HLA allele 输入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数据依赖：FragmentLibrary.fst + MHCI/FeatureDF_Weighted.10000.fst（Mendeley DOI 10.17632/sydw5xnxpt.1）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12–14mer → NaN（超训练长度限制，benchmark ~11856 行 NaN）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实测输入：7437 个唯一 8–11mer 肽（从 universe 过滤）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--cores N  并行核数（建议 6–8，加速 CPP 特征计算）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--smoke N  仅取前 N 肽快速验格式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featureSet = MHCI_Human_MinimumFeatureSet（32 特征，大幅加速）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每次运行重训 25 个 ERT 模型，约 5–20min（无预存权重）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ImmunogenicityScore ∈ [0,1]，越高越免疫原，直接用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HLA-agnostic：同肽对所有 HLA_Allele 行填相同值（须在报告标注）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实测：34247 行；22391 行有分；12–14mer NaN；分数 0.06–0.61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产物：Repitope_DS1DS2_scores.csv（MT_Repitope / WT_Repitope）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为什么选作对比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10 工具几乎全 HLA-aware；Repitope 是唯一 HLA-agnostic 路线，补方法学空白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量化「HLA 限制信息到底值多少」：不差 = 序列内在特征够用；很差 = HLA 限制是关键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许可，部署零障碍（无 DTU 学术许可申请）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 0.620 = 7 新工具最高，与旧工具前列持平；per-patient fisherz 0.119（CI 含 0）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Repitope, Front Immunol 2019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10.3389/fimmu.2019.00827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github.com/masato-ogishi/Repitope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3 / 7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netMHCpan-4.1 BA mode (2020)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纯结合亲和力金标准 · 验证「结合 ≠ 免疫原性」核心命题 · ⚠️ DTU 禁再分发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肽序列文件（一行一肽）+ --allele HLA 参数；BA mode 专测结合亲和力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&gt;18,000 等位基因（pan-allele），8–14mer；HPC Linux 二进制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Pan-allele 神经网络，训练于大规模 HLA-肽结合亲和力 + MS 洗脱配体数据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 mode 仅输出结合亲和力（nM）；不直接预测 T 细胞免疫原性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等位基因由伪序列表示（pseudosequence）泛化覆盖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Score_BA（越高越不结合）、Aff_BA（nM 越低越强结合）、Rank_BA（%ile）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取负后与免疫强弱正向对齐；AUC(max,&gt;0) 0.419，mean 聚合 Spearman +0.381 全场最强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HPC Linux 原生二进制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netMHCpan -BA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-a HLA-A0201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peptides.txt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-l 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肽序列文件（一行一肽）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FIAGLIAIV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LITGRLQSL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NLVPMVATV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Allele  Pos  Peptide  ...  Score_BA  Rank_BA  Aff_BA(nM)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HLA-A*02:01  0  FIAGLIAIV  ...  0.123  0.50  150.2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HLA-A*02:01  0  LITGRLQSL  ...  0.087  1.20  280.4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netMHCpan-4.1, Nucleic Acids Res 2020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10.1093/nar/gkaa379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services.healthtech.dtu.dk/services/NetMHCpan-4.1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3 / 7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netMHCpan-4.1 BA mode (2020)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纯结合亲和力 vs ELISpot 真实反应——验证核心方法学命题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RUN_DONE · ⚠️ DTU pending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Pan-allele 神经网络（结合亲和力）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肽序列文件（一行一肽）+ -a HLA-A0201 等位基因参数（BA mode）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&gt;18,000 等位基因（pan-allele 伪序列泛化）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Linux 二进制（Windows 不支持 DTU 原生二进制）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 benchmark 在 HPC el8 原生跑通（netMHCpan-4.1 test.pep PASS）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 -BA  启用结合亲和力预测模式（-EL 为 eluted ligand）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-a HLA-A0201  指定等位基因（支持 batch 多 allele）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-l 9  肽长（8–14 均支持）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-p 肽文件输入；-f fasta 格式；-v verbose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Score_BA：取负 → MT_netmhcpan_ba（越高越强结合，越应免疫原）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Rank_BA：%ile 排名（越低=越强结合）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Aff_BA(nM)：预测亲和力（越低越强）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mean 聚合 Spearman +0.381 p=0.0003 全场最强，但 DTU pending + 聚合敏感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为什么选作对比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直接检验本 benchmark 最重要命题：「结合亲和力 ≠ 免疫原性」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量化纯结合信号与真实 ELISpot 的 gap，为整合 TCR/加工信号工具提供提升参照系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新抗原流水线最广用上游工具，等位基因覆盖业内最多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DTU 学术许可第 7(v)/10 条禁再分发跑出数字；投稿前须取 DTU 书面同意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netMHCpan-4.1, Nucleic Acids Res 2020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10.1093/nar/gkaa379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services.healthtech.dtu.dk/services/NetMHCpan-4.1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4 / 7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MHCflurry 2.0 (2020)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社区金标准「提呈代理」· 双分数（提呈 + 亲和力）· Apache-2.0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API：peptides（str list）+ alleles（HLA-A*02:01 格式）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8–15mer；65 allele 全支持，0 NaN；无需格式转换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神经网络 pan-allele 模型（Class1PresentationPredictor）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联合建模 HLA 结合亲和力 + 抗原加工（proteasome/TAP）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训练于大规模 MHC-I 结合亲和力 + MS 洗脱配体，无 T 细胞免疫原性标注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双分数：presentation_score [0,1]（越高越强提呈）+ affinity（nM，越低越强结合，取负用）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34247 行 0 NaN；AUC_presentation=AUC_affinity_neg=0.432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mhcflurry import Class1PresentationPredictor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predictor = Class1PresentationPredictor.load()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predictor.predict(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peptides=['SIINFEKL','NLVPMVATV'],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alleles=['HLA-A*02:01'],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verbose=0)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API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peptides=['SIINFEKL','NLVPMVATV']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alleles=['HLA-A*02:01']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或 CLI：mhcflurry-predict input.csv ...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peptide,sample_name,affinity,presentation_score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SIINFEKL,HLA-A*02:01,142.3,0.891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NLVPMVATV,HLA-A*02:01,8.4,0.983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MHCflurry 2.0, Cell Systems 2020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10.1016/j.cels.2020.06.010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github.com/openvax/mhcflurry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4 / 7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MHCflurry 2.0 (2020)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检验「提呈预测（无免疫原性微调）能否代理强弱定量」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RUN_DONE · AUC 0.432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神经网络提呈预测（双分数）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API：peptides(str list) + alleles(['HLA-A*02:01'])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8–15mer；HLA 格式与 benchmark 标准格式一致，无需转换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 allele 全支持（benchmark universe 全覆盖，0 NaN）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实测：53582 行（MT+WT），CPU ~30–60min；GPU ~5min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predictor = Class1PresentationPredictor.load()  加载模型（~70MB）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predictor.predict(peptides, alleles, verbose=0)  批量预测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mhcflurry-downloads fetch models_class1_presentation  首次下载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allele 分组单独预测（65 组循环），verbose=0 静默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presentation_score [0,1]，越高越强提呈 → MT/WT_MHCflurry_presentation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affinity(nM，越低越强结合)取负 → MT/WT_MHCflurry_affinity_neg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不直接预测 T 细胞免疫原性，作 presentation proxy baseline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34247 行 0 NaN；两列 AUC 均 0.432；affinity_neg 聚合方向翻转（⚠️ 不稳健）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为什么选作对比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检验「提呈预测（无免疫原性微调）能否当强弱定量代理」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领域「公共参照系」——多数新工具论文都拿它对比，不纳入会被 reviewer 注意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双分数可分析 affinity vs presentation 哪条信号更预测真值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Apache-2.0，pip 一键装，社区使用最广；全量 65 allele 0 NaN 无缺失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MHCflurry 2.0, Cell Systems 2020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10.1016/j.cels.2020.06.010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github.com/openvax/mhcflurry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5 / 7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CNNeo / CNNeoPP (2026)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增强 CNN · BioBERT 序列嵌入 · MIT · 最新发表（2026）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CSV：peptide（肽序列）+ hla（HLA-A*02:01 格式）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8–11mer 训练分布内；12–14mer 轻度 OOD；&lt;8 or &gt;14 → NaN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FCNN_TF 子模型：6-mer TF-IDF(max=1000) → FCNN(1000→64→2) → softmax[:, 1]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CNN_BioBERT 子模型：4-mer → dmis-lab/biobert-base-cased-v1.1 → TextCNN → softmax[:, 1]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首次运行自动从 training_data.xlsx 训练（TESLA+ELISpot，SMOTE 过采样）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 ∈ [0,1]，softmax class=1 概率，越高越免疫原；&gt;0.5 判为免疫原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34247 行 0 NaN；分数范围 0.13–0.96；AUC(max,&gt;0) 0.382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准备输入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HPC/deploy/cnneo/prep_input.py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训练（首次自动，FCNN_TF ~5-15min CPU）+ 推理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HPC/deploy/cnneo/run_cnneo.py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回贴 universe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HPC/deploy/cnneo/parse_output.py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peptide,hla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SIINFEKL,HLA-A*02:01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NLVPMVATV,HLA-B*07:02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FIAGLIAIV,HLA-A*02:01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peptide,hla,score,label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SIINFEKL,HLA-A*02:01,0.847,1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NLVPMVATV,HLA-B*07:02,0.234,0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FIAGLIAIV,HLA-A*02:01,0.612,1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CNNeoPP, Front Immunol 2026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10.3389/fimmu.2026.1722117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github.com/AaronChen007/neoantigen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5 / 7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CNNeo / CNNeoPP (2026)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率先引入蛋白质语言模型嵌入的新表位免疫原性工具（2026 最新）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RUN_DONE · AUC 0.382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BioBERT 序列嵌入 + TextCNN ensemble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 有表头：peptide（肽序列）+ hla（HLA-A*02:01 格式）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8–11mer 训练分布内；12–14mer 可处理（轻度 OOD，分数供参考）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&lt;8 or &gt;14mer 由 prep_input.py 过滤，benchmark 输出 NaN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实测：53582 行（MT+WT），0 NaN；FCNN_TF 子模型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--model cnn_biobert  使用 BioBERT 子模型（默认 FCNN_TF）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--smoke N  仅对 N 对肽做推理（快速验格式）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--force-retrain  强制重训（首次自动从 training_data.xlsx 训练）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FCNN_TF 无需预下载；CNN_BioBERT 需 HF 下载 BioBERT ~500MB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 ∈ [0,1]，softmax class=1，越高越免疫原，直接用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label：score&gt;0.5 → 1（预测阳性），0 → 阴性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实测：34247 行 0 NaN；FCNN_TF 自训 ValAcc~75%；score 0.13–0.96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产物：CNNeo_DS1DS2_scores.csv（MT_CNNeo / WT_CNNeo）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为什么选作对比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填「LLM 增强序列表征」方法学空白，正交于 BigMHC（自训大矩阵 vs 外部 LLM）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最新发表，TESLA+ELISpot 验证（与本 benchmark 真值来源同系）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许可，FCNN_TF 轻量（5–15min CPU 自训），展示方法前沿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 0.382 = 7 新工具最低；LLM 嵌入能否带来增益仍需更多数据验证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CNNeoPP, Front Immunol 2026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10.3389/fimmu.2026.1722117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github.com/AaronChen007/neoantigen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6 / 7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BigMHC -m=im (2023)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大规模迁移学习 pMHC ensemble · Nature Machine Intelligence · 学术非商用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CSV：列 0=mhc（HLA allele），列 1=pep（肽序列），须有表头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格式宽容（HLA-A*02:01/A*02:01/A0201 均可）；8–14mer 全支持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两阶段迁移：① EL stage 在数十万 MHC-I 质谱洗脱配体上预训练，学 pMHC 提呈规律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IM stage 下游 fine-tune 到有标注免疫原性数据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个不同 batch-size checkpoint ensemble 取平均分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BigMHC_IM ∈ [0,1]，越高越免疫原，直接用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实测：34247 行 0 NaN；分数范围 0.0–0.95；AUC(max,&gt;0) 0.396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HPC/deploy/bigmhc_im/repo/src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predict.py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-i=/path/to/bigmhc_input.csv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-m=im -a=0 -p=1 -c=1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-d=cpu -j=1 -v=1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-o=/path/to/bigmhc_output.prd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mhc,pep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HLA-A*24:02,RLETIRNPK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HLA-A*03:01,RLETIRNPK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HLA-B*40:01,AAAMRILHN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mhc,pep,tgt,len,BigMHC_IM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HLA-A*24:02,RLETIRNPK,,9,0.743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HLA-A*03:01,RLETIRNPK,,9,0.698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HLA-B*40:01,AAAMRILHN,,9,0.218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BigMHC, Nature Machine Intelligence 2023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10.1038/s42256-023-00694-6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github.com/KarchinLab/bigmhc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6 / 7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BigMHC -m=im (2023)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「大规模预训练→下游迁移」现代范式代表（Nature MI 2023）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RUN_DONE · AUC 0.396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两阶段迁移学习 + 7-ckpt ensemble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CSV：列 0=mhc（HLA allele），列 1=pep（肽序列），须有表头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格式宽容：HLA-A*02:01 / A*02:01 / A0201 等均可自动匹配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pan-allele（伪序列覆盖 &gt;500 等位基因），8–14mer 全支持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实测：53582 行（MT+WT），0 NaN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-m=im  免疫原性模式（-m=el 为提呈预训练模式）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-d=cpu / 0  CPU 推理或 GPU 0 号卡（GPU 大幅加速）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-j=1  Windows 本地必须用 1（spawn OOM）；HPC 建议 4-8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必须从 repo/src/ 启动（内部用相对路径 ../../models/ + ../data/）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BigMHC_IM ∈ [0,1]，越高越免疫原，直接用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实测：34247 行 0 NaN；分数范围 0.0–0.95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 模式官方 .cmp 验证 PASS（diff 4.5e-7），权重完整管道正确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产物：BigMHC_DS1DS2_scores.csv（MT_BigMHC / WT_BigMHC）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为什么选作对比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代表「大规模预训练 + 下游迁移」现代范式；Nature MI 2023 高可信度期刊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pan-allele 覆盖 &gt;500 等位基因，两阶段迁移在同类比较中精度最优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reviewer 会注意其缺席——不纳入导致 benchmark 范式覆盖不完整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学术非商用许可，发数字 ✅；商用须另签协议（Johns Hopkins Karchin Lab）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BigMHC, Nature Machine Intelligence 2023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10.1038/s42256-023-00694-6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github.com/KarchinLab/bigmhc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7 / 7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T-SCAPE (2025)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多域结构感知 SOTA · ByteNet 跨域辅助多任务 · ⚠️ CC-BY-NC-ND 4.0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CSV：Allele（HLA-A*02:01）+ peptide（小写氨基酸！）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MT-only，不需野生型；需先 mhc_pseudo_matching.py 贴 pseudo 并过滤不支持 allele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≤20mer，最优 9mer；Linux-only 部署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ByteNet 骨架跨域辅助多任务 DL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 pMHC 结合 / TCR-pMHC 交互 / source organism / T 细胞激活四路信号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--inf_type pmhc_im_neo = 癌症新抗原免疫原性头（含 2 致命 bug 修复）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 ∈ [0,1]，越高越免疫原；&gt;0.5 判为免疫原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实测范围 0.0057–0.7716；⚠️ 全聚合 Spearman 显著负，方向待核，未取反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贴 pseudo + 过滤不支持 allele（308 行过滤）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mhc_pseudo_matching.py I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input.csv input_mod.csv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推理（CPU，batch_size=32）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inference_csv.py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--csv_path input_mod.csv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--inf_type pmhc_im_neo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--output tscape_scores.csv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Allele,peptide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HLA-A*02:01,sllmwitqv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HLA-B*07:02,gpghfvnml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⚠️ peptide 列须小写！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Allele,peptide,score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HLA-A*02:01,sllmwitqv,0.6234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HLA-B*07:02,gpghfvnml,0.1891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T-SCAPE, Science Advances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10.1126/sciadv.adz8759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github.com/seoklab/T-SCAPE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7 / 7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T-SCAPE (2025)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多域结构 SOTA「复杂度上限」基线 · 也是许可最严格的工具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RUN_DONE · ⚠️ CC-BY-NC-ND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ByteNet 跨域辅助多任务 DL（四路信号）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 两列：Allele（HLA-A*02:01）+ peptide（小写，否则读不到肽段！）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MT-only：只需突变肽 + HLA，无需野生型 WT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预处理：mhc_pseudo_matching.py I 贴 pseudo + 过滤不支持 allele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实测：32178 个 unique (MT,HLA)；过滤 308 行 → 31871 进推理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--inf_type pmhc_im_neo  癌症新抗原任务（需修复 KeyError bug）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--csv_path  输入 CSV（已贴 pseudo 序列）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--output  输出路径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Linux-only；CPU 推理 batch_size=32；官方代码含 2 致命 bug 已修复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 ∈ [0,1]，越高越免疫原（&gt;0.5 = 预测免疫原）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实测范围 0.0057–0.7716；34247 行 33939 有分（308 allele 过滤 NaN）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全聚合 Spearman 显著负（-0.23/-0.25/-0.27，p&lt;0.05）——分数语义疑反转，方向待核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复现零偏离红线：未擅自取反，PPT 如实报负标方向待核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为什么选作对比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作「复杂度上限」基线：若最新多域 DL 增益有限，说明是数据瓶颈而非方法瓶颈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须纳入最新 SOTA 保时效性；Sci Adv 2025 + 前身 TITANiAN（bioRxiv 2025.05.11.653308）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官方代码 2 致命 bug（pmhc_im_neo KeyError + dropout 推理非确定性）已修复才能跑通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CC-BY-NC-ND 4.0：仅限学术非商用，禁演绎/分发修改版；对外报告须署名标注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T-SCAPE, Science Advances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10.1126/sciadv.adz8759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github.com/seoklab/T-SCAPE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数据与评测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测试数据来源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DS2 — ELISpot 免疫原性数据集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892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来源：多中心癌症患者 ELISpot 实验（T 细胞活化检测）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真值：T 细胞反应强弱（ELISpot spot count，连续量化，非 0/1 二值）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口径：DS2 corrected-full（HLA-FIX 后，P101/P102 HLA-dep 行置 NaN）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规模：34247 行 universe（8–14mer 突变新抗原肽，65 allele）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HLA：65 个 allele；仅使用 ELISpot &gt;0 vs 0 做 AUC 二值判别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评估：全量（含 reinf 工具）统一口径，新旧工具一起比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285232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554480"/>
            <a:ext cx="82296" cy="4846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700784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口径说明 / 注意事项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084832"/>
            <a:ext cx="478231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 口径：max 聚合（生物先验=单显性表位/best-binder）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Spearman 口径：best-agg（三聚合取 p 最小）+ per-patient Fisher-Z LOPO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reinf_pending=True（15/17 工具）：Phase B 重推理后数字可微变，方向不变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TSCAPE 308 行因 allele 不支持置 NaN（过滤率 &lt;1%）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MHCflurry 双分数并存；netmhcpan_ba 取负后对齐正向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 17 工具（7 新+10 旧）统一口径，便于横向比较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数据与评测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评测流程 — 6 步从原始肽序列到 Spearman 排行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120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82296" cy="12984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19656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920240" y="17373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输入准备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2121408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按各工具格式生成输入（prep_input.py）；部分按 HLA allele 分组，部分全量一次输入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035808"/>
            <a:ext cx="5120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035808"/>
            <a:ext cx="82296" cy="12984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255264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920240" y="317296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工具推理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3557016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各工具独立运行（HPC Linux / WSL2 / 本地 Windows），产出原始分数 CSV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471416"/>
            <a:ext cx="5120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471416"/>
            <a:ext cx="82296" cy="12984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69087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920240" y="460857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回贴 universe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4992624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parse_output.py 将分数 join 回 34247 行全量 universe（按 Peptide_ID + HLA_Allele）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89320" y="1600200"/>
            <a:ext cx="5120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9320" y="1600200"/>
            <a:ext cx="82296" cy="12984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819656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69480" y="17373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聚合（pooling）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69480" y="2121408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子肽×HLA → 肽级：max / mean / top3mean / geomean / softmax 等 8 种聚合（见 pooling 专章）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9320" y="3035808"/>
            <a:ext cx="5120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3035808"/>
            <a:ext cx="82296" cy="12984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255264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269480" y="317296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 AUC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69480" y="3557016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sklearn.metrics.roc_auc_score（ELISpot&gt;0 vs 0 二值；max 聚合为主榜口径）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4471416"/>
            <a:ext cx="5120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89320" y="4471416"/>
            <a:ext cx="82296" cy="12984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469087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269480" y="460857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 Spearman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69480" y="4992624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 ρ + per-patient Fisher-Z 加权；count 混杂检测（|ρ(pooled,子肽数)|&gt;0.5 剔除）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数据与评测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看懂两个核心指标 — AUC 判别力 vs Spearman 定量能力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 — 判别力（能否区分阴/阳）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892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定义：ROC 曲线下面积；二值分类（ELISpot&gt;0 = 阳性）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范围：0.5 = 随机猜，1.0 = 完美判别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口径：max 聚合（生物先验 = 每肽取最强结合子肽）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参考线：0.75+ = 良好；0.6–0.75 = 中等；&lt;0.6 ≈ 接近随机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 benchmark 所有工具 AUC &lt; 0.72（含旧工具 pTuneos 0.719）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能区分阴阳（AUC 高）≠ 能定量排强弱程度（Spearman 高）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285232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554480"/>
            <a:ext cx="82296" cy="4846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700784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Spearman ρ — 定量能力（强弱排序）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084832"/>
            <a:ext cx="478231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定义：预测分与真实 ELISpot 反应强度的秩相关系数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范围：-1~+1；|ρ|&lt;0.2 = 弱，0.2–0.5 = 中等，&gt;0.5 = 强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口径：best-agg（三聚合取 p 最小）+ per-patient Fisher-Z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「CI 下界 &gt; 0」= 统计显著正相关（全 17 工具中仅 3 个）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per-patient Fisher-Z 最大值：PRIME 0.300 [0.056, 0.511]（旧工具）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普遍弱相关 = 定量飞跃须新信号，正是 QuantImmune 立项依据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基准结果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 AUC — 17 工具横评（DS2 corrected-full，max 聚合）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7665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auc_17tools_correc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91640"/>
            <a:ext cx="649224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554480"/>
            <a:ext cx="391363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35240" y="1554480"/>
            <a:ext cx="82296" cy="47548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891272" y="1700784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09560" y="2084832"/>
            <a:ext cx="341071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Repitope 0.620 = 7 新工具最高，与旧工具前列持平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新工具整体 AUC 0.36–0.62，均未超旧工具天花板（pTuneos 0.719）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netmhcpan_ba 0.419 / MHCflurry 0.432 / BigMHC 0.396 居中段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T-SCAPE 0.362 最低且全聚合 Spearman 显著负——⚠️ 分数方向待核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判别力（AUC）≠ 定量能力（Spearman）——见右页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netMHCpan-BA = DTU pending；T-SCAPE = CC-BY-NC-ND 须 caveat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基准结果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定量能力 Spearman — 17 工具横评（DS2 corrected，best-agg）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7665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spearman_17tools_correc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91640"/>
            <a:ext cx="649224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554480"/>
            <a:ext cx="391363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35240" y="1554480"/>
            <a:ext cx="82296" cy="4754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7891272" y="1700784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09560" y="2084832"/>
            <a:ext cx="341071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3 个工具 CI 下界&gt;0（统计显著正）：PRIME / IMPROVE / MHCflurry_affinity_neg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TSCAPE 全聚合显著负（-0.23~-0.27，p&lt;0.05）：高度疑似分数语义反转，⚠️ 方向待核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netmhcpan_ba mean 聚合全场最强 +0.381（p=0.0003）；max 聚合仅 0.090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新工具 per-patient fisherz 均值 0.052 &lt; 旧工具 0.137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「普遍弱相关」结论不变：17 工具无一 per-patient fisherz &gt;0.35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pooling 维度对排序影响极大——见下章专章分析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POOLING 评判专章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Spearman 要看 pooling（朱同学核心贡献）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49240" cy="480060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373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朱同学的发现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57984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同一工具换 pooling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（子肽×HLA→肽级聚合）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Spearman 可翻倍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40156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netMHCpan  max 0.196  →  topk_w 0.395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913632"/>
            <a:ext cx="48463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0050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「报一个工具的 Spearman」是不完整的——你报的是「工具 + 你选的 pooling」联合结果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8463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本框架三原则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521208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不报单一聚合：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 max（单显性先验）与 count-safe 最优两套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剔 count 混杂：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|ρ(pooled,子肽数)|&gt;0.5 格打叉剔除再选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天花板夹逼：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把最优 ρ 放进 0.33–0.43 区间定位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554480"/>
            <a:ext cx="52852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554480"/>
            <a:ext cx="82296" cy="4800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519672" y="1700784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主榜 vs 专章口径声明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2084832"/>
            <a:ext cx="478231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主榜口径：max 聚合（与全项目交付同口径）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一致性，方便与旧工具横比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专章口径：count-safe 最优（逐工具最优聚合）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反映工具理论上限，揭示 max 的系统低估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两套口径并存，不互相替代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朱 topk_w 实现细节待朱本人对账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POOLING 专章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工具 × 8 pooling 全局热图——pooling matters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7665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pooling_heatmap_global_17too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91640"/>
            <a:ext cx="649224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554480"/>
            <a:ext cx="391363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35240" y="1554480"/>
            <a:ext cx="82296" cy="47548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891272" y="1700784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09560" y="2084832"/>
            <a:ext cx="341071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横轴=工具，纵轴=8 种聚合方式；颜色深浅=全局 Spearman ρ 大小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打叉格 = count 混杂（|ρ(pooled,子肽数)|&gt;0.5）：正相关是肽长假象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多数工具颜色随 pooling 变化显著——聚合方式改变工具排名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deepHLApan 几乎全格打叉：无真信号，所有正相关纯为肽长假象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netmhcpan_ba 从低色（max）到高色（count-safe）：Δ+0.340 最大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TSCAPE 全格偏负方向（蓝色），⚠️ 方向待核，未取反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POOLING 专章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vs count-safe 最优 ρ — 每工具回升量 Δ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7665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pooling_max_vs_countsafe_17too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91640"/>
            <a:ext cx="649224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554480"/>
            <a:ext cx="391363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35240" y="1554480"/>
            <a:ext cx="82296" cy="4754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7891272" y="1700784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09560" y="2084832"/>
            <a:ext cx="341071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蓝条=max ρ，橙条=count-safe 最优 ρ；差值=Δ(safe-max)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系统性低估有信号工具 0.05–0.34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结合亲和力工具增益最大：netmhcpan_ba Δ+0.340（呼应朱同学翻倍效应）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 / PRIME 增益小（Δ+0.05~0.06），本身已接近 count-safe 上限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Repitope / CNNeo / BigMHC / TSCAPE：换 pooling 也救不了无信号工具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geomean* 标星=min-shift 实现仅探索；稳健口径 = mean / top3mean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POOLING 专章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pooling spread — 各工具对聚合选择的敏感度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7665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pooling_spread_17too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91640"/>
            <a:ext cx="649224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554480"/>
            <a:ext cx="391363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35240" y="1554480"/>
            <a:ext cx="82296" cy="4754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7891272" y="1700784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09560" y="2084832"/>
            <a:ext cx="341071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spread = count-safe 最优 ρ − max ρ（= Δ 的可视化）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结合亲和力工具敏感度最大：netmhcpan_ba 0.343；MHCflurry_affinity_neg 0.543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MHCflurry_affinity_neg spread 最大但三聚合方向翻转——不稳健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 / PRIME spread 最小（≈0.05）：稳健，max 已接近其上限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结论：pooling 选择对结合亲和力工具影响远大于免疫原性监督工具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报告时不能只引「最好 p 值」，须说明聚合依赖性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POOLING 专章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天花板夹逼 — 四方独立证据收敛 0.33–0.43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7665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spearman_ceiling_squeeze_17too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91640"/>
            <a:ext cx="649224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554480"/>
            <a:ext cx="391363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35240" y="1554480"/>
            <a:ext cx="82296" cy="475488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6"/>
          <p:cNvSpPr/>
          <p:nvPr/>
        </p:nvSpPr>
        <p:spPr>
          <a:xfrm>
            <a:off x="7891272" y="1700784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09560" y="2084832"/>
            <a:ext cx="341071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四方独立证据：理论估计 / 朱同学融合 0.43 / I-fusion 0.328 / F-pilot 0.328 四路指向同一区间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工具 count-safe 单工具上限：netmhcpan_ba geomean* 0.430（三重 caveat）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结论：现有肽+HLA 信号定量上限 ≈ 0.33–0.43——「定量飞跃」须喂新信号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新信号候选：供体 TCR 库 / 供体 HLA 单体型 / 表位前体蛋白丰度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 QuantImmune 自研算法立项的统一依据（钉死现有工具上限）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netmhcpan_ba 0.430 = geomean*+DTU pending+全局非 per-patient，三重 caveat 不作 headline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8988552" y="-1371600"/>
            <a:ext cx="4114800" cy="41148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474720"/>
            <a:ext cx="2926080" cy="292608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结论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新工具部署测试 · 评估总结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5166360" cy="1298448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31720"/>
            <a:ext cx="82296" cy="12984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45973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整体不破天花板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28803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新工具组 per-patient fisherz 均值 0.052，旧工具 0.137；无任何新工具实现「弱→中等」跨级提升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794760"/>
            <a:ext cx="5166360" cy="1298448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94760"/>
            <a:ext cx="82296" cy="12984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392277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方法学多样性价值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43434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个范式（统计/HLA-agnostic/结合/提呈/LLM/迁移/多域）全部测过，benchmark 覆盖面和说服力上一台阶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2331720"/>
            <a:ext cx="5166360" cy="1298448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331720"/>
            <a:ext cx="82296" cy="12984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519672" y="245973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pooling 是关键维度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9672" y="28803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结合亲和力工具换 count-safe 聚合 Δ+0.34；全集印证朱同学「换 pooling 翻倍」发现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5166360" cy="1298448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794760"/>
            <a:ext cx="82296" cy="12984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392277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普遍弱相关钉死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19672" y="43434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工具无一 per-patient fisherz &gt;0.35；「定量飞跃须新信号」= QuantImmune 立项统一依据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诚实边界与许可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已知限制 · 口径 caveat · 许可红线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484632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许可红线（投稿/对外前必处理）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892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netMHCpan-BA：DTU 学术许可第 7(v)/10 条，禁再分发跑出的 benchmark 数字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投稿/对外报告含此数字前，须取 DTU 书面同意（pending 状态）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T-SCAPE：CC BY-NC-ND 4.0，禁演绎/商业发布，仅限学术非商用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学术报告须署名标注；不得分发修改版结果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5 工具（BigMHC/CNNeo/MHCflurry/IEDB_Calis/Repitope）许可允许发数字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BigMHC 学术非商用许可，商业用途须另签协议（Johns Hopkins Karchin Lab）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285232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554480"/>
            <a:ext cx="82296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700784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 caveat / 已知限制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084832"/>
            <a:ext cx="478231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geomean* 标星：min-shift 实现有跨肽尺度扭曲，仅探索；稳健=mean/top3mean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TSCAPE 方向待核：全聚合显著负，疑分数语义反转；已保持原始不取反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MHCflurry_affinity_neg：三聚合方向翻转（max+/mean-/top3+），须说明聚合依赖性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reinf_pending：15/17 工具待 Phase B 重推理，数字可能微变（方向不变）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netmhcpan_ba 0.430：geomean*+DTU pending+全局非 per-patient，三重 caveat 不作 headline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朱 topk_w k/权重/softmax T/rankdecay d 实现细节待朱本人对账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新抗原免疫原性预测工具 — 新增 7 工具横评报告</dc:title>
  <dc:subject>PptxGenJS Presentation</dc:subject>
  <dc:creator>PptxGenJS</dc:creator>
  <cp:lastModifiedBy>PptxGenJS</cp:lastModifiedBy>
  <cp:revision>1</cp:revision>
  <dcterms:created xsi:type="dcterms:W3CDTF">2026-06-27T07:51:07Z</dcterms:created>
  <dcterms:modified xsi:type="dcterms:W3CDTF">2026-06-27T07:51:07Z</dcterms:modified>
</cp:coreProperties>
</file>
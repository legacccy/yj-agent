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25-01569-8" TargetMode="External"/><Relationship Id="rId2" Type="http://schemas.openxmlformats.org/officeDocument/2006/relationships/hyperlink" Target="https://github.com/BSC-CNS-EAPM/PredI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25-01569-8" TargetMode="External"/><Relationship Id="rId2" Type="http://schemas.openxmlformats.org/officeDocument/2006/relationships/hyperlink" Target="https://github.com/BSC-CNS-EAPM/PredI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19-0679-x" TargetMode="External"/><Relationship Id="rId2" Type="http://schemas.openxmlformats.org/officeDocument/2006/relationships/hyperlink" Target="https://github.com/bm2-lab/pTuneo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19-0679-x" TargetMode="External"/><Relationship Id="rId2" Type="http://schemas.openxmlformats.org/officeDocument/2006/relationships/hyperlink" Target="https://github.com/bm2-lab/pTuneo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4.1360281" TargetMode="External"/><Relationship Id="rId2" Type="http://schemas.openxmlformats.org/officeDocument/2006/relationships/hyperlink" Target="https://github.com/SRHgroup/IMPROVE_too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4.1360281" TargetMode="External"/><Relationship Id="rId2" Type="http://schemas.openxmlformats.org/officeDocument/2006/relationships/hyperlink" Target="https://github.com/SRHgroup/IMPROVE_too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5.1681396" TargetMode="External"/><Relationship Id="rId2" Type="http://schemas.openxmlformats.org/officeDocument/2006/relationships/hyperlink" Target="https://github.com/01SYan19/NeoTImmu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5.1681396" TargetMode="External"/><Relationship Id="rId2" Type="http://schemas.openxmlformats.org/officeDocument/2006/relationships/hyperlink" Target="https://github.com/01SYan19/NeoTImmu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rep.2021.100194" TargetMode="External"/><Relationship Id="rId2" Type="http://schemas.openxmlformats.org/officeDocument/2006/relationships/hyperlink" Target="https://github.com/GfellerLab/PRIM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rep.2021.100194" TargetMode="External"/><Relationship Id="rId2" Type="http://schemas.openxmlformats.org/officeDocument/2006/relationships/hyperlink" Target="https://github.com/GfellerLab/PRIM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4-53296-0" TargetMode="External"/><Relationship Id="rId2" Type="http://schemas.openxmlformats.org/officeDocument/2006/relationships/hyperlink" Target="https://github.com/bsml320/Immune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4-53296-0" TargetMode="External"/><Relationship Id="rId2" Type="http://schemas.openxmlformats.org/officeDocument/2006/relationships/hyperlink" Target="https://github.com/bsml320/Immune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19.02559" TargetMode="External"/><Relationship Id="rId2" Type="http://schemas.openxmlformats.org/officeDocument/2006/relationships/hyperlink" Target="https://github.com/jiujiezz/deephlapan&#65288;GPL-2.0&#65289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19.02559" TargetMode="External"/><Relationship Id="rId2" Type="http://schemas.openxmlformats.org/officeDocument/2006/relationships/hyperlink" Target="https://github.com/jiujiezz/deephlapan&#65288;GPL-2.0&#65289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hyperlink" Target="https://hlathena.tool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hyperlink" Target="https://hlathena.tool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e625" TargetMode="External"/><Relationship Id="rId2" Type="http://schemas.openxmlformats.org/officeDocument/2006/relationships/hyperlink" Target="https://github.com/ChanganMakeYi/MHLAPre&#65288;&#26080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e625" TargetMode="External"/><Relationship Id="rId2" Type="http://schemas.openxmlformats.org/officeDocument/2006/relationships/hyperlink" Target="https://github.com/ChanganMakeYi/MHLAPre&#65288;&#26080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hyperlink" Target="https://doi.org/10.1186/s13073-025-01569-8" TargetMode="External"/><Relationship Id="rId4" Type="http://schemas.openxmlformats.org/officeDocument/2006/relationships/hyperlink" Target="https://github.com/BSC-CNS-EAPM/PredIG" TargetMode="External"/><Relationship Id="rId5" Type="http://schemas.openxmlformats.org/officeDocument/2006/relationships/hyperlink" Target="https://doi.org/10.1186/s13073-019-0679-x" TargetMode="External"/><Relationship Id="rId6" Type="http://schemas.openxmlformats.org/officeDocument/2006/relationships/hyperlink" Target="https://github.com/bm2-lab/pTuneos" TargetMode="External"/><Relationship Id="rId7" Type="http://schemas.openxmlformats.org/officeDocument/2006/relationships/hyperlink" Target="https://doi.org/10.3389/fimmu.2024.1360281" TargetMode="External"/><Relationship Id="rId8" Type="http://schemas.openxmlformats.org/officeDocument/2006/relationships/hyperlink" Target="https://github.com/SRHgroup/IMPROVE_tool" TargetMode="External"/><Relationship Id="rId9" Type="http://schemas.openxmlformats.org/officeDocument/2006/relationships/hyperlink" Target="https://doi.org/10.3389/fimmu.2025.1681396" TargetMode="External"/><Relationship Id="rId10" Type="http://schemas.openxmlformats.org/officeDocument/2006/relationships/hyperlink" Target="https://github.com/01SYan19/NeoTImmuML" TargetMode="External"/><Relationship Id="rId11" Type="http://schemas.openxmlformats.org/officeDocument/2006/relationships/hyperlink" Target="https://doi.org/10.1016/j.celrep.2021.100194" TargetMode="External"/><Relationship Id="rId12" Type="http://schemas.openxmlformats.org/officeDocument/2006/relationships/hyperlink" Target="https://github.com/GfellerLab/PRIME" TargetMode="External"/><Relationship Id="rId13" Type="http://schemas.openxmlformats.org/officeDocument/2006/relationships/hyperlink" Target="https://doi.org/10.1038/s41467-024-53296-0" TargetMode="External"/><Relationship Id="rId14" Type="http://schemas.openxmlformats.org/officeDocument/2006/relationships/hyperlink" Target="https://github.com/bsml320/ImmuneApp" TargetMode="External"/><Relationship Id="rId15" Type="http://schemas.openxmlformats.org/officeDocument/2006/relationships/hyperlink" Target="https://doi.org/10.3389/fimmu.2019.02559" TargetMode="External"/><Relationship Id="rId16" Type="http://schemas.openxmlformats.org/officeDocument/2006/relationships/hyperlink" Target="https://github.com/jiujiezz/deephlapan" TargetMode="External"/><Relationship Id="rId17" Type="http://schemas.openxmlformats.org/officeDocument/2006/relationships/hyperlink" Target="https://doi.org/10.1093/bib/bbae625" TargetMode="External"/><Relationship Id="rId18" Type="http://schemas.openxmlformats.org/officeDocument/2006/relationships/hyperlink" Target="https://github.com/ChanganMakeYi/MHLAPre" TargetMode="External"/><Relationship Id="rId19" Type="http://schemas.openxmlformats.org/officeDocument/2006/relationships/hyperlink" Target="https://doi.org/10.1038/s41587-019-0322-9" TargetMode="External"/><Relationship Id="rId20" Type="http://schemas.openxmlformats.org/officeDocument/2006/relationships/hyperlink" Target="https://hlathena.tools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预测工具部署与基准评估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个新抗原免疫原性预测工具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横向评测报告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逐工具部署 + 四类信息 · 9 工具进入 ELISpot 统一基准 · 一个工具阻塞未完成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6634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92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癌症新抗原疫苗协作项目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本报告的内容结构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8308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要解决什么、本报告做了什么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8308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工具总览横评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78308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一张表看清装到什么程度、进没进基准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8308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工具逐一解析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8308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每个工具的工作原理 + 四类信息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29784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5129784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33095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783080" y="52760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部署工程与踩坑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783080" y="56601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环境、典型问题与解决（按工具归属）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651967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0664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数据与评测方法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0664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测试数据来源、评测流程、指标说明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6364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51967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40664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基准结果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0664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/ 能否定量 / 工具间一致性 / 分层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6364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51967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40664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 · 参考 · 结论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0664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限制与许可、出处、总结与下一步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要解决什么问题 · 我做了什么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27889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项目要做的事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细胞反应 </a:t>
            </a:r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「强弱程度」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的工具。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现有工具大多只回答「有没有免疫反应」（是非题）；目标是更进一步，给出反应「有多强」（打分题）。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5074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645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我这部分的任务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9926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把市面上现有的预测工具一个个装好、跑通，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用同一套真实实验数据（ELISpot）横向比一遍，看它们到底准不准、能不能分强弱。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 4 类信息，整理成本报告。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每个工具记录的 4 类信息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输入要喂什么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文件格式、必填列、肽段长度、HLA 写法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05409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2784" y="326440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182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怎么运行 / 调参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0" y="351129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可调参数有哪些、各管什么、运行模式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40050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2784" y="42153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133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输出是什么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858000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关键列含义、分数类型、能不能分强弱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4956048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72784" y="516636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5166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工具是什么 / 优缺点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85800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用的什么方法、强在哪、有什么限制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26480" y="5943600"/>
            <a:ext cx="5394960" cy="45720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596188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10 个工具：9 个跑进统一基准，1 个（MHLAPre）因缺权重未完成。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个工具一览：装到什么程度 · 进没进基准 · 跑的什么版本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83080"/>
                <a:gridCol w="1874520"/>
                <a:gridCol w="868680"/>
                <a:gridCol w="118872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预测什么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进基准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 AUC*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 / 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卷积网络 CNN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梯度提升树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机器学习流程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子模型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随机森林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特征降级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集成机器学习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自训版 (非官方权重)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轻量打分模型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ImmuneApp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CNN-LSTM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0.589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deepHLApan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双向循环网络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HLAthena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(非免疫原性)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全连接网络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单列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proxy，不并比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MHLAPre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元学习+Transformer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BA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未做成 (缺权重)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3212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基准 AUC = ELISpot 测试集 DS2、max 聚合、阈值&gt;0 口径下的判别力（0.5=随机，越高越好）。完整数字与其它口径见基准章节与 analysis/metrics_ds2_9tools.csv。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NeoTImmuML：官方未放出预训练权重，用公开数据自训了一版进基准，数值不对标原论文。   9 个进基准 = 8 个免疫原性工具直接横比 + HLAthena（预测「提呈」非「免疫原性」）单列作参照、不与前 8 个并比。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各工具的运行环境与依赖包（部署到什么环境、装了哪些包）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84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86000"/>
                <a:gridCol w="3703320"/>
                <a:gridCol w="3794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关键包 / 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外部工具 / 权重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tensorflow 2.3.0 · numpy 1.18.5 · pandas 1.1.1 · protobuf 3.20.3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无（纯肽段 + HLA）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/ Singularity 镜像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镜像内置 R + XGBoost 全套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NetCleave · NOAH · netCTLpan · MHCflurry（镜像自带）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镜像 · Python 2.7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2.7 · R 3.2.3 · scikit-learn（容器内）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netMHCpan-4.0 · VEP+cache 14G · GATK · PyClone（镜像自带）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numpy ≥2.0 · scikit-learn 1.9 · pandas · seaborn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netMHCpan-4.1 · netMHCstabpan · PRIME · MixMHCpred + models.zip 1.9G(git-lfs)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3.10 + 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lightgbm · xgboost · scikit-learn · pandas · numpy + R Peptides 2.4.6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无外部许可工具；权重自训（官方未发布）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numpy · pandas · scipy · logomaker · matplotlib（+MAFFT 可选）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PRIME.x（g++ 编译）· MixMHCpred 3.0（Python）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ImmuneApp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conda · Python 3.7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tensorflow 1.15.0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权重随 repo（880M）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deepHLApan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镜像 · Python 2.7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keras 2.0.8 · tensorflow 1.12（容器内）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权重随镜像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HLAthena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Docker / Singularity（sif 792M）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镜像内置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65-allele 模型 6.6G（从 GCS 下载）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MHLAPre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未配通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文献：CUDA 10.2 · PyTorch（元学习 + Transformer）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无官方权重（部署阻塞）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126480"/>
            <a:ext cx="11384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环境分两类：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轻量工具用 conda 建独立 Python 环境装包；老链 / 多依赖工具用官方 Docker 镜像（HPC 转 Singularity）打包整套环境。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 官方未发布权重，用公开数据自训替代；MHLAPre 缺权重未做成。学术工具（netMHCpan 等）需 DTU 许可，禁再分发。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用卷积神经网络判断一条肽段能不能激活 CD8+ T 细胞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只要两样东西：一条肽段序列（9 或 10 个氨基酸）和它对应的 HLA 分型。不需要基因组、不需要表达量，是十个工具里最省事的。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先把氨基酸序列和 HLA 假基序按物化性质编码成一张数字矩阵，再用卷积神经网络（CNN）像扫图像一样扫过这张矩阵，自动抓出和免疫原性有关的局部模式，最后汇总成一个分数。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之间的连续分，越接近 1 表示越可能激活 T 细胞。实测已知强表位（如 CMV 的 NLVPMVATV）确实拿到高分，符合预期。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单条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 single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--epitope NLVPMVATV --hla HLA-A*0201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--mode multiple --intdir IN --outdir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CSV，两列，无表头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肽段,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NLVPMVATV,HLA-A*0201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GILGFVFTL,HLA-A*0201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HLA          immunogenicity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  HLA-A*0201   0.957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  HLA-A*0201   0.887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用卷积神经网络判断一条肽段能否激活 CD8+ T 细胞（HLA-I），最轻量、只要肽段+HLA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卷积网络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CSV，两列无表头  peptide,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肽段长度固定 9 或 10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单条，结果打印屏幕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 批量，指定输入输出目录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0~1 连续分，越高越强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实测已知强表位高分（CMV NLVPMVATV=0.957）→ 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最省事：纯肽段+HLA 就能跑，不依赖任何收费工具，CPU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环境：Python3.8 + TensorFlow2.3（protobuf 须降到 3.20）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限制：肽长只能 9 或 10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用梯度提升树预测免疫原性，并给出一串可解释的特征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输入肽段、HLA 分型，以及（重组模式下）肽段所在的蛋白序列。支持三种输入模式，肽段长度 8–14。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先调用一串内置工具算出 13 类特征——蛋白酶切位点、提呈分（NOAH）、物化性质、TCR 接触位点等——再把这些特征喂给 XGBoost 梯度提升树模型综合打分。特征可解释是它的卖点。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的免疫原性分（PredIG 列），同时附上那 13 列特征，方便回看模型是凭什么给的分。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predig.py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--type recombinant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--modelXG neoant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input.csv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result.csv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CSV，重组模式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epitope,HLA_allele,protein_seq,protein_name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SLLMWITQV,HLA-A*0201,MSLL...,TP53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CSV，含 PredIG 分 + 13 列特征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    PredIG   NOAH   TCR_contact 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  0.0061   0.42  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 T 细胞表位免疫原性，按抗原类型分专用模型，结果可解释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梯度提升树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种模式：Uniprot / 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 HLA_allele, protein_seq, 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 个氨基酸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 选模型（neoant / noncan / 自定义）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 选输入模式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0~1 连续免疫原性分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另附 13 列特征（切割/提呈/物化/TCR 接触等）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容器化（依赖全打包，省去装环境）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环境：官方 Docker（14.4G）→ HPC 转 Singularity（4.6G）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限制：镜像体积大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一整套新抗原流程；其中识别子模型可单独给肽段打分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完整流程要测序变异（VCF）、表达量、拷贝数、肿瘤纯度、HLA——需要全基因组数据，喂不了纯肽段。但它的识别子模型 Pre&amp;RecNeo 只要三列：突变肽、对应野生肽、HLA，这部分能用来跑 ELISpot 肽段。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完整流程先把测序变异注释成突变肽，再逐层打分；识别子模型则针对一对「突变肽 vs 野生肽」算结合、相似度、被 T 细胞识别等特征，输出免疫识别分。本基准用的就是这个子模型。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完整流程给患者级排名分（乘了表达量和突变频率，需测序）；子模型给纯肽免疫识别分，这部分可与其它工具横比。实测示例数据端到端跑出 40 个候选新抗原。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完整流程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pTuneos.py VCF -i config.yaml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识别子模型（喂肽段）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自写脚本调用 InVivoModelAndScore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子模型输入：三列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MT_pep,     WT_pep,    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AAAVFKTLP,  AAAVFKTLR,  HLA-A*02:01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子模型识别分 model_pro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      model_pro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 0.73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一整套个性化新抗原流程（从测序数据到排名）；其中识别子模型可单独拿肽段来打分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机器学习流程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完整流程：测序变异 + 表达量 + 拷贝数 + 纯度 + HLA（要全基因组，喂不了纯肽）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识别子模型：只要 突变肽 + 野生肽 + HLA 三列（能跑 ELISpot 肽）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 +  配置文件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子模型：自写脚本调用识别打分函数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可并行加速（多进程 + 批量结合预测）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完整流程出患者级排名分（乘了表达/突变频率，需测序）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子模型出纯肽免疫原性识别分 → 这部分进基准、可与其它工具比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示例数据跑出 40 个候选新抗原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 / VEP / GATK 等全套；修了 8 处坑 + 14G 注释缓存才端到端跑通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诚实说明：进基准用的是识别子模型，对账官方逻辑一致（r=1.0），不等于整条流程的端到端能力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完整流程在本地容器跑通；HPC 因权限限制未跑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用随机森林给新表位打分，整合了 22 个特征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输入突变肽、对应野生肽、HLA（TSV 格式，肽段 8–12）。流程分两步：先算特征，再预测。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第一步用外部工具算出 22 个特征（包含结合、稳定性、TCR 识别 PRIME 分、自相似度等）；第二步把特征喂给随机森林（每个变体 5 个森林做集成）综合打分。本基准里表达相关特征因 ELISpot 无 RNA 数据而降级。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在输入表后追加一列 mean_prediction_rf，是多折多森林的集成平均分（0 到 1）。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第一步：算特征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run_feature_calc.sh input.tsv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第二步：预测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Predict.py --model Simple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TSV：突变肽 + 野生肽 +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Norm_pep   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EEFLNSWMV   HLA-B*08:01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追加 mean_prediction_rf 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mean_prediction_rf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0.5146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用随机森林给新表位的免疫原性打分，22 个特征，分三种变体模型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特征降级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随机森林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8–12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两步走：先算特征，再跑随机森林预测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  选 Simple / TME_excluded / TME_included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每个变体加载 5 个森林做集成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追加一列  mean_prediction_rf（0~1 连续）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多折 × 多森林的集成平均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个特征专为新表位排名设计，整合了 TCR 识别信号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缺口：ELISpot 没有 RNA 表达量 → 表达相关特征降级；稳定性特征依赖的外部工具受系统库版本所限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预测步本地+HPC 都跑通；这是「数据缺一块」不是「装不上」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三种模型加权集成，用 78 个肽段物化特征；官方无权重，本基准为自训版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输入肽段加上 78 个物化特征（要先用 R 的 Peptides 包算好），不需要 HLA，肽段 8–13。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78 维特征喂给 LightGBM、XGBoost、随机森林三个模型，再加权集成成一个概率。官方仓库是研究用 notebook、没带预训练权重，所以本基准用公开肿瘤抗原库自己重训了一版（数值不对标原论文）。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0 到 1 的免疫原性概率（predict_proba），能用来排强弱；同时给分类指标和雷达图。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不是命令行，是 Jupyter notebook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改 file_path 指向数据后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21 个单元格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（含 8 算法对比 + 加权集成）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CSV：肽段 + 标签 + 78 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label  feat1  feat2 ... feat78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1      0.12   -0.4  ...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predict_proba 连续概率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immuno_prob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0.81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三种模型加权集成（LightGBM+XGBoost+随机森林）预测肿瘤新抗原免疫原性，用 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集成机器学习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标签 + 78 个物化特征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8–13 个氨基酸，不需要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个特征要先用 R 的 Peptides 包算好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不是命令行，是 Jupyter notebook（21 个单元格）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改路径指向数据；内含 8 种算法对比 + 加权集成 + 交叉验证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连续概率（能分强弱）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官方没放预训练权重 → 基准用我们自训的版本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纯肽段特征，不要 HLA、不要任何收费工具，装起来最省心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限制：是研究用 notebook，没带权重 → 用公开肿瘤抗原库重训了一版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特征的计算代码 → 要自己用 R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轻量打分模型：把提呈分、TCR 接触特征、肽长揉成一个免疫原性分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只要肽段（每行一条或 FASTA）和 HLA（命令行 -a 指定），肽段 8–14。HLA 写法很宽松。依赖链最短，十个里最好装。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 MixMHCpred 算出 HLA 提呈分，再结合 TCR 接触位点的氨基酸频率特征和肽段长度，用一个轻量打分模型（非深度学习）综合成免疫原性排名分。CPU 即可、很快。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输出每条肽段跨所有 HLA 的最优 %Rank（越低越好）和 PRIME Score（连续，量化强弱），以及最优 allele。实测 147 行输出与官方答案逐字一致。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./PRIME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test/test.txt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test/out.txt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A0101,A2501,B0801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-mix &lt;MixMHCpred 路径&gt;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%Rank   Score     BestAllele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  3.901   0.01024   B0801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10.1016/j.celrep.2021.100194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10.1016/j.cels.2022.12.002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github.com/GfellerLab/PRIME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轻量模型预测新表位免疫原性：把 HLA 提呈分 + TCR 接触位点氨基酸频率 + 肽长 揉成一个排名分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 (对账 r=1.0)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轻量打分模型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纯文本（每行一条肽段）或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用命令行 -a 指定，多个逗号分隔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8–14；HLA 写法很宽松（A0101 / A01:01 / HLA-A*01:01 都行）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-i 输入  -o 输出  -a HLA 列表  -mix 指定 MixMHCpred 路径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 v2.1（需配 MixMHCpred v3.0+）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5 列：肽段 / 最优%Rank / PRIME Score / 结合%Rank / 最优 allele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 Score 连续，量化免疫原性强弱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147 行输出与官方答案逐字一致（diff=0）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直接出免疫原性连续分；依赖链最短（只要 MixMHCpred，无收费工具），五个里装起来最容易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方法非深度学习，轻快、CPU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 8–14；需对齐 MixMHCpred 版本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10.1016/j.celrep.2021.100194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10.1016/j.cels.2022.12.002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github.com/GfellerLab/PRIME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表位与免疫原性预测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输入肽段（每行一条）和 HLA（-a 指定），肽段 8–15，仅 20 种标准氨基酸。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用注意力机制的 CNN-LSTM 混合网络处理肽段序列，注意力能指出哪些残基对结合关键；其中免疫原性模块由迁移学习得到。仅支持 HLA-I。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TSV，每条肽段每个 HLA 一行，给 0 到 1 的 Immunogenicity_score。实测 CILGKLFTKK=0.99997、ALPPTVYEV=0.00068。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ImmuneApp_immunogenicity_prediction.py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test_immunogenicity.txt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'HLA-A*01:01' 'HLA-A*02:01'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 + 命令行 -a 给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CILGKLFTKK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ALPPTVYEV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Allele       Peptide      Immunogenicity_score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CILGKLFTKK   0.99997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ALPPTVYEV    0.00068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10.1038/s41467-024-53296-0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github.com/bsml320/ImmuneApp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表位预测 + 免疫肽组分析；其中 Neo 模块专做免疫原性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CNN-LSTM + 注意力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纯肽段文本（每行一条，无表头）+ 命令行 -a 指定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个氨基酸（仅 20 种标准氨基酸）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HLA-A*01:01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肽段文件  -a HLA 列表  -o 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多个模块（结合/洗脱/提呈/免疫原性），本项目用免疫原性模块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TSV：Allele / Peptide / Sample / Immunogenicity_score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 0~1 连续；每条肽段每个 HLA 各出一行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CILGKLFTKK = 0.99997、ALPPTVYEV = 0.00068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HLA-I 提呈方向性能领先，预训练权重随仓库带、MIT 许可无障碍、不依赖收费工具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方法可解释（注意力能指出关键结合残基）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HLA-I；TF1.15 老环境易踩坑；训练数据含公开库 → 注意与测试集重叠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10.1038/s41467-024-53296-0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github.com/bsml320/ImmuneApp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双向循环网络+注意力，一次给出结合分和免疫原性分（仅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CSV，必须有表头 Annotation,HLA,peptide，肽段 8–15。HLA 写法特殊：HLA-A01:01（无星号、连字符直连）。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用三层双向 GRU 加注意力处理肽段+HLA，同时输出两个任务的分：一个判结合/提呈，一个判免疫原性，无需手动切换。训练数据含公开库，需注意与测试集重叠。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CSV，给 binding score 和 immunogenic score（都是 0–1）。高置信新抗原定义为免疫原性 &gt;0.5 且结合排名前 20。实测 MKRFVQWL/HLA-C07:02 结合 0.99、免疫原性 0.97。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先建好输出目录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deephlapan -F input.csv -O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CSV，必须有表头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test,HLA-A01:01,MKRFVQWL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Annotation,HLA,Peptide,binding score,immunogenic 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test,HLA-C07:02,MKRFVQWL,0.9919,0.972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10.3389/fimmu.2019.02559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github.com/jiujiezz/deephlapan（GPL-2.0）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双向循环网络+注意力，两个模型一起出：一个判结合/提呈，一个判免疫原性（仅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双向循环网络 BiGRU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CSV，必须有表头  Annotation, HLA, peptide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HLA-A01:01（注意：无星号、连字符直连）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输入 CSV，或 -P 单肽 + -H 单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两个模型一次出结果，无需手动切换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CSV：binding score + immunogenic score（都是 0~1）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高置信新抗原 = 免疫原性 &gt;0.5 且结合排名前 20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MKRFVQWL/HLA-C07:02  结合=0.99 免疫原性=0.97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一次同时给「结合 + 免疫原性」两个分，纯肽段+HLA，不依赖收费工具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官方推荐用 Docker 镜像绕开版本不兼容问题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MHC-I；训练数据含公开库 → 与测试集可能重叠，需排重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10.3389/fimmu.2019.02559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github.com/jiujiezz/deephlapan（GPL-2.0）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质谱训练的全连接网络，预测「提呈」概率——不是免疫原性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输入肽段（tab 带表头或 FASTA，必填 peptide 列），肽段 8/9/10/11。可选给剪切上下文或表达量，决定跑哪个子模型。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用大规模质谱免疫肽组数据训练一个单隐层全连接网络，预测肽段被 HLA-I 提呈的概率。论文明确声明：它只预测「能否被提呈」，不预测「能否激活 T 细胞」。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输出连续提呈分（MSi 等列），越高越可能被提呈。注意这不是免疫强弱分——这正是它在本基准里只能作提呈参照、不与免疫原性工具并比的原因。实测 IDLLKEIY 的 MSi=0.844。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--runID demo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--rundir /work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--peptides peps.txt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--alleles A0101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 分隔，带表头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MSi_A0101   prank.MSi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   0.844       1.2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hlathena.tools + Docker ssarkizova/hlathena-external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质谱数据训练的全连接网络，预测肽段被 HLA-I「提呈」的概率 —— 注意：是提呈，不是免疫原性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提呈 proxy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全连接网络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分隔（带表头）或 FASTA，必填 peptide 列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 / 9 / 10 / 11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可选列（剪切上下文 / 表达量）决定跑哪个子模型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选模型 MSi / MSiC / MSiCE（取决于提供的可选列）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实测用 Docker 镜像跑，参数同官方 web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连续提呈分（MSi 等列），越高越可能被提呈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不是免疫强弱分 —— 这是它与前 8 个工具的本质区别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IDLLKEIY  MSi=0.844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质谱免疫肽组大规模训练、覆盖人群广、不依赖收费工具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论文明确声明：只预测「能否被提呈」，不预测「能否激活 T 细胞」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故进基准只作提呈参照（proxy），单列、不与免疫原性工具直接并比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hlathena.tools + Docker ssarkizova/hlathena-external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元学习+Transformer+TextCNN 预测突变 HLA-I 表位免疫原性——信息摸清但无法复现运行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CSV：肽段、HLA、标签，肽段 8–15（以 9 为主）。HLA 写法 B*07:02（无 HLA- 前缀）。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用元学习（MAML）加 Transformer 编码器加 TextCNN，BLOSUM62 编码肽段。论文报告指标很高，但官方未放预训练权重，且把原始数据拼成模型输入的预处理代码缺失（被注释掉）——所以连自训也走不通。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原代码只算评估指标、不保存预测文件（同 notebook 性质），理论上能出 0–1 概率但需自己加导出。实际因缺权重与中间数据，跑不起来，未做成。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3 个脚本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Pretreatment.py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TransfomerEncoder.py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TextCNN.py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但缺中间数据，会报 FileNotFound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Epitope,MHC Restriction,Assay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APSFGSFHLI,B*07:02,1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输出数据样例（未做成·无输出）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未做成：原代码不存预测文件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缺预训练权重 + 预处理中间数据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跑不起来，无实测输出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10.1093/bib/bbae625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github.com/ChanganMakeYi/MHLAPre（无 LICENSE）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 + Transformer + TextCNN 预测突变 HLA-I 表位免疫原性 —— 信息已摸清，但无法复现运行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未做成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元学习+Transformer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HLA + 标签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8–15（以 9 为主）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B*07:02（无 HLA- 前缀）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顺序跑 3 个脚本（预处理 → Transformer → TextCNN）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无命令行参数说明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原代码不存预测文件，只算指标（同 notebook 性质）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理论上出 0~1 连续概率，要自己加导出代码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实测无输出（卡在缺数据，跑不起来）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方法新（元学习），论文报告指标高；纯开源依赖、无收费工具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阻塞：官方未放预训练权重，预处理中间数据也缺失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连自训也走不通：把原始数据拼成模型输入的那段代码没随仓库发出（被注释掉）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全网（GitHub/Gitee/ModelScope/Zenodo + 逐个 commit）搜权重均空 → 唯一出路是邮件原作者索取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10.1093/bib/bbae625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github.com/ChanganMakeYi/MHLAPre（无 LICENSE）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部署工程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两套部署战场：为什么不是「点一下就能跑」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负责逐个调通 + 摸清四类信息；HPC 集群负责正式大规模跑。两边出网都受限，工具多是老链需逐个适配。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6301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20240"/>
            <a:ext cx="82296" cy="39776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665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· WSL2 Ubuntu 24.04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450592"/>
            <a:ext cx="3127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角色：调试主场——逐个工具跑通、摸清四类信息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环境：直通显卡 + conda + Docker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Windows：仓库含带 * 的非法文件名，且工具多为 Linux 老链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07992" y="1920240"/>
            <a:ext cx="36301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07992" y="1920240"/>
            <a:ext cx="82296" cy="3977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764024" y="20665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· 学校集群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82312" y="2450592"/>
            <a:ext cx="3127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角色：正式大规模跑 + 团队最终交付目标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环境：Singularity 容器（无 Docker）+ 多核 CPU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推理多为 CPU（梯度提升树 / 随机森林 / CNN 推理），基本不占显卡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75904" y="1920240"/>
            <a:ext cx="3172968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1920240"/>
            <a:ext cx="82296" cy="39776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31936" y="2066544"/>
            <a:ext cx="2807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两边共同约束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50224" y="2450592"/>
            <a:ext cx="26700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出网：GitHub / PyPI / DTU 通；Docker Hub 两边都不通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对策：本机打包镜像 → 上传 → 转 Singularity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学术工具（netMHCpan 等）禁止再分发，含其跑出的数字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下面两页按工具逐个列出遇到的问题，并标注来源环境（本机 / HPC）。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部署工程 · 按工具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各工具遇到的问题（第一批 5 工具）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来源标签：</a:t>
            </a:r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本机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本地 WSL2   </a:t>
            </a:r>
            <a:pPr indent="0" marL="0"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HPC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学校集群   </a:t>
            </a:r>
            <a:pPr indent="0" marL="0">
              <a:buNone/>
            </a:pPr>
            <a:r>
              <a:rPr lang="en-US" sz="1100" b="1" dirty="0">
                <a:solidFill>
                  <a:srgbClr val="8A9B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未做成无输出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64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CNN · 本机+HPC 均通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仓库含 * 文件名，Windows 存不了 → 搬 WSL2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protobuf 须降 3.20；TF2.3 / Py3.8 严格对版本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顺利跑通，结果与本机一字不差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55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079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· 官方镜像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56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 14.4G + Docker Hub 墙 → mirrored + 代理 + 删旧源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单次输入硬限 &lt;5000 行 → 切块串跑再按序拼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镜像转 Singularity；只读容器写 tmp 需 writable-tmpfs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28416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64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Py2.7 流水线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自带样例连修 8 处 bug 才端到端跑通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VEP 注释库 14G 龟速 → 多连接下载提速约 12×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完整版喂不了 ELISpot → 用 Pre&amp;RecNeo 子模型进基准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镜像程序在 /root + 无 fakeroot → 改本机容器验证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55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55080" y="3328416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079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56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模型用新版 numpy 存 → 换 Py3.11 才读得了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老二进制 netMHCpan-2.8 崩 → 内核 vsyscall 救活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表达量特征需 RNA-seq，ELISpot 没有 → 该特征降级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glibc 2.28 &lt; stabpan 要 2.29 → 稳定性特征跑不了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0080" y="4901184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4901184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992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364992" y="5010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 ML · 自训替代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" y="5321808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 URL 未公开 → 浏览器自动化从数据库站抓出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无官方权重 → 公开数据自训（已确认全网无权重）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 R 库接口随版本变 → 逐列核对修对 76/78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部署工程 · 按工具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各工具遇到的问题（第二批 5 工具）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来源标签：</a:t>
            </a:r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本机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本地 WSL2   </a:t>
            </a:r>
            <a:pPr indent="0" marL="0"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HPC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学校集群   </a:t>
            </a:r>
            <a:pPr indent="0" marL="0">
              <a:buNone/>
            </a:pPr>
            <a:r>
              <a:rPr lang="en-US" sz="1100" b="1" dirty="0">
                <a:solidFill>
                  <a:srgbClr val="8A9B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 </a:t>
            </a:r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未做成无输出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64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提呈 + TCR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个罕见 allele 不支持 → PRIME.x 卡死不报错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PID 净杀僵死进程 + 预筛排除标 NaN 才跑完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输出与官方完全一致（r=1.0），防伪通过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55080" y="1755648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755648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847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079992" y="1865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提呈 + 免疫原性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56248" y="2176272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 880M 巨权重 git clone 卡死 → 改 tarball 下载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TF1.15 一次 pip 依赖死循环 → 先单装 TF 再装其余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28416"/>
            <a:ext cx="64008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64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双模型 · 镜像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py2.7 + 老 keras 版本地狱 → 用官方 Docker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输出目录不自建须先 mkdir；HLA 格式无星号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55080" y="3328416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55080" y="3328416"/>
            <a:ext cx="64008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079992" y="34381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仅提呈 · proxy 单列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56248" y="3749040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镜像空壳，GCS 凭证 401 死锁 → 改匿名直链下模型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误拉整模型目录会暴涨几百 G → 精确下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真 bug：CRLF 进肽长 / 混长度崩 / 孤儿抢 CPU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分块跑 70 块被内存杀（覆盖 266/336，逐肽 98%）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0080" y="4901184"/>
            <a:ext cx="519379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4901184"/>
            <a:ext cx="64008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992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364992" y="5010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未做成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" y="5321808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8A9B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无官方权重 + 预处理数据缺 + 拼装码被注释 → 跑不通</a:t>
            </a:r>
            <a:endParaRPr lang="en-US" sz="8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8A9B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</a:t>
            </a:r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全网搜权重为空，唯一出路：邮件作者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测试数据从哪来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实测数据 · 规模 · 正负比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19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· 主测试集（有阴有阳）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2199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条肽段：有反应 90 条 / 无反应 11 条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9 位患者；反应值 SFC 范围 −34 ~ 209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用途：算 AUC（能不能分开「有/无反应」）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73989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· 定量验证集（全阳）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14223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 条肽段：全部有反应，无阴性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6 位患者；强度 SFC 16 ~ 677（约 40 倍跨度）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用途：检验「能不能把强弱排对」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43800" y="1691640"/>
            <a:ext cx="4023360" cy="37033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0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关键说明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0" y="2249424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 = ELISpot SFC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SFC = 斑点形成细胞数，T 细胞反应强度的实验读数；阈值 &gt;0 记为有反应。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展开规模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每条肽按子肽×HLA 窗口展开，DS1+DS2 共 34,247 行预测。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样本来自有限患者 → 存在聚集；DS2 阴性仅 11 条，置信区间偏宽。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数据来源：课题组 ELISpot 实测（Elispot_Dataset1.xlsx / Elispot_Dataset2.xlsx）。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评测流程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从一条肽段到工具横向对比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肽段输入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/ DS2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的肽段 + HLA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9424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23744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23744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工具打分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15184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各工具独立打分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(8免疫原性+1提呈)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子肽×HLA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逐肽取 max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0176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54496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54496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切标签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SFC&gt;0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分有/无反应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45552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19872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19872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算指标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 / Spearman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PPV / MCC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10928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98524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0B3C49"/>
          </a:solidFill>
          <a:ln w="25400">
            <a:solidFill>
              <a:srgbClr val="0B3C49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98524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横向对比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7668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工具同口径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排名与显著性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297680"/>
            <a:ext cx="10881360" cy="1783080"/>
          </a:xfrm>
          <a:prstGeom prst="rect">
            <a:avLst/>
          </a:prstGeom>
          <a:solidFill>
            <a:srgbClr val="F2F7F7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34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同一批肽段喂给 9 个工具 → 每个工具独立打分 → 因一条肽会拆成多个子肽×HLA，统一「逐肽取最大分」聚合 → 按实验反应值 SFC&gt;0 切「有/无反应」标签 → 用同一套指标评估 → 9 个工具在完全相同的口径下横向对比。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关键：所有工具走完全一致的聚合、阈值、指标口径，保证「apples-to-apples」可比。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用什么数据、怎么比、看什么指标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ELISpot 实验数据 DS2：101 条肽段。按实验反应值切分 —— 有反应 90 条、无反应 11 条（反应值≤0 算真无反应）。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29900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个进基准：8 个免疫原性工具直接横比 + HLAthena（提呈 proxy）单列参照。MHLAPre 因缺权重未参评。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一条肽段会拆成多个子肽×HLA，先聚合（取最大/平均）再按阈值切。主口径 = 取最大、阈值&gt;0，保证各工具同口径。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533095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AUC（能不能分开「有反应/无反应」，0.5=瞎猜）、AUPRC、Spearman 相关（分数和反应强弱是否同向 = 能不能分强弱）。用 2000 次重抽样给出置信区间。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口径校验：旧 5 工具复现与历史结果最大差 ≤ 0.004（浮点精度内），口径对齐通过；所有数字经 csv 三方核对。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先看懂这些指标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后面每个数字是什么意思、最该信哪个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72821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AUC（判别力）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01768" y="17190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001768" y="17190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主看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103120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随便挑「一条有反应 + 一条没反应」，模型给有反应那条打分更高的概率。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1=完美，0.5=和瞎猜一样，&lt;0.5=反着的。本报告最主要看它。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382512" y="1600200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82512" y="1600200"/>
            <a:ext cx="82296" cy="13716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620256" y="172821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相关（能否分强弱）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744200" y="17190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7190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看定量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38544" y="2103120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模型分数的高低排序，和真实反应强弱的排序，吻合到什么程度。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+1=完全同向，0=没关系，−1=完全反着。这是「能不能分强弱」的关键。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172968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172968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30098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PPV@10（前10命中率）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01768" y="32918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贴临床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6112" y="3675888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把分数最高的 10 条挑出来，里面真有反应的比例。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临床只能合成排在最前的几条肽，所以这个最贴近实战。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82512" y="3172968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3172968"/>
            <a:ext cx="82296" cy="13716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0256" y="330098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744200" y="32918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27" name="Text 25"/>
          <p:cNvSpPr/>
          <p:nvPr/>
        </p:nvSpPr>
        <p:spPr>
          <a:xfrm>
            <a:off x="107442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参考有限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38544" y="3675888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精确率-召回率曲线下的面积，阳性很少时比 AUC 更敏感。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本数据阳性本就占 89%，起点就高 → 提升空间小，参考意义有限。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745736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745736"/>
            <a:ext cx="82296" cy="13716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8737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MCC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01768" y="48646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4864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同时看「真阳/假阳/真阴/假阴」四格的平衡分。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 到 +1，类别不平衡时比「准确率」更稳。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82512" y="4745736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82512" y="4745736"/>
            <a:ext cx="82296" cy="13716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7" name="Text 35"/>
          <p:cNvSpPr/>
          <p:nvPr/>
        </p:nvSpPr>
        <p:spPr>
          <a:xfrm>
            <a:off x="6620256" y="48737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置信区间 / p 值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744200" y="48646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39" name="Text 37"/>
          <p:cNvSpPr/>
          <p:nvPr/>
        </p:nvSpPr>
        <p:spPr>
          <a:xfrm>
            <a:off x="10744200" y="4864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看可信度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638544" y="5248656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重复抽样 2000 次看指标的波动范围；p&lt;0.05 才算「不是偶然」。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区间越宽=越不确定。本数据样本小（101 条、阴性仅 11）→ 区间普遍偏宽。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0080" y="630936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本报告主看 AUC（判别力）和 Spearman（能否分强弱）；AUPRC 因阳性占比高、参考有限；样本量小 → 所有指标的置信区间都偏宽，结论以「方向性」为主、不抠零点几的差距。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个免疫原性工具：判别力普遍偏弱、彼此分不出显著高下、新工具没带来增量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8tools_auc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27632"/>
            <a:ext cx="621792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704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AUC（DS2，取最大聚合，阈值&gt;0）+ 95% 置信区间；橙色为第二批新工具。除 pTuneos 外，置信区间下界都跌破随机线 0.5。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27632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27632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判别力普遍偏弱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0848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点估最高的是 pTuneos 0.753，但置信区间 [0.598, 0.888] 很宽（约 ±0.15）；除它之外，其余工具的区间下界都低于 0.5（随机线）。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01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彼此分不出高下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576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两两对比，头部工具之间的差距都跨过 0 —— 比如 pTuneos 与 PredIG 差 0.09、与 NeoTImmuML 差 0.10，区间都含 0，统计上区分不开。根因是无反应样本只有 11 个。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132320" y="4773168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73168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82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新工具没带来增量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 3 个工具在所有口径下都没超过第一批最好的点估：ImmuneApp 0.589 / PRIME 0.528 / deepHLApan 0.419（低于随机）。这个结论很稳，不依赖排名精度。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32320" y="63550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措辞克制：用「点估居前」而非「最优/最强」—— 在无反应样本仅 11 个时，这些差距不足以支撑「最优」的判断。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· ROC 曲线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个工具在 ELISpot 上的 ROC：多数贴着随机线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3093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8_8tools_roc_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27632"/>
            <a:ext cx="594360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ROC 曲线（DS2，取最大聚合，阈值&gt;0）。蓝实线=第一批，橙虚线=第二批新工具，灰点线=随机。曲线离左上角越远越弱。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040880" y="164592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0" y="164592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76479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怎么看这张图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223760" y="21214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曲线越往左上角凸 = 判别力越强；贴着对角线（灰点线）= 和瞎猜差不多。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040880" y="320040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4088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1927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实际表现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223760" y="367588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pTuneos（蓝）明显凸向左上；多数工具的曲线缠在对角线附近上下穿插，几个新工具（橙虚线）有段还落到对角线下方（不如随机）。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75488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040880" y="4754880"/>
            <a:ext cx="82296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8737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和柱状图一致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223760" y="523036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这与上一页 AUC 柱状图给出的结论相互印证：除少数外，判别力普遍接近随机。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为什么不下「最优」结论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置信区间互相重叠 + 样本太小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76656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bootstrap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989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 点估 + 95% 置信区间。所有区间都跨过或贴近 0.5，且彼此大幅重叠。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98080" y="1627632"/>
            <a:ext cx="4160520" cy="228600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根因：无反应样本只有 11 个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99248" y="219456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无反应这一类是少数，AUC 的不确定性主要由它决定。11 个样本 → 每次重抽样波动都很大 → 区间宽达 ±0.15。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工具之间不到 0.05 的差距，完全淹没在区间宽度里。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98080" y="4069080"/>
            <a:ext cx="4160520" cy="22402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99248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「最优」只是个脆弱的角落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99248" y="4590288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的 0.75 是「某一种聚合 × 某一个阈值 × 11 个样本」凑出来的最高点。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同一工具换个阈值，AUC 就掉到约 0.46（低于随机）→ 不是稳定的能力。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它只显著强过几个最弱的工具，对最接近的竞品并不显著。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工具之间一致吗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把同一批肽段的打分两两比对：彼此基本不相关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corr_heat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27632"/>
            <a:ext cx="6126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个工具在同一批肽段上打分的两两相关（Spearman）。颜色越红越正相关，越白越不相关。除对角线外大多接近白色。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4592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45920"/>
            <a:ext cx="82296" cy="146304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64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大多互不相关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121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对角线之外，绝大多数格子都接近 0 —— 不同工具对同一条肽段给的高低排序基本各说各话。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9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只有两对例外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7588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IMPROVE–PRIME 0.69、DeepImmuno–deepHLApan 0.50 较高，多半因为它们方法或训练数据有重叠。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32320" y="475488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5488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73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工具之间没有共识 → 没有哪一个是「公认标准答案」；也意味着简单做平均集成，提升有限（后续验证也确实如此）。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能不能分强弱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现有工具更像「分类器」而非「打分器」—— 在全是阳性的数据上排不出强弱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035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8tools_spearm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58064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521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个工具分数与实验反应强度的 Spearman 相关（取最大聚合）。* 表示显著。只有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766560" y="1600200"/>
            <a:ext cx="4892040" cy="23317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67728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用「全阳数据」DS1 验证「能不能分强弱」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967728" y="2212848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条肽段，全部有反应（强度从 16 到 677，差约 40 倍），没有阴性 → 不能算 AUC，只能看能不能排强弱。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结果：9 个里 8 个的相关性接近 0、都不显著（基本等于乱排）。唯一显著的那个还是反着的。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69080"/>
            <a:ext cx="489204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6772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67728" y="4535424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干净对照：同一批工具在有阴有阳的 DS2 上，头部还能正向排强弱；一到「全是阳性」的 DS1 就全塌成乱排。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也就是说，它们的本事主要在「分有反应 / 没反应」这道门槛；真要预测「有多强」几乎做不到（详见下页 DS1 全阳证据）。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用全阳数据证伪「能分强弱」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全是有反应的肽，按强弱排 —— 没有工具排得对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903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figures/ds1_vs_ds2_spearman_b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572768"/>
            <a:ext cx="6675120" cy="256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18795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图上：同一工具在 DS2（蓝，有阴有阳）能正向排强弱，到 DS1（橙，全阳）就掉到 0 附近。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4526280"/>
            <a:ext cx="6903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9" name="Image 1" descr="D:/YJ-Agent/project/meeting/QuantImmuBench/figures/ds1_magnitude_scatter_bestbind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617720"/>
            <a:ext cx="6675120" cy="1600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62727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图下：每个工具的分数 vs 真实反应强度散点 —— 都是一团平云，没有上升趋势。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635240" y="1463040"/>
            <a:ext cx="4023360" cy="48463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845552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结论：分类器，不是打分器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845552" y="210312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条肽，全部有反应，强度从 16 到 677（差约 40 倍）。没有阴性，所以只考一件事：能不能把「强的排前、弱的排后」。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结果：几乎所有工具的相关系数都接近 0、不显著（等于乱排）；个别显著的还是反向。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DS2（有阴有阳）头部还能排 → 工具的能力集中在「有反应 / 没反应」这道门槛上；一旦都是阳性、要比「谁更强」，门槛信息用完就失灵。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这正是「预测反应强弱」值得做的直接证据。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再细看一层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按肽段长度分开看 · 临床更关心的 top-K 命中率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949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length_strat_au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645920"/>
            <a:ext cx="6675120" cy="3337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074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图：按子肽长度（8–14）分开算 AUC。PredIG（橙）在各长度都稳在 0.5 以上；多数工具随长度上下波动、部分跌破随机。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5532120"/>
            <a:ext cx="6949440" cy="8686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596128"/>
            <a:ext cx="6629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长度分层后样本更小、波动更大，但能看出哪些工具的判别力对肽长稳健（PredIG 相对稳）。这一层主要用于诊断，不改变「整体偏弱」的主结论。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临床更关心：top-K 命中率（PPV@K）</a:t>
            </a:r>
            <a:endParaRPr lang="en-US" sz="13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86868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AUPRC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PPV@10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4434840"/>
            <a:ext cx="3977640" cy="187452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45552" y="4526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怎么读这些指标：</a:t>
            </a:r>
            <a:endParaRPr lang="en-US" sz="1100" dirty="0"/>
          </a:p>
          <a:p>
            <a:pPr indent="0" marL="0">
              <a:lnSpc>
                <a:spcPct val="103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PPV@10 = 把分数最高的 10 条挑出来，里面真有反应的比例（临床只能合成前几条，这个最实用）。AUPRC、MCC 是综合精确率指标。</a:t>
            </a:r>
            <a:endParaRPr lang="en-US" sz="11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注意：阳性本就占 89%，AUPRC 起点就高、提升空间有限；这 5 个为第一批工具，新工具的 top-K 未单独计算。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提呈参照（单列）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HLAthena：预测的是「提呈」不是「免疫原性」，单独看、不与前 8 个并比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685800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ELISpot 上的表现（DS2）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286000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286000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340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AUC（取最大，阈值&gt;0）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0" y="234086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0.509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随机（0.5）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2944368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944368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999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AUC（各种口径范围）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114800" y="29992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0.49 – 0.59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49240" y="29992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没有一个明显离开随机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3602736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602736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657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与反应强度的相关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14800" y="3657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 – 0.15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全都不显著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68680" y="4261104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261104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15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0" y="4315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49240" y="4315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数据本身阳性占比就 0.89，谈不上提升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68680" y="5029200"/>
            <a:ext cx="6400800" cy="1078992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084064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怎么理解：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 在免疫原性上接近随机，这恰恰符合它的本职 —— 它只预测「能否被提呈」，论文也明说不预测「能否激活 T 细胞」。所以它在这里只当提呈参照，</a:t>
            </a:r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单列，不和 8 个免疫原性工具直接并比。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80960" y="1627632"/>
            <a:ext cx="397764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覆盖度与工程说明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909560" y="2240280"/>
            <a:ext cx="3566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逐肽覆盖 100/101（98%）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每条肽段取其所有子肽中的最高分，即使个别子肽缺失，逐肽结论依然稳。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分块计算 266/336 完成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在共享登录节点上跑，部分小任务因节点高负载被系统中止；因覆盖已达 98%，不影响「近随机」的结论。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模型下载绕坑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镜像自带的下载凭证已失效 → 改用匿名直链下模型、改配置走本地挂载，才跑通。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数字见 analysis/metrics_ds2_9tools.csv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已知限制与红线（先讲清楚）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82296" cy="107899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755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样本量很小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97480" y="17373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无反应样本只有 11 个 → 所有 AUC/相关的置信区间都偏宽，工具间不到 0.05 的差距不显著。这正是「没有稳定最优」结论的来源。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98064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数据有聚集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97480" y="29077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条肽来自 9 个病人，前两个病人贡献了约 45% 的阴性肽 → 有效样本数其实小于 101，AUC 可能部分在「区分病人」。需按病人分层复核。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968496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09651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训练-测试可能重叠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07822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第二批几个工具用公开库训练，可能与本测试集重叠；当前未排重，「独立性待核」。重叠会让分数偏高 → 对「新工具无增量」这个主结论反而更保守、更稳。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138928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26694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完整度分级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97480" y="524865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DeepImmuno/PredIG/PRIME/ImmuneApp/deepHLApan 完整；pTuneos 用子模型；IMPROVE 特征降级；NeoTImmuML 自训版；MHLAPre 未完成。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27632"/>
            <a:ext cx="3611880" cy="4617720"/>
          </a:xfrm>
          <a:prstGeom prst="rect">
            <a:avLst/>
          </a:prstGeom>
          <a:solidFill>
            <a:srgbClr val="4A1F24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许可红线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28600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DTU 学术许可。未经书面同意，不得把在其软件上跑出的结果（含数字）对外发布。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本项目正是基准评测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论文或对外材料若含这些工具跑出的对比数字，须先取 DTU 书面同意（投稿阶段处理）。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 = GPL-2.0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公开发布前需做许可合规审查。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个工具的论文出处与代码仓库</a:t>
            </a:r>
            <a:endParaRPr lang="en-US" sz="2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27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834640"/>
                <a:gridCol w="2606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工具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发表期刊 / 年份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DOI（可点击）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代码仓库（可点击）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" invalidUrl="" action="" tgtFrame="" tooltip="https://doi.org/10.1093/bib/bbab160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10.1093/bib/bbab160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2" invalidUrl="" action="" tgtFrame="" tooltip="https://github.com/frankligy/DeepImmuno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github.com/frankligy/DeepImmuno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3" invalidUrl="" action="" tgtFrame="" tooltip="https://doi.org/10.1186/s13073-025-01569-8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10.1186/s13073-025-01569-8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4" invalidUrl="" action="" tgtFrame="" tooltip="https://github.com/BSC-CNS-EAPM/PredIG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github.com/BSC-CNS-EAPM/PredIG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5" invalidUrl="" action="" tgtFrame="" tooltip="https://doi.org/10.1186/s13073-019-0679-x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10.1186/s13073-019-0679-x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6" invalidUrl="" action="" tgtFrame="" tooltip="https://github.com/bm2-lab/pTuneos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github.com/bm2-lab/pTuneos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7" invalidUrl="" action="" tgtFrame="" tooltip="https://doi.org/10.3389/fimmu.2024.1360281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10.3389/fimmu.2024.1360281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8" invalidUrl="" action="" tgtFrame="" tooltip="https://github.com/SRHgroup/IMPROVE_tool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github.com/SRHgroup/IMPROVE_tool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9" invalidUrl="" action="" tgtFrame="" tooltip="https://doi.org/10.3389/fimmu.2025.1681396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10.3389/fimmu.2025.1681396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0" invalidUrl="" action="" tgtFrame="" tooltip="https://github.com/01SYan19/NeoTImmuML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github.com/01SYan19/NeoTImmuML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 Rep. Med. 2021 / Cell Systems 2023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1" invalidUrl="" action="" tgtFrame="" tooltip="https://doi.org/10.1016/j.celrep.2021.100194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10.1016/j.celrep.2021.100194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2" invalidUrl="" action="" tgtFrame="" tooltip="https://github.com/GfellerLab/PRIME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github.com/GfellerLab/PRIME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Communications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3" invalidUrl="" action="" tgtFrame="" tooltip="https://doi.org/10.1038/s41467-024-53296-0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10.1038/s41467-024-53296-0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4" invalidUrl="" action="" tgtFrame="" tooltip="https://github.com/bsml320/ImmuneApp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github.com/bsml320/ImmuneApp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5" invalidUrl="" action="" tgtFrame="" tooltip="https://doi.org/10.3389/fimmu.2019.02559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10.3389/fimmu.2019.02559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6" invalidUrl="" action="" tgtFrame="" tooltip="https://github.com/jiujiezz/deephlapan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github.com/jiujiezz/deephlapan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7" invalidUrl="" action="" tgtFrame="" tooltip="https://doi.org/10.1093/bib/bbae625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10.1093/bib/bbae625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8" invalidUrl="" action="" tgtFrame="" tooltip="https://github.com/ChanganMakeYi/MHLAPre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github.com/ChanganMakeYi/MHLAPre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HLAthena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Biotechnology 2020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9" invalidUrl="" action="" tgtFrame="" tooltip="https://doi.org/10.1038/s41587-019-0322-9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10.1038/s41587-019-0322-9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20" invalidUrl="" action="" tgtFrame="" tooltip="https://hlathena.tools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hlathena.tools · Docker ssarkizova/hlathena-external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17220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外部依赖工具：netMHCpan / netMHCstabpan（DTU Health Tech，学术许可）· MixMHCpred（Gfeller lab）· Ensembl VEP · R Peptides 包。数据集与本地产物为课题组内部数据，不在此列。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个工具全部部署 + 四类信息全收集（逐工具文档齐）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个跑进统一 ELISpot 基准；唯一 MHLAPre 因缺权重未完成（已尽力核实、留可行出路）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主结论：8 个免疫原性工具判别力普遍偏弱、彼此分不出显著高下、新工具无增量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proxy）近随机，印证「提呈 ≠ 免疫原性」，单列参照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现有工具几乎不能预测「反应有多强」→ 反过来说明做「强弱定量」这件事有空白、有价值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先核连续标签够不够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要做「强弱回归」，先确认公开库里带强度标签的数据量够不够 —— 这是方向的总开关，零算力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0" y="3026664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26664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18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补充阴性样本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测试集无反应样本仅 11 个 → 补到 ≥30 再重测，结论更稳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04488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904488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959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排查训练-测试重叠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把测试肽与公开训练库做精确比对，报告重叠比例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4782312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782312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737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课题组正式数据到位后，按各工具格式转换再正式测一轮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660136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660136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7515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044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投稿前取 DTU 书面同意（netMHCpan 相关数字）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基准数字均经 csv 三方核对；逐工具四类信息见 TOOLS/ 目录；工具论文出处见参考文献页。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 10 工具横评 + Benchmark 报告</dc:title>
  <dc:subject>PptxGenJS Presentation</dc:subject>
  <dc:creator>legacccy</dc:creator>
  <cp:lastModifiedBy>legacccy</cp:lastModifiedBy>
  <cp:revision>1</cp:revision>
  <dcterms:created xsi:type="dcterms:W3CDTF">2026-06-25T11:04:38Z</dcterms:created>
  <dcterms:modified xsi:type="dcterms:W3CDTF">2026-06-25T11:04:38Z</dcterms:modified>
</cp:coreProperties>
</file>
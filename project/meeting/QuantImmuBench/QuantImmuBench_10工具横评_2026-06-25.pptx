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</p:sldIdLst>
  <p:notesMasterIdLst>
    <p:notesMasterId r:id="rId3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notesMaster" Target="notesMasters/notesMaster1.xml"/><Relationship Id="rId39" Type="http://schemas.openxmlformats.org/officeDocument/2006/relationships/presProps" Target="presProps.xml"/><Relationship Id="rId40" Type="http://schemas.openxmlformats.org/officeDocument/2006/relationships/viewProps" Target="viewProps.xml"/><Relationship Id="rId41" Type="http://schemas.openxmlformats.org/officeDocument/2006/relationships/theme" Target="theme/theme1.xml"/><Relationship Id="rId4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image" Target="../media/image-3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3C4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3" name="Shape 1"/>
          <p:cNvSpPr/>
          <p:nvPr/>
        </p:nvSpPr>
        <p:spPr>
          <a:xfrm>
            <a:off x="9171432" y="-1463040"/>
            <a:ext cx="4206240" cy="4206240"/>
          </a:xfrm>
          <a:prstGeom prst="ellipse">
            <a:avLst/>
          </a:prstGeom>
          <a:solidFill>
            <a:srgbClr val="028090">
              <a:alpha val="22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0360152" y="3291840"/>
            <a:ext cx="2926080" cy="2926080"/>
          </a:xfrm>
          <a:prstGeom prst="ellipse">
            <a:avLst/>
          </a:prstGeom>
          <a:solidFill>
            <a:srgbClr val="00A896">
              <a:alpha val="18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3716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200" kern="0" dirty="0">
                <a:solidFill>
                  <a:srgbClr val="02C39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癌症个性化新抗原疫苗 · 预测工具部署与基准评估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822960" y="1874520"/>
            <a:ext cx="105156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 个新抗原免疫原性预测工具</a:t>
            </a:r>
            <a:endParaRPr lang="en-US" sz="42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横向评测报告</a:t>
            </a:r>
            <a:endParaRPr lang="en-US" sz="4200" dirty="0"/>
          </a:p>
        </p:txBody>
      </p:sp>
      <p:sp>
        <p:nvSpPr>
          <p:cNvPr id="7" name="Text 5"/>
          <p:cNvSpPr/>
          <p:nvPr/>
        </p:nvSpPr>
        <p:spPr>
          <a:xfrm>
            <a:off x="822960" y="384048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ADC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逐工具部署 + 四类信息 · 9 工具进入 ELISpot 统一基准 · 一个工具阻塞未完成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868680" y="4663440"/>
            <a:ext cx="2926080" cy="0"/>
          </a:xfrm>
          <a:prstGeom prst="line">
            <a:avLst/>
          </a:prstGeom>
          <a:noFill/>
          <a:ln w="25400">
            <a:solidFill>
              <a:srgbClr val="02C39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68680" y="489204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8FB7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汇报人  </a:t>
            </a:r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余嘉 (legacccy)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8FB7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所属  </a:t>
            </a:r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西交利物浦大学 · 课题组协作项目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9994392" y="612648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FB7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2026-06-25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2F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项目背景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65836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要解决什么问题 · 我做了什么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640080" y="1554480"/>
            <a:ext cx="5074920" cy="2788920"/>
          </a:xfrm>
          <a:prstGeom prst="rect">
            <a:avLst/>
          </a:prstGeom>
          <a:solidFill>
            <a:srgbClr val="0B3C49"/>
          </a:solidFill>
          <a:ln/>
          <a:effectLst>
            <a:outerShdw sx="100000" sy="100000" kx="0" ky="0" algn="bl" rotWithShape="0" blurRad="114300" dist="38100" dir="8100000">
              <a:srgbClr val="0B3C49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96112" y="1783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2C39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项目要做的事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896112" y="2212848"/>
            <a:ext cx="46177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做一个能预测 T 细胞反应 </a:t>
            </a:r>
            <a:pPr indent="0" marL="0">
              <a:lnSpc>
                <a:spcPct val="118000"/>
              </a:lnSpc>
              <a:buNone/>
            </a:pPr>
            <a:r>
              <a:rPr lang="en-US" sz="1700" b="1" dirty="0">
                <a:solidFill>
                  <a:srgbClr val="02C39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「强弱程度」</a:t>
            </a:r>
            <a:pPr indent="0" marL="0">
              <a:lnSpc>
                <a:spcPct val="118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的工具。</a:t>
            </a:r>
            <a:endParaRPr lang="en-US" sz="14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CADC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现有工具大多只回答「有没有免疫反应」（是非题）；目标是更进一步，给出反应「有多强」（打分题）。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40080" y="4526280"/>
            <a:ext cx="5074920" cy="1874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sx="100000" sy="100000" kx="0" ky="0" algn="bl" rotWithShape="0" blurRad="114300" dist="38100" dir="8100000">
              <a:srgbClr val="0B3C49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868680" y="4645152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我这部分的任务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868680" y="4992624"/>
            <a:ext cx="47548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把市面上现有的预测工具一个个装好、跑通，</a:t>
            </a:r>
            <a:endParaRPr lang="en-US" sz="1200" dirty="0"/>
          </a:p>
          <a:p>
            <a:pPr indent="0" marL="0">
              <a:lnSpc>
                <a:spcPct val="110000"/>
              </a:lnSpc>
              <a:spcAft>
                <a:spcPts val="600"/>
              </a:spcAft>
              <a:buNone/>
            </a:pPr>
            <a:r>
              <a:rPr lang="en-US" sz="120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用同一套真实实验数据（ELISpot）横向比一遍，看它们到底准不准、能不能分强弱。</a:t>
            </a:r>
            <a:endParaRPr lang="en-US" sz="12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00" b="1" dirty="0">
                <a:solidFill>
                  <a:srgbClr val="0B3C4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每个工具记录 4 类信息，整理成本报告。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126480" y="1627632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每个工具记录的 4 类信息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6126480" y="2103120"/>
            <a:ext cx="539496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sx="100000" sy="100000" kx="0" ky="0" algn="bl" rotWithShape="0" blurRad="114300" dist="38100" dir="8100000">
              <a:srgbClr val="0B3C49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272784" y="2313432"/>
            <a:ext cx="420624" cy="420624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14" name="Text 12"/>
          <p:cNvSpPr/>
          <p:nvPr/>
        </p:nvSpPr>
        <p:spPr>
          <a:xfrm>
            <a:off x="6272784" y="231343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6858000" y="2231136"/>
            <a:ext cx="4480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输入要喂什么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6858000" y="2560320"/>
            <a:ext cx="4480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文件格式、必填列、肽段长度、HLA 写法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126480" y="3054096"/>
            <a:ext cx="539496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sx="100000" sy="100000" kx="0" ky="0" algn="bl" rotWithShape="0" blurRad="114300" dist="38100" dir="8100000">
              <a:srgbClr val="0B3C49">
                <a:alpha val="1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272784" y="3264408"/>
            <a:ext cx="420624" cy="420624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19" name="Text 17"/>
          <p:cNvSpPr/>
          <p:nvPr/>
        </p:nvSpPr>
        <p:spPr>
          <a:xfrm>
            <a:off x="6272784" y="32644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6858000" y="3182112"/>
            <a:ext cx="4480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怎么运行 / 调参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6858000" y="3511296"/>
            <a:ext cx="4480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可调参数有哪些、各管什么、运行模式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6126480" y="4005072"/>
            <a:ext cx="539496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sx="100000" sy="100000" kx="0" ky="0" algn="bl" rotWithShape="0" blurRad="114300" dist="38100" dir="8100000">
              <a:srgbClr val="0B3C49">
                <a:alpha val="12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6272784" y="4215384"/>
            <a:ext cx="420624" cy="420624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24" name="Text 22"/>
          <p:cNvSpPr/>
          <p:nvPr/>
        </p:nvSpPr>
        <p:spPr>
          <a:xfrm>
            <a:off x="6272784" y="421538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③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6858000" y="4133088"/>
            <a:ext cx="4480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输出是什么</a:t>
            </a:r>
            <a:endParaRPr lang="en-US" sz="1350" dirty="0"/>
          </a:p>
        </p:txBody>
      </p:sp>
      <p:sp>
        <p:nvSpPr>
          <p:cNvPr id="26" name="Text 24"/>
          <p:cNvSpPr/>
          <p:nvPr/>
        </p:nvSpPr>
        <p:spPr>
          <a:xfrm>
            <a:off x="6858000" y="4462272"/>
            <a:ext cx="4480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关键列含义、分数类型、能不能分强弱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6126480" y="4956048"/>
            <a:ext cx="539496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sx="100000" sy="100000" kx="0" ky="0" algn="bl" rotWithShape="0" blurRad="114300" dist="38100" dir="8100000">
              <a:srgbClr val="0B3C49">
                <a:alpha val="12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6272784" y="5166360"/>
            <a:ext cx="420624" cy="420624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29" name="Text 27"/>
          <p:cNvSpPr/>
          <p:nvPr/>
        </p:nvSpPr>
        <p:spPr>
          <a:xfrm>
            <a:off x="6272784" y="516636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④</a:t>
            </a:r>
            <a:endParaRPr lang="en-US" sz="1600" dirty="0"/>
          </a:p>
        </p:txBody>
      </p:sp>
      <p:sp>
        <p:nvSpPr>
          <p:cNvPr id="30" name="Text 28"/>
          <p:cNvSpPr/>
          <p:nvPr/>
        </p:nvSpPr>
        <p:spPr>
          <a:xfrm>
            <a:off x="6858000" y="5084064"/>
            <a:ext cx="4480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工具是什么 / 优缺点</a:t>
            </a:r>
            <a:endParaRPr lang="en-US" sz="1350" dirty="0"/>
          </a:p>
        </p:txBody>
      </p:sp>
      <p:sp>
        <p:nvSpPr>
          <p:cNvPr id="31" name="Text 29"/>
          <p:cNvSpPr/>
          <p:nvPr/>
        </p:nvSpPr>
        <p:spPr>
          <a:xfrm>
            <a:off x="6858000" y="5413248"/>
            <a:ext cx="4480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用的什么方法、强在哪、有什么限制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6126480" y="5943600"/>
            <a:ext cx="5394960" cy="457200"/>
          </a:xfrm>
          <a:prstGeom prst="rect">
            <a:avLst/>
          </a:prstGeom>
          <a:solidFill>
            <a:srgbClr val="E6F4F1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327648" y="5961888"/>
            <a:ext cx="5120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3C4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覆盖 10 个工具：9 个跑进统一基准，1 个（MHLAPre）因缺权重未完成。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1145743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2F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总览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65836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 个工具一览：装到什么程度 · 进没进基准 · 跑的什么版本</a:t>
            </a:r>
            <a:endParaRPr lang="en-US" sz="26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554480"/>
          <a:ext cx="1120140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1783080"/>
                <a:gridCol w="1874520"/>
                <a:gridCol w="868680"/>
                <a:gridCol w="1188720"/>
                <a:gridCol w="36576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工具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预测什么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方法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进基准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基准 AUC*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版本 / 状态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</a:tr>
              <a:tr h="3566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632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DeepImmuno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632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免疫原性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632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卷积网络 CNN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00A89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✅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632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0.481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00A89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完整端到端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66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632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PredIG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632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免疫原性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632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梯度提升树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00A89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✅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632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0.661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00A89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完整端到端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66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632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pTuneos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632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免疫原性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632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机器学习流程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00A89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✅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632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0.753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9743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子模型 (对账 r=1.0)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66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632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IMPROVE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632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免疫原性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632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随机森林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00A89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✅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632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0.621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9743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特征降级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66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632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NeoTImmuML ★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632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免疫原性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632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集成机器学习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00A89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✅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632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0.655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9743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自训版 (非官方权重)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66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632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PRIME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632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免疫原性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632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轻量打分模型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00A89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✅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632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0.528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00A89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完整 (对账 r=1.0)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66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632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ImmuneApp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632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免疫原性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632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CNN-LSTM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00A89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✅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632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0.589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00A89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完整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66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632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deepHLApan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632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免疫原性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632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双向循环网络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00A89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✅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632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0.419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00A89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完整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66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632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HLAthena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9743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提呈 (非免疫原性)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632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全连接网络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9743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✅ 单列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632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0.509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9743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提呈 proxy，不并比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66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632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MHLAPre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632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免疫原性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632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元学习+Transformer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B23A4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❌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9BA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B23A4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未做成 (缺权重)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502920" y="5532120"/>
            <a:ext cx="11201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900" i="1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* 基准 AUC = ELISpot 测试集 DS2、max 聚合、阈值&gt;0 口径下的判别力（0.5=随机，越高越好）。完整数字与其它口径见基准章节与 analysis/metrics_ds2_9tools.csv。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★ NeoTImmuML：官方未放出预训练权重，用公开数据自训了一版进基准，数值不对标原论文。   9 个进基准 = 8 个免疫原性工具直接横比 + HLAthena（预测「提呈」非「免疫原性」）单列作参照、不与前 8 个并比。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1145743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2F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工具 1 / 10 · 工作原理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65836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DeepImmuno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640080" y="1335024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用卷积神经网络判断一条肽段能不能激活 CD8+ T 细胞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" y="1783080"/>
            <a:ext cx="5349240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sx="100000" sy="100000" kx="0" ky="0" algn="bl" rotWithShape="0" blurRad="114300" dist="38100" dir="8100000">
              <a:srgbClr val="0B3C49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896112" y="1920240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用什么输入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896112" y="2231136"/>
            <a:ext cx="4846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只要两样东西：一条肽段序列（9 或 10 个氨基酸）和它对应的 HLA 分型。不需要基因组、不需要表达量，是十个工具里最省事的。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96112" y="3520440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 模型怎么算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896112" y="3831336"/>
            <a:ext cx="4846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先把氨基酸序列和 HLA 假基序按物化性质编码成一张数字矩阵，再用卷积神经网络（CNN）像扫图像一样扫过这张矩阵，自动抓出和免疫原性有关的局部模式，最后汇总成一个分数。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96112" y="5120640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③ 给出什么输出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896112" y="5431536"/>
            <a:ext cx="4846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输出一个 0 到 1 之间的连续分，越接近 1 表示越可能激活 T 细胞。实测已知强表位（如 CMV 的 NLVPMVATV）确实拿到高分，符合预期。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263640" y="1783080"/>
            <a:ext cx="5257800" cy="1463040"/>
          </a:xfrm>
          <a:prstGeom prst="roundRect">
            <a:avLst>
              <a:gd name="adj" fmla="val 5000"/>
            </a:avLst>
          </a:prstGeom>
          <a:solidFill>
            <a:srgbClr val="0B3C49"/>
          </a:solidFill>
          <a:ln/>
        </p:spPr>
      </p:sp>
      <p:sp>
        <p:nvSpPr>
          <p:cNvPr id="14" name="Text 12"/>
          <p:cNvSpPr/>
          <p:nvPr/>
        </p:nvSpPr>
        <p:spPr>
          <a:xfrm>
            <a:off x="6428232" y="1874520"/>
            <a:ext cx="4983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2C39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运行命令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428232" y="2185416"/>
            <a:ext cx="498348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D6F2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单条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D6F2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 deepimmuno-cnn.py \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D6F2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--mode single \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D6F2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--epitope NLVPMVATV \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D6F2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--hla HLA-A*0201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D6F2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批量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D6F2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 deepimmuno-cnn.py --mode \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D6F2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multiple --intdir in --outdir out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263640" y="3429000"/>
            <a:ext cx="5257800" cy="1463040"/>
          </a:xfrm>
          <a:prstGeom prst="roundRect">
            <a:avLst>
              <a:gd name="adj" fmla="val 5000"/>
            </a:avLst>
          </a:prstGeom>
          <a:solidFill>
            <a:srgbClr val="0B3C49"/>
          </a:solidFill>
          <a:ln/>
        </p:spPr>
      </p:sp>
      <p:sp>
        <p:nvSpPr>
          <p:cNvPr id="17" name="Text 15"/>
          <p:cNvSpPr/>
          <p:nvPr/>
        </p:nvSpPr>
        <p:spPr>
          <a:xfrm>
            <a:off x="6428232" y="3520440"/>
            <a:ext cx="4983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2C39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输入数据样例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428232" y="3831336"/>
            <a:ext cx="498348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D6F2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CSV，两列，无表头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D6F2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肽段, HLA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D6F2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NLVPMVATV,HLA-A*0201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D6F2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GILGFVFTL,HLA-A*0201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263640" y="5074920"/>
            <a:ext cx="5257800" cy="1280160"/>
          </a:xfrm>
          <a:prstGeom prst="roundRect">
            <a:avLst>
              <a:gd name="adj" fmla="val 5714"/>
            </a:avLst>
          </a:prstGeom>
          <a:solidFill>
            <a:srgbClr val="0B3C49"/>
          </a:solidFill>
          <a:ln/>
        </p:spPr>
      </p:sp>
      <p:sp>
        <p:nvSpPr>
          <p:cNvPr id="20" name="Text 18"/>
          <p:cNvSpPr/>
          <p:nvPr/>
        </p:nvSpPr>
        <p:spPr>
          <a:xfrm>
            <a:off x="6428232" y="5166360"/>
            <a:ext cx="4983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2C39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输出数据样例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6428232" y="5477256"/>
            <a:ext cx="49834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D6F2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peptide    HLA          immunogenicity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D6F2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NLVPMVATV  HLA-A*0201   0.957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D6F2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GILGFVFTL  HLA-A*0201   0.887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640080" y="6419088"/>
            <a:ext cx="10972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i="1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来源  </a:t>
            </a:r>
            <a:pPr indent="0" marL="0">
              <a:buNone/>
            </a:pPr>
            <a:r>
              <a:rPr lang="en-US" sz="900" i="1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DeepImmuno, Briefings in Bioinformatics 2021 · DOI 10.1093/bib/bbab160 · github.com/frankligy/DeepImmuno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1145743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2F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工具 1 / 10 · 四类信息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65836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DeepImmuno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640080" y="1335024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用卷积神经网络判断一条肽段能否激活 CD8+ T 细胞（HLA-I），最轻量、只要肽段+HLA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9262872" y="658368"/>
            <a:ext cx="2286000" cy="384048"/>
          </a:xfrm>
          <a:prstGeom prst="roundRect">
            <a:avLst>
              <a:gd name="adj" fmla="val 50000"/>
            </a:avLst>
          </a:prstGeom>
          <a:solidFill>
            <a:srgbClr val="00A896"/>
          </a:solidFill>
          <a:ln/>
        </p:spPr>
      </p:sp>
      <p:sp>
        <p:nvSpPr>
          <p:cNvPr id="7" name="Text 5"/>
          <p:cNvSpPr/>
          <p:nvPr/>
        </p:nvSpPr>
        <p:spPr>
          <a:xfrm>
            <a:off x="9262872" y="658368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✅ 完整端到端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9262872" y="111556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方法  卷积网络 CNN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40080" y="1874520"/>
            <a:ext cx="5486400" cy="2157984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sx="100000" sy="100000" kx="0" ky="0" algn="bl" rotWithShape="0" blurRad="114300" dist="38100" dir="8100000">
              <a:srgbClr val="0B3C49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40080" y="1874520"/>
            <a:ext cx="82296" cy="2157984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11" name="Text 9"/>
          <p:cNvSpPr/>
          <p:nvPr/>
        </p:nvSpPr>
        <p:spPr>
          <a:xfrm>
            <a:off x="896112" y="2020824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输入数据 / 格式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914400" y="2404872"/>
            <a:ext cx="4983480" cy="1517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CSV，两列无表头  peptide, HLA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肽段长度固定 9 或 10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HLA 写法  HLA-A*0201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不需要基因组 / HLA 库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419088" y="1874520"/>
            <a:ext cx="5486400" cy="2157984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sx="100000" sy="100000" kx="0" ky="0" algn="bl" rotWithShape="0" blurRad="114300" dist="38100" dir="8100000">
              <a:srgbClr val="0B3C49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419088" y="1874520"/>
            <a:ext cx="82296" cy="2157984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15" name="Text 13"/>
          <p:cNvSpPr/>
          <p:nvPr/>
        </p:nvSpPr>
        <p:spPr>
          <a:xfrm>
            <a:off x="6675120" y="2020824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 运行参数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6693408" y="2404872"/>
            <a:ext cx="4983480" cy="1517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--mode single  单条，结果打印屏幕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--mode multiple  批量，指定输入输出目录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没有可调超参；须在 repo 根目录运行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40080" y="4325112"/>
            <a:ext cx="5486400" cy="2157984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sx="100000" sy="100000" kx="0" ky="0" algn="bl" rotWithShape="0" blurRad="114300" dist="38100" dir="8100000">
              <a:srgbClr val="0B3C49">
                <a:alpha val="1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40080" y="4325112"/>
            <a:ext cx="82296" cy="2157984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19" name="Text 17"/>
          <p:cNvSpPr/>
          <p:nvPr/>
        </p:nvSpPr>
        <p:spPr>
          <a:xfrm>
            <a:off x="896112" y="4471416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③ 输出格式 / 含义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914400" y="4855464"/>
            <a:ext cx="4983480" cy="1517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三列  peptide / HLA / immunogenicity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immunogenicity = 0~1 连续分，越高越强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实测已知强表位高分（CMV NLVPMVATV=0.957）→ 合理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419088" y="4325112"/>
            <a:ext cx="5486400" cy="2157984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sx="100000" sy="100000" kx="0" ky="0" algn="bl" rotWithShape="0" blurRad="114300" dist="38100" dir="8100000">
              <a:srgbClr val="0B3C49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6419088" y="4325112"/>
            <a:ext cx="82296" cy="2157984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23" name="Text 21"/>
          <p:cNvSpPr/>
          <p:nvPr/>
        </p:nvSpPr>
        <p:spPr>
          <a:xfrm>
            <a:off x="6675120" y="4471416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④ 简介 / 特点优势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6693408" y="4855464"/>
            <a:ext cx="4983480" cy="1517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最省事：纯肽段+HLA 就能跑，不依赖任何收费工具，CPU 即可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环境：Python3.8 + TensorFlow2.3（protobuf 须降到 3.20）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限制：肽长只能 9 或 10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640080" y="6419088"/>
            <a:ext cx="10972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i="1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来源  </a:t>
            </a:r>
            <a:pPr indent="0" marL="0">
              <a:buNone/>
            </a:pPr>
            <a:r>
              <a:rPr lang="en-US" sz="900" i="1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DeepImmuno, Briefings in Bioinformatics 2021 · DOI 10.1093/bib/bbab160 · github.com/frankligy/DeepImmuno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145743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2F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1C72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工具 2 / 10 · 工作原理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65836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PredIG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640080" y="1335024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用梯度提升树预测免疫原性，并给出一串可解释的特征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" y="1783080"/>
            <a:ext cx="5349240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sx="100000" sy="100000" kx="0" ky="0" algn="bl" rotWithShape="0" blurRad="114300" dist="38100" dir="8100000">
              <a:srgbClr val="0B3C49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896112" y="1920240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72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用什么输入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896112" y="2231136"/>
            <a:ext cx="4846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输入肽段、HLA 分型，以及（重组模式下）肽段所在的蛋白序列。支持三种输入模式，肽段长度 8–14。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96112" y="3520440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72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 模型怎么算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896112" y="3831336"/>
            <a:ext cx="4846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先调用一串内置工具算出 13 类特征——蛋白酶切位点、提呈分（NOAH）、物化性质、TCR 接触位点等——再把这些特征喂给 XGBoost 梯度提升树模型综合打分。特征可解释是它的卖点。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96112" y="5120640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72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③ 给出什么输出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896112" y="5431536"/>
            <a:ext cx="4846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输出一个 0 到 1 的免疫原性分（PredIG 列），同时附上那 13 列特征，方便回看模型是凭什么给的分。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263640" y="1783080"/>
            <a:ext cx="5257800" cy="1463040"/>
          </a:xfrm>
          <a:prstGeom prst="roundRect">
            <a:avLst>
              <a:gd name="adj" fmla="val 5000"/>
            </a:avLst>
          </a:prstGeom>
          <a:solidFill>
            <a:srgbClr val="0B3C49"/>
          </a:solidFill>
          <a:ln/>
        </p:spPr>
      </p:sp>
      <p:sp>
        <p:nvSpPr>
          <p:cNvPr id="14" name="Text 12"/>
          <p:cNvSpPr/>
          <p:nvPr/>
        </p:nvSpPr>
        <p:spPr>
          <a:xfrm>
            <a:off x="6428232" y="1874520"/>
            <a:ext cx="4983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2C39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运行命令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428232" y="2185416"/>
            <a:ext cx="498348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D6F2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 predig.py \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D6F2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--type recombinant \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D6F2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--modelXG neoant \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D6F2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-i input.csv \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D6F2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-o result.csv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263640" y="3429000"/>
            <a:ext cx="5257800" cy="1463040"/>
          </a:xfrm>
          <a:prstGeom prst="roundRect">
            <a:avLst>
              <a:gd name="adj" fmla="val 5000"/>
            </a:avLst>
          </a:prstGeom>
          <a:solidFill>
            <a:srgbClr val="0B3C49"/>
          </a:solidFill>
          <a:ln/>
        </p:spPr>
      </p:sp>
      <p:sp>
        <p:nvSpPr>
          <p:cNvPr id="17" name="Text 15"/>
          <p:cNvSpPr/>
          <p:nvPr/>
        </p:nvSpPr>
        <p:spPr>
          <a:xfrm>
            <a:off x="6428232" y="3520440"/>
            <a:ext cx="4983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2C39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输入数据样例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428232" y="3831336"/>
            <a:ext cx="498348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D6F2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CSV，重组模式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D6F2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epitope,HLA_allele,protein_seq,protein_name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D6F2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SLLMWITQV,HLA-A*0201,MSLL...,TP53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263640" y="5074920"/>
            <a:ext cx="5257800" cy="1280160"/>
          </a:xfrm>
          <a:prstGeom prst="roundRect">
            <a:avLst>
              <a:gd name="adj" fmla="val 5714"/>
            </a:avLst>
          </a:prstGeom>
          <a:solidFill>
            <a:srgbClr val="0B3C49"/>
          </a:solidFill>
          <a:ln/>
        </p:spPr>
      </p:sp>
      <p:sp>
        <p:nvSpPr>
          <p:cNvPr id="20" name="Text 18"/>
          <p:cNvSpPr/>
          <p:nvPr/>
        </p:nvSpPr>
        <p:spPr>
          <a:xfrm>
            <a:off x="6428232" y="5166360"/>
            <a:ext cx="4983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2C39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输出数据样例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6428232" y="5477256"/>
            <a:ext cx="49834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D6F2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CSV，含 PredIG 分 + 13 列特征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D6F2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epitope    PredIG   NOAH   TCR_contact ...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D6F2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SLLMWITQV  0.0061   0.42   ...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640080" y="6419088"/>
            <a:ext cx="10972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i="1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来源  </a:t>
            </a:r>
            <a:pPr indent="0" marL="0">
              <a:buNone/>
            </a:pPr>
            <a:r>
              <a:rPr lang="en-US" sz="900" i="1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PredIG, Genome Medicine 2025 · DOI 10.1186/s13073-025-01569-8 · github.com/BSC-CNS-EAPM/PredIG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1145743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2F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1C72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工具 2 / 10 · 四类信息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65836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PredIG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640080" y="1335024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用梯度提升树预测 T 细胞表位免疫原性，按抗原类型分专用模型，结果可解释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9262872" y="658368"/>
            <a:ext cx="2286000" cy="384048"/>
          </a:xfrm>
          <a:prstGeom prst="roundRect">
            <a:avLst>
              <a:gd name="adj" fmla="val 50000"/>
            </a:avLst>
          </a:prstGeom>
          <a:solidFill>
            <a:srgbClr val="00A896"/>
          </a:solidFill>
          <a:ln/>
        </p:spPr>
      </p:sp>
      <p:sp>
        <p:nvSpPr>
          <p:cNvPr id="7" name="Text 5"/>
          <p:cNvSpPr/>
          <p:nvPr/>
        </p:nvSpPr>
        <p:spPr>
          <a:xfrm>
            <a:off x="9262872" y="658368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✅ 完整端到端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9262872" y="111556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方法  梯度提升树 XGBoost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40080" y="1874520"/>
            <a:ext cx="5486400" cy="2157984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sx="100000" sy="100000" kx="0" ky="0" algn="bl" rotWithShape="0" blurRad="114300" dist="38100" dir="8100000">
              <a:srgbClr val="0B3C49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40080" y="1874520"/>
            <a:ext cx="82296" cy="2157984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11" name="Text 9"/>
          <p:cNvSpPr/>
          <p:nvPr/>
        </p:nvSpPr>
        <p:spPr>
          <a:xfrm>
            <a:off x="896112" y="2020824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C72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输入数据 / 格式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914400" y="2404872"/>
            <a:ext cx="4983480" cy="1517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种模式：Uniprot / Recombinant / FASTA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Recombinant 列  epitope, HLA_allele, protein_seq, protein_name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肽段 8–14 个氨基酸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419088" y="1874520"/>
            <a:ext cx="5486400" cy="2157984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sx="100000" sy="100000" kx="0" ky="0" algn="bl" rotWithShape="0" blurRad="114300" dist="38100" dir="8100000">
              <a:srgbClr val="0B3C49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419088" y="1874520"/>
            <a:ext cx="82296" cy="2157984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15" name="Text 13"/>
          <p:cNvSpPr/>
          <p:nvPr/>
        </p:nvSpPr>
        <p:spPr>
          <a:xfrm>
            <a:off x="6675120" y="2020824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C72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 运行参数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6693408" y="2404872"/>
            <a:ext cx="4983480" cy="1517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--modelXG  选模型（neoant / noncan / 自定义）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--type  选输入模式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-o  输出文件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40080" y="4325112"/>
            <a:ext cx="5486400" cy="2157984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sx="100000" sy="100000" kx="0" ky="0" algn="bl" rotWithShape="0" blurRad="114300" dist="38100" dir="8100000">
              <a:srgbClr val="0B3C49">
                <a:alpha val="1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40080" y="4325112"/>
            <a:ext cx="82296" cy="2157984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19" name="Text 17"/>
          <p:cNvSpPr/>
          <p:nvPr/>
        </p:nvSpPr>
        <p:spPr>
          <a:xfrm>
            <a:off x="896112" y="4471416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C72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③ 输出格式 / 含义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914400" y="4855464"/>
            <a:ext cx="4983480" cy="1517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CSV，PredIG 列 = 0~1 连续免疫原性分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另附 13 列特征（切割/提呈/物化/TCR 接触等）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实测 SLLMWITQV = 0.0061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419088" y="4325112"/>
            <a:ext cx="5486400" cy="2157984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sx="100000" sy="100000" kx="0" ky="0" algn="bl" rotWithShape="0" blurRad="114300" dist="38100" dir="8100000">
              <a:srgbClr val="0B3C49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6419088" y="4325112"/>
            <a:ext cx="82296" cy="2157984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23" name="Text 21"/>
          <p:cNvSpPr/>
          <p:nvPr/>
        </p:nvSpPr>
        <p:spPr>
          <a:xfrm>
            <a:off x="6675120" y="4471416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C72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④ 简介 / 特点优势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6693408" y="4855464"/>
            <a:ext cx="4983480" cy="1517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连续分 + 可解释特征 + 容器化（依赖全打包，省去装环境）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环境：官方 Docker（14.4G）→ HPC 转 Singularity（4.6G）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限制：镜像体积大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640080" y="6419088"/>
            <a:ext cx="10972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i="1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来源  </a:t>
            </a:r>
            <a:pPr indent="0" marL="0">
              <a:buNone/>
            </a:pPr>
            <a:r>
              <a:rPr lang="en-US" sz="900" i="1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PredIG, Genome Medicine 2025 · DOI 10.1186/s13073-025-01569-8 · github.com/BSC-CNS-EAPM/PredIG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145743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2F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工具 3 / 10 · 工作原理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65836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pTuneos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640080" y="1335024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一整套新抗原流程；其中识别子模型可单独给肽段打分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" y="1783080"/>
            <a:ext cx="5349240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sx="100000" sy="100000" kx="0" ky="0" algn="bl" rotWithShape="0" blurRad="114300" dist="38100" dir="8100000">
              <a:srgbClr val="0B3C49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896112" y="1920240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用什么输入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896112" y="2231136"/>
            <a:ext cx="4846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完整流程要测序变异（VCF）、表达量、拷贝数、肿瘤纯度、HLA——需要全基因组数据，喂不了纯肽段。但它的识别子模型 Pre&amp;RecNeo 只要三列：突变肽、对应野生肽、HLA，这部分能用来跑 ELISpot 肽段。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96112" y="3520440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 模型怎么算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896112" y="3831336"/>
            <a:ext cx="4846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完整流程先把测序变异注释成突变肽，再逐层打分；识别子模型则针对一对「突变肽 vs 野生肽」算结合、相似度、被 T 细胞识别等特征，输出免疫识别分。本基准用的就是这个子模型。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96112" y="5120640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③ 给出什么输出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896112" y="5431536"/>
            <a:ext cx="4846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完整流程给患者级排名分（乘了表达量和突变频率，需测序）；子模型给纯肽免疫识别分，这部分可与其它工具横比。实测示例数据端到端跑出 40 个候选新抗原。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263640" y="1783080"/>
            <a:ext cx="5257800" cy="1463040"/>
          </a:xfrm>
          <a:prstGeom prst="roundRect">
            <a:avLst>
              <a:gd name="adj" fmla="val 5000"/>
            </a:avLst>
          </a:prstGeom>
          <a:solidFill>
            <a:srgbClr val="0B3C49"/>
          </a:solidFill>
          <a:ln/>
        </p:spPr>
      </p:sp>
      <p:sp>
        <p:nvSpPr>
          <p:cNvPr id="14" name="Text 12"/>
          <p:cNvSpPr/>
          <p:nvPr/>
        </p:nvSpPr>
        <p:spPr>
          <a:xfrm>
            <a:off x="6428232" y="1874520"/>
            <a:ext cx="4983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2C39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运行命令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428232" y="2185416"/>
            <a:ext cx="498348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D6F2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完整流程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D6F2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 pTuneos.py VCF -i config.yaml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D6F2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识别子模型（喂肽段）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D6F2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自写脚本调用 InVivoModelAndScore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263640" y="3429000"/>
            <a:ext cx="5257800" cy="1463040"/>
          </a:xfrm>
          <a:prstGeom prst="roundRect">
            <a:avLst>
              <a:gd name="adj" fmla="val 5000"/>
            </a:avLst>
          </a:prstGeom>
          <a:solidFill>
            <a:srgbClr val="0B3C49"/>
          </a:solidFill>
          <a:ln/>
        </p:spPr>
      </p:sp>
      <p:sp>
        <p:nvSpPr>
          <p:cNvPr id="17" name="Text 15"/>
          <p:cNvSpPr/>
          <p:nvPr/>
        </p:nvSpPr>
        <p:spPr>
          <a:xfrm>
            <a:off x="6428232" y="3520440"/>
            <a:ext cx="4983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2C39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输入数据样例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428232" y="3831336"/>
            <a:ext cx="498348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D6F2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子模型输入：三列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D6F2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MT_pep,     WT_pep,     HLA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D6F2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AAAVFKTLP,  AAAVFKTLR,  HLA-A*02:01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263640" y="5074920"/>
            <a:ext cx="5257800" cy="1280160"/>
          </a:xfrm>
          <a:prstGeom prst="roundRect">
            <a:avLst>
              <a:gd name="adj" fmla="val 5714"/>
            </a:avLst>
          </a:prstGeom>
          <a:solidFill>
            <a:srgbClr val="0B3C49"/>
          </a:solidFill>
          <a:ln/>
        </p:spPr>
      </p:sp>
      <p:sp>
        <p:nvSpPr>
          <p:cNvPr id="20" name="Text 18"/>
          <p:cNvSpPr/>
          <p:nvPr/>
        </p:nvSpPr>
        <p:spPr>
          <a:xfrm>
            <a:off x="6428232" y="5166360"/>
            <a:ext cx="4983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2C39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输出数据样例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6428232" y="5477256"/>
            <a:ext cx="49834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D6F2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子模型识别分 model_pro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D6F2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MT_pep      model_pro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D6F2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AAAVFKTLP   0.73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640080" y="6419088"/>
            <a:ext cx="10972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i="1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来源  </a:t>
            </a:r>
            <a:pPr indent="0" marL="0">
              <a:buNone/>
            </a:pPr>
            <a:r>
              <a:rPr lang="en-US" sz="900" i="1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pTuneos, Genome Medicine 2019 · DOI 10.1186/s13073-019-0679-x · github.com/bm2-lab/pTuneos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1145743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2F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工具 3 / 10 · 四类信息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65836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pTuneos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640080" y="1335024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一整套个性化新抗原流程（从测序数据到排名）；其中识别子模型可单独拿肽段来打分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9262872" y="658368"/>
            <a:ext cx="2286000" cy="384048"/>
          </a:xfrm>
          <a:prstGeom prst="roundRect">
            <a:avLst>
              <a:gd name="adj" fmla="val 50000"/>
            </a:avLst>
          </a:prstGeom>
          <a:solidFill>
            <a:srgbClr val="C9743D"/>
          </a:solidFill>
          <a:ln/>
        </p:spPr>
      </p:sp>
      <p:sp>
        <p:nvSpPr>
          <p:cNvPr id="7" name="Text 5"/>
          <p:cNvSpPr/>
          <p:nvPr/>
        </p:nvSpPr>
        <p:spPr>
          <a:xfrm>
            <a:off x="9262872" y="658368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⚠️ 子模型端到端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9262872" y="111556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方法  机器学习流程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40080" y="1874520"/>
            <a:ext cx="5486400" cy="2157984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sx="100000" sy="100000" kx="0" ky="0" algn="bl" rotWithShape="0" blurRad="114300" dist="38100" dir="8100000">
              <a:srgbClr val="0B3C49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40080" y="1874520"/>
            <a:ext cx="82296" cy="2157984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11" name="Text 9"/>
          <p:cNvSpPr/>
          <p:nvPr/>
        </p:nvSpPr>
        <p:spPr>
          <a:xfrm>
            <a:off x="896112" y="2020824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输入数据 / 格式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914400" y="2404872"/>
            <a:ext cx="4983480" cy="1517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完整流程：测序变异 + 表达量 + 拷贝数 + 纯度 + HLA（要全基因组，喂不了纯肽）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★ 识别子模型：只要 突变肽 + 野生肽 + HLA 三列（能跑 ELISpot 肽）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419088" y="1874520"/>
            <a:ext cx="5486400" cy="2157984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sx="100000" sy="100000" kx="0" ky="0" algn="bl" rotWithShape="0" blurRad="114300" dist="38100" dir="8100000">
              <a:srgbClr val="0B3C49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419088" y="1874520"/>
            <a:ext cx="82296" cy="2157984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15" name="Text 13"/>
          <p:cNvSpPr/>
          <p:nvPr/>
        </p:nvSpPr>
        <p:spPr>
          <a:xfrm>
            <a:off x="6675120" y="2020824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 运行参数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6693408" y="2404872"/>
            <a:ext cx="4983480" cy="1517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完整：python pTuneos.py  +  配置文件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子模型：自写脚本调用识别打分函数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可并行加速（多进程 + 批量结合预测）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40080" y="4325112"/>
            <a:ext cx="5486400" cy="2157984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sx="100000" sy="100000" kx="0" ky="0" algn="bl" rotWithShape="0" blurRad="114300" dist="38100" dir="8100000">
              <a:srgbClr val="0B3C49">
                <a:alpha val="1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40080" y="4325112"/>
            <a:ext cx="82296" cy="2157984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19" name="Text 17"/>
          <p:cNvSpPr/>
          <p:nvPr/>
        </p:nvSpPr>
        <p:spPr>
          <a:xfrm>
            <a:off x="896112" y="4471416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③ 输出格式 / 含义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914400" y="4855464"/>
            <a:ext cx="4983480" cy="1517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完整流程出患者级排名分（乘了表达/突变频率，需测序）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子模型出纯肽免疫原性识别分 → 这部分进基准、可与其它工具比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示例数据跑出 40 个候选新抗原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419088" y="4325112"/>
            <a:ext cx="5486400" cy="2157984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sx="100000" sy="100000" kx="0" ky="0" algn="bl" rotWithShape="0" blurRad="114300" dist="38100" dir="8100000">
              <a:srgbClr val="0B3C49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6419088" y="4325112"/>
            <a:ext cx="82296" cy="2157984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23" name="Text 21"/>
          <p:cNvSpPr/>
          <p:nvPr/>
        </p:nvSpPr>
        <p:spPr>
          <a:xfrm>
            <a:off x="6675120" y="4471416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④ 简介 / 特点优势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6693408" y="4855464"/>
            <a:ext cx="4983480" cy="1517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镜像自带 netMHCpan / VEP / GATK 等全套；修了 8 处坑 + 14G 注释缓存才端到端跑通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诚实说明：进基准用的是识别子模型，对账官方逻辑一致（r=1.0），不等于整条流程的端到端能力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完整流程在本地容器跑通；HPC 因权限限制未跑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640080" y="6419088"/>
            <a:ext cx="10972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i="1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来源  </a:t>
            </a:r>
            <a:pPr indent="0" marL="0">
              <a:buNone/>
            </a:pPr>
            <a:r>
              <a:rPr lang="en-US" sz="900" i="1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pTuneos, Genome Medicine 2019 · DOI 10.1186/s13073-019-0679-x · github.com/bm2-lab/pTuneos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145743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2F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1C72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工具 4 / 10 · 工作原理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65836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IMPROVE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640080" y="1335024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用随机森林给新表位打分，整合了 22 个特征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" y="1783080"/>
            <a:ext cx="5349240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sx="100000" sy="100000" kx="0" ky="0" algn="bl" rotWithShape="0" blurRad="114300" dist="38100" dir="8100000">
              <a:srgbClr val="0B3C49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896112" y="1920240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72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用什么输入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896112" y="2231136"/>
            <a:ext cx="4846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输入突变肽、对应野生肽、HLA（TSV 格式，肽段 8–12）。流程分两步：先算特征，再预测。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96112" y="3520440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72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 模型怎么算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896112" y="3831336"/>
            <a:ext cx="4846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第一步用外部工具算出 22 个特征（包含结合、稳定性、TCR 识别 PRIME 分、自相似度等）；第二步把特征喂给随机森林（每个变体 5 个森林做集成）综合打分。本基准里表达相关特征因 ELISpot 无 RNA 数据而降级。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96112" y="5120640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72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③ 给出什么输出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896112" y="5431536"/>
            <a:ext cx="4846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在输入表后追加一列 mean_prediction_rf，是多折多森林的集成平均分（0 到 1）。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263640" y="1783080"/>
            <a:ext cx="5257800" cy="1463040"/>
          </a:xfrm>
          <a:prstGeom prst="roundRect">
            <a:avLst>
              <a:gd name="adj" fmla="val 5000"/>
            </a:avLst>
          </a:prstGeom>
          <a:solidFill>
            <a:srgbClr val="0B3C49"/>
          </a:solidFill>
          <a:ln/>
        </p:spPr>
      </p:sp>
      <p:sp>
        <p:nvSpPr>
          <p:cNvPr id="14" name="Text 12"/>
          <p:cNvSpPr/>
          <p:nvPr/>
        </p:nvSpPr>
        <p:spPr>
          <a:xfrm>
            <a:off x="6428232" y="1874520"/>
            <a:ext cx="4983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2C39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运行命令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428232" y="2185416"/>
            <a:ext cx="498348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D6F2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第一步：算特征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D6F2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bash run_feature_calc.sh input.tsv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D6F2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第二步：预测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D6F2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 Predict.py --model Simple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263640" y="3429000"/>
            <a:ext cx="5257800" cy="1463040"/>
          </a:xfrm>
          <a:prstGeom prst="roundRect">
            <a:avLst>
              <a:gd name="adj" fmla="val 5000"/>
            </a:avLst>
          </a:prstGeom>
          <a:solidFill>
            <a:srgbClr val="0B3C49"/>
          </a:solidFill>
          <a:ln/>
        </p:spPr>
      </p:sp>
      <p:sp>
        <p:nvSpPr>
          <p:cNvPr id="17" name="Text 15"/>
          <p:cNvSpPr/>
          <p:nvPr/>
        </p:nvSpPr>
        <p:spPr>
          <a:xfrm>
            <a:off x="6428232" y="3520440"/>
            <a:ext cx="4983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2C39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输入数据样例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428232" y="3831336"/>
            <a:ext cx="498348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D6F2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TSV：突变肽 + 野生肽 + HLA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D6F2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Mut_pep     Norm_pep    HLA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D6F2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EEFLNSWML   EEFLNSWMV   HLA-B*08:01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263640" y="5074920"/>
            <a:ext cx="5257800" cy="1280160"/>
          </a:xfrm>
          <a:prstGeom prst="roundRect">
            <a:avLst>
              <a:gd name="adj" fmla="val 5714"/>
            </a:avLst>
          </a:prstGeom>
          <a:solidFill>
            <a:srgbClr val="0B3C49"/>
          </a:solidFill>
          <a:ln/>
        </p:spPr>
      </p:sp>
      <p:sp>
        <p:nvSpPr>
          <p:cNvPr id="20" name="Text 18"/>
          <p:cNvSpPr/>
          <p:nvPr/>
        </p:nvSpPr>
        <p:spPr>
          <a:xfrm>
            <a:off x="6428232" y="5166360"/>
            <a:ext cx="4983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2C39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输出数据样例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6428232" y="5477256"/>
            <a:ext cx="49834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D6F2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追加 mean_prediction_rf 列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D6F2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Mut_pep     mean_prediction_rf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D6F2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EEFLNSWML   0.5146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640080" y="6419088"/>
            <a:ext cx="10972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i="1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来源  </a:t>
            </a:r>
            <a:pPr indent="0" marL="0">
              <a:buNone/>
            </a:pPr>
            <a:r>
              <a:rPr lang="en-US" sz="900" i="1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IMPROVE, Frontiers in Immunology 2024 · DOI 10.3389/fimmu.2024.1360281 · github.com/SRHgroup/IMPROVE_tool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1145743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2F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1C72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工具 4 / 10 · 四类信息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65836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IMPROVE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640080" y="1335024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用随机森林给新表位的免疫原性打分，22 个特征，分三种变体模型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9262872" y="658368"/>
            <a:ext cx="2286000" cy="384048"/>
          </a:xfrm>
          <a:prstGeom prst="roundRect">
            <a:avLst>
              <a:gd name="adj" fmla="val 50000"/>
            </a:avLst>
          </a:prstGeom>
          <a:solidFill>
            <a:srgbClr val="C9743D"/>
          </a:solidFill>
          <a:ln/>
        </p:spPr>
      </p:sp>
      <p:sp>
        <p:nvSpPr>
          <p:cNvPr id="7" name="Text 5"/>
          <p:cNvSpPr/>
          <p:nvPr/>
        </p:nvSpPr>
        <p:spPr>
          <a:xfrm>
            <a:off x="9262872" y="658368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⚠️ 特征降级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9262872" y="111556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方法  随机森林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40080" y="1874520"/>
            <a:ext cx="5486400" cy="2157984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sx="100000" sy="100000" kx="0" ky="0" algn="bl" rotWithShape="0" blurRad="114300" dist="38100" dir="8100000">
              <a:srgbClr val="0B3C49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40080" y="1874520"/>
            <a:ext cx="82296" cy="2157984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11" name="Text 9"/>
          <p:cNvSpPr/>
          <p:nvPr/>
        </p:nvSpPr>
        <p:spPr>
          <a:xfrm>
            <a:off x="896112" y="2020824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C72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输入数据 / 格式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914400" y="2404872"/>
            <a:ext cx="4983480" cy="1517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TSV，必填  突变肽 + 野生肽 + HLA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肽段 8–12 个氨基酸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两步走：先算特征，再跑随机森林预测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419088" y="1874520"/>
            <a:ext cx="5486400" cy="2157984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sx="100000" sy="100000" kx="0" ky="0" algn="bl" rotWithShape="0" blurRad="114300" dist="38100" dir="8100000">
              <a:srgbClr val="0B3C49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419088" y="1874520"/>
            <a:ext cx="82296" cy="2157984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15" name="Text 13"/>
          <p:cNvSpPr/>
          <p:nvPr/>
        </p:nvSpPr>
        <p:spPr>
          <a:xfrm>
            <a:off x="6675120" y="2020824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C72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 运行参数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6693408" y="2404872"/>
            <a:ext cx="4983480" cy="1517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--model  选 Simple / TME_excluded / TME_included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每个变体加载 5 个森林做集成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40080" y="4325112"/>
            <a:ext cx="5486400" cy="2157984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sx="100000" sy="100000" kx="0" ky="0" algn="bl" rotWithShape="0" blurRad="114300" dist="38100" dir="8100000">
              <a:srgbClr val="0B3C49">
                <a:alpha val="1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40080" y="4325112"/>
            <a:ext cx="82296" cy="2157984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19" name="Text 17"/>
          <p:cNvSpPr/>
          <p:nvPr/>
        </p:nvSpPr>
        <p:spPr>
          <a:xfrm>
            <a:off x="896112" y="4471416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C72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③ 输出格式 / 含义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914400" y="4855464"/>
            <a:ext cx="4983480" cy="1517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TSV 追加一列  mean_prediction_rf（0~1 连续）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= 多折 × 多森林的集成平均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实测 Simple 变体 EEFLNSWML = 0.5146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419088" y="4325112"/>
            <a:ext cx="5486400" cy="2157984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sx="100000" sy="100000" kx="0" ky="0" algn="bl" rotWithShape="0" blurRad="114300" dist="38100" dir="8100000">
              <a:srgbClr val="0B3C49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6419088" y="4325112"/>
            <a:ext cx="82296" cy="2157984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23" name="Text 21"/>
          <p:cNvSpPr/>
          <p:nvPr/>
        </p:nvSpPr>
        <p:spPr>
          <a:xfrm>
            <a:off x="6675120" y="4471416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C72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④ 简介 / 特点优势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6693408" y="4855464"/>
            <a:ext cx="4983480" cy="1517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22 个特征专为新表位排名设计，整合了 TCR 识别信号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缺口：ELISpot 没有 RNA 表达量 → 表达相关特征降级；稳定性特征依赖的外部工具受系统库版本所限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预测步本地+HPC 都跑通；这是「数据缺一块」不是「装不上」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640080" y="6419088"/>
            <a:ext cx="10972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i="1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来源  </a:t>
            </a:r>
            <a:pPr indent="0" marL="0">
              <a:buNone/>
            </a:pPr>
            <a:r>
              <a:rPr lang="en-US" sz="900" i="1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IMPROVE, Frontiers in Immunology 2024 · DOI 10.3389/fimmu.2024.1360281 · github.com/SRHgroup/IMPROVE_tool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145743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2F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工具 5 / 10 · 工作原理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65836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NeoTImmuML ★ 自训版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640080" y="1335024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三种模型加权集成，用 78 个肽段物化特征；官方无权重，本基准为自训版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" y="1783080"/>
            <a:ext cx="5349240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sx="100000" sy="100000" kx="0" ky="0" algn="bl" rotWithShape="0" blurRad="114300" dist="38100" dir="8100000">
              <a:srgbClr val="0B3C49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896112" y="1920240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用什么输入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896112" y="2231136"/>
            <a:ext cx="4846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输入肽段加上 78 个物化特征（要先用 R 的 Peptides 包算好），不需要 HLA，肽段 8–13。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96112" y="3520440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 模型怎么算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896112" y="3831336"/>
            <a:ext cx="4846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 78 维特征喂给 LightGBM、XGBoost、随机森林三个模型，再加权集成成一个概率。官方仓库是研究用 notebook、没带预训练权重，所以本基准用公开肿瘤抗原库自己重训了一版（数值不对标原论文）。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96112" y="5120640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③ 给出什么输出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896112" y="5431536"/>
            <a:ext cx="4846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 0 到 1 的免疫原性概率（predict_proba），能用来排强弱；同时给分类指标和雷达图。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263640" y="1783080"/>
            <a:ext cx="5257800" cy="1463040"/>
          </a:xfrm>
          <a:prstGeom prst="roundRect">
            <a:avLst>
              <a:gd name="adj" fmla="val 5000"/>
            </a:avLst>
          </a:prstGeom>
          <a:solidFill>
            <a:srgbClr val="0B3C49"/>
          </a:solidFill>
          <a:ln/>
        </p:spPr>
      </p:sp>
      <p:sp>
        <p:nvSpPr>
          <p:cNvPr id="14" name="Text 12"/>
          <p:cNvSpPr/>
          <p:nvPr/>
        </p:nvSpPr>
        <p:spPr>
          <a:xfrm>
            <a:off x="6428232" y="1874520"/>
            <a:ext cx="4983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2C39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运行命令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428232" y="2185416"/>
            <a:ext cx="498348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D6F2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不是命令行，是 Jupyter notebook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D6F2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改 file_path 指向数据后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D6F2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顺序运行 21 个单元格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D6F2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（含 8 算法对比 + 加权集成）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263640" y="3429000"/>
            <a:ext cx="5257800" cy="1463040"/>
          </a:xfrm>
          <a:prstGeom prst="roundRect">
            <a:avLst>
              <a:gd name="adj" fmla="val 5000"/>
            </a:avLst>
          </a:prstGeom>
          <a:solidFill>
            <a:srgbClr val="0B3C49"/>
          </a:solidFill>
          <a:ln/>
        </p:spPr>
      </p:sp>
      <p:sp>
        <p:nvSpPr>
          <p:cNvPr id="17" name="Text 15"/>
          <p:cNvSpPr/>
          <p:nvPr/>
        </p:nvSpPr>
        <p:spPr>
          <a:xfrm>
            <a:off x="6428232" y="3520440"/>
            <a:ext cx="4983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2C39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输入数据样例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428232" y="3831336"/>
            <a:ext cx="498348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D6F2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CSV：肽段 + 标签 + 78 特征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D6F2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Peptide    label  feat1  feat2 ... feat78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D6F2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AAAVFKTLP  1      0.12   -0.4  ...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263640" y="5074920"/>
            <a:ext cx="5257800" cy="1280160"/>
          </a:xfrm>
          <a:prstGeom prst="roundRect">
            <a:avLst>
              <a:gd name="adj" fmla="val 5714"/>
            </a:avLst>
          </a:prstGeom>
          <a:solidFill>
            <a:srgbClr val="0B3C49"/>
          </a:solidFill>
          <a:ln/>
        </p:spPr>
      </p:sp>
      <p:sp>
        <p:nvSpPr>
          <p:cNvPr id="20" name="Text 18"/>
          <p:cNvSpPr/>
          <p:nvPr/>
        </p:nvSpPr>
        <p:spPr>
          <a:xfrm>
            <a:off x="6428232" y="5166360"/>
            <a:ext cx="4983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2C39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输出数据样例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6428232" y="5477256"/>
            <a:ext cx="49834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D6F2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predict_proba 连续概率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D6F2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Peptide    immuno_prob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D6F2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AAAVFKTLP  0.81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640080" y="6419088"/>
            <a:ext cx="10972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i="1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来源  </a:t>
            </a:r>
            <a:pPr indent="0" marL="0">
              <a:buNone/>
            </a:pPr>
            <a:r>
              <a:rPr lang="en-US" sz="900" i="1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NeoTImmuML, Frontiers in Immunology 2025 · DOI 10.3389/fimmu.2025.1681396 · github.com/01SYan19/NeoTImmuML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1145743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2F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工具 5 / 10 · 四类信息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65836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NeoTImmuML ★ 自训版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640080" y="1335024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三种模型加权集成（LightGBM+XGBoost+随机森林）预测肿瘤新抗原免疫原性，用 78 个肽段物化特征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9262872" y="658368"/>
            <a:ext cx="2286000" cy="384048"/>
          </a:xfrm>
          <a:prstGeom prst="roundRect">
            <a:avLst>
              <a:gd name="adj" fmla="val 50000"/>
            </a:avLst>
          </a:prstGeom>
          <a:solidFill>
            <a:srgbClr val="C9743D"/>
          </a:solidFill>
          <a:ln/>
        </p:spPr>
      </p:sp>
      <p:sp>
        <p:nvSpPr>
          <p:cNvPr id="7" name="Text 5"/>
          <p:cNvSpPr/>
          <p:nvPr/>
        </p:nvSpPr>
        <p:spPr>
          <a:xfrm>
            <a:off x="9262872" y="658368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⚠️ 自训版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9262872" y="111556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方法  集成机器学习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40080" y="1874520"/>
            <a:ext cx="5486400" cy="2157984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sx="100000" sy="100000" kx="0" ky="0" algn="bl" rotWithShape="0" blurRad="114300" dist="38100" dir="8100000">
              <a:srgbClr val="0B3C49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40080" y="1874520"/>
            <a:ext cx="82296" cy="2157984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11" name="Text 9"/>
          <p:cNvSpPr/>
          <p:nvPr/>
        </p:nvSpPr>
        <p:spPr>
          <a:xfrm>
            <a:off x="896112" y="2020824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输入数据 / 格式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914400" y="2404872"/>
            <a:ext cx="4983480" cy="1517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CSV：肽段 + 标签 + 78 个物化特征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肽段 8–13 个氨基酸，不需要 HLA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78 个特征要先用 R 的 Peptides 包算好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419088" y="1874520"/>
            <a:ext cx="5486400" cy="2157984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sx="100000" sy="100000" kx="0" ky="0" algn="bl" rotWithShape="0" blurRad="114300" dist="38100" dir="8100000">
              <a:srgbClr val="0B3C49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419088" y="1874520"/>
            <a:ext cx="82296" cy="2157984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15" name="Text 13"/>
          <p:cNvSpPr/>
          <p:nvPr/>
        </p:nvSpPr>
        <p:spPr>
          <a:xfrm>
            <a:off x="6675120" y="2020824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 运行参数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6693408" y="2404872"/>
            <a:ext cx="4983480" cy="1517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不是命令行，是 Jupyter notebook（21 个单元格）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改路径指向数据；内含 8 种算法对比 + 加权集成 + 交叉验证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40080" y="4325112"/>
            <a:ext cx="5486400" cy="2157984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sx="100000" sy="100000" kx="0" ky="0" algn="bl" rotWithShape="0" blurRad="114300" dist="38100" dir="8100000">
              <a:srgbClr val="0B3C49">
                <a:alpha val="1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40080" y="4325112"/>
            <a:ext cx="82296" cy="2157984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19" name="Text 17"/>
          <p:cNvSpPr/>
          <p:nvPr/>
        </p:nvSpPr>
        <p:spPr>
          <a:xfrm>
            <a:off x="896112" y="4471416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③ 输出格式 / 含义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914400" y="4855464"/>
            <a:ext cx="4983480" cy="1517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分类指标 + 雷达图 + 连续概率（能分强弱）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★ 官方没放预训练权重 → 基准用我们自训的版本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数值不对标原论文精度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419088" y="4325112"/>
            <a:ext cx="5486400" cy="2157984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sx="100000" sy="100000" kx="0" ky="0" algn="bl" rotWithShape="0" blurRad="114300" dist="38100" dir="8100000">
              <a:srgbClr val="0B3C49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6419088" y="4325112"/>
            <a:ext cx="82296" cy="2157984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23" name="Text 21"/>
          <p:cNvSpPr/>
          <p:nvPr/>
        </p:nvSpPr>
        <p:spPr>
          <a:xfrm>
            <a:off x="6675120" y="4471416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④ 简介 / 特点优势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6693408" y="4855464"/>
            <a:ext cx="4983480" cy="1517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纯肽段特征，不要 HLA、不要任何收费工具，装起来最省心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限制：是研究用 notebook，没带权重 → 用公开肿瘤抗原库重训了一版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不含 78 特征的计算代码 → 要自己用 R 算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640080" y="6419088"/>
            <a:ext cx="10972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i="1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来源  </a:t>
            </a:r>
            <a:pPr indent="0" marL="0">
              <a:buNone/>
            </a:pPr>
            <a:r>
              <a:rPr lang="en-US" sz="900" i="1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NeoTImmuML, Frontiers in Immunology 2025 · DOI 10.3389/fimmu.2025.1681396 · github.com/01SYan19/NeoTImmuML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145743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13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2F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1C72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工具 6 / 10 · 工作原理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65836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PRIME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640080" y="1335024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轻量打分模型：把提呈分、TCR 接触特征、肽长揉成一个免疫原性分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" y="1783080"/>
            <a:ext cx="5349240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sx="100000" sy="100000" kx="0" ky="0" algn="bl" rotWithShape="0" blurRad="114300" dist="38100" dir="8100000">
              <a:srgbClr val="0B3C49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896112" y="1920240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72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用什么输入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896112" y="2231136"/>
            <a:ext cx="4846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只要肽段（每行一条或 FASTA）和 HLA（命令行 -a 指定），肽段 8–14。HLA 写法很宽松。依赖链最短，十个里最好装。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96112" y="3520440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72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 模型怎么算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896112" y="3831336"/>
            <a:ext cx="4846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先用 MixMHCpred 算出 HLA 提呈分，再结合 TCR 接触位点的氨基酸频率特征和肽段长度，用一个轻量打分模型（非深度学习）综合成免疫原性排名分。CPU 即可、很快。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96112" y="5120640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72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③ 给出什么输出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896112" y="5431536"/>
            <a:ext cx="4846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输出每条肽段跨所有 HLA 的最优 %Rank（越低越好）和 PRIME Score（连续，量化强弱），以及最优 allele。实测 147 行输出与官方答案逐字一致。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263640" y="1783080"/>
            <a:ext cx="5257800" cy="1463040"/>
          </a:xfrm>
          <a:prstGeom prst="roundRect">
            <a:avLst>
              <a:gd name="adj" fmla="val 5000"/>
            </a:avLst>
          </a:prstGeom>
          <a:solidFill>
            <a:srgbClr val="0B3C49"/>
          </a:solidFill>
          <a:ln/>
        </p:spPr>
      </p:sp>
      <p:sp>
        <p:nvSpPr>
          <p:cNvPr id="14" name="Text 12"/>
          <p:cNvSpPr/>
          <p:nvPr/>
        </p:nvSpPr>
        <p:spPr>
          <a:xfrm>
            <a:off x="6428232" y="1874520"/>
            <a:ext cx="4983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2C39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运行命令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428232" y="2185416"/>
            <a:ext cx="498348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D6F2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./PRIME \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D6F2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-i test/test.txt \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D6F2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-o test/out.txt \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D6F2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-a A0101,A2501,B0801 \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D6F2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-mix &lt;MixMHCpred 路径&gt;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263640" y="3429000"/>
            <a:ext cx="5257800" cy="1463040"/>
          </a:xfrm>
          <a:prstGeom prst="roundRect">
            <a:avLst>
              <a:gd name="adj" fmla="val 5000"/>
            </a:avLst>
          </a:prstGeom>
          <a:solidFill>
            <a:srgbClr val="0B3C49"/>
          </a:solidFill>
          <a:ln/>
        </p:spPr>
      </p:sp>
      <p:sp>
        <p:nvSpPr>
          <p:cNvPr id="17" name="Text 15"/>
          <p:cNvSpPr/>
          <p:nvPr/>
        </p:nvSpPr>
        <p:spPr>
          <a:xfrm>
            <a:off x="6428232" y="3520440"/>
            <a:ext cx="4983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2C39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输入数据样例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428232" y="3831336"/>
            <a:ext cx="498348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D6F2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每行一条肽段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D6F2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VMLQAPLFT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D6F2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GILGFVFTL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263640" y="5074920"/>
            <a:ext cx="5257800" cy="1280160"/>
          </a:xfrm>
          <a:prstGeom prst="roundRect">
            <a:avLst>
              <a:gd name="adj" fmla="val 5714"/>
            </a:avLst>
          </a:prstGeom>
          <a:solidFill>
            <a:srgbClr val="0B3C49"/>
          </a:solidFill>
          <a:ln/>
        </p:spPr>
      </p:sp>
      <p:sp>
        <p:nvSpPr>
          <p:cNvPr id="20" name="Text 18"/>
          <p:cNvSpPr/>
          <p:nvPr/>
        </p:nvSpPr>
        <p:spPr>
          <a:xfrm>
            <a:off x="6428232" y="5166360"/>
            <a:ext cx="4983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2C39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输出数据样例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6428232" y="5477256"/>
            <a:ext cx="49834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D6F2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Peptide    %Rank   Score     BestAllele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D6F2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VMLQAPLFT  3.901   0.01024   B0801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640080" y="6419088"/>
            <a:ext cx="10972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i="1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来源  </a:t>
            </a:r>
            <a:pPr indent="0" marL="0">
              <a:buNone/>
            </a:pPr>
            <a:r>
              <a:rPr lang="en-US" sz="900" i="1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PRIME, Cell Reports Medicine 2021 / Cell Systems 2023 · DOI 10.1016/j.celrep.2021.100194 · 10.1016/j.cels.2022.12.002 · github.com/GfellerLab/PRIME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1145743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14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2F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1C72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工具 6 / 10 · 四类信息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65836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PRIME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640080" y="1335024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轻量模型预测新表位免疫原性：把 HLA 提呈分 + TCR 接触位点氨基酸频率 + 肽长 揉成一个排名分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9262872" y="658368"/>
            <a:ext cx="2286000" cy="384048"/>
          </a:xfrm>
          <a:prstGeom prst="roundRect">
            <a:avLst>
              <a:gd name="adj" fmla="val 50000"/>
            </a:avLst>
          </a:prstGeom>
          <a:solidFill>
            <a:srgbClr val="00A896"/>
          </a:solidFill>
          <a:ln/>
        </p:spPr>
      </p:sp>
      <p:sp>
        <p:nvSpPr>
          <p:cNvPr id="7" name="Text 5"/>
          <p:cNvSpPr/>
          <p:nvPr/>
        </p:nvSpPr>
        <p:spPr>
          <a:xfrm>
            <a:off x="9262872" y="658368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✅ 完整 (对账 r=1.0)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9262872" y="111556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方法  轻量打分模型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40080" y="1874520"/>
            <a:ext cx="5486400" cy="2157984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sx="100000" sy="100000" kx="0" ky="0" algn="bl" rotWithShape="0" blurRad="114300" dist="38100" dir="8100000">
              <a:srgbClr val="0B3C49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40080" y="1874520"/>
            <a:ext cx="82296" cy="2157984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11" name="Text 9"/>
          <p:cNvSpPr/>
          <p:nvPr/>
        </p:nvSpPr>
        <p:spPr>
          <a:xfrm>
            <a:off x="896112" y="2020824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C72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输入数据 / 格式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914400" y="2404872"/>
            <a:ext cx="4983480" cy="1517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纯文本（每行一条肽段）或 FASTA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HLA 用命令行 -a 指定，多个逗号分隔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肽段 8–14；HLA 写法很宽松（A0101 / A01:01 / HLA-A*01:01 都行）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419088" y="1874520"/>
            <a:ext cx="5486400" cy="2157984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sx="100000" sy="100000" kx="0" ky="0" algn="bl" rotWithShape="0" blurRad="114300" dist="38100" dir="8100000">
              <a:srgbClr val="0B3C49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419088" y="1874520"/>
            <a:ext cx="82296" cy="2157984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15" name="Text 13"/>
          <p:cNvSpPr/>
          <p:nvPr/>
        </p:nvSpPr>
        <p:spPr>
          <a:xfrm>
            <a:off x="6675120" y="2020824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C72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 运行参数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6693408" y="2404872"/>
            <a:ext cx="4983480" cy="1517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-i 输入  -o 输出  -a HLA 列表  -mix 指定 MixMHCpred 路径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模型版本 v2.1（需配 MixMHCpred v3.0+）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40080" y="4325112"/>
            <a:ext cx="5486400" cy="2157984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sx="100000" sy="100000" kx="0" ky="0" algn="bl" rotWithShape="0" blurRad="114300" dist="38100" dir="8100000">
              <a:srgbClr val="0B3C49">
                <a:alpha val="1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40080" y="4325112"/>
            <a:ext cx="82296" cy="2157984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19" name="Text 17"/>
          <p:cNvSpPr/>
          <p:nvPr/>
        </p:nvSpPr>
        <p:spPr>
          <a:xfrm>
            <a:off x="896112" y="4471416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C72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③ 输出格式 / 含义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914400" y="4855464"/>
            <a:ext cx="4983480" cy="1517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文本 5 列：肽段 / 最优%Rank / PRIME Score / 结合%Rank / 最优 allele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PRIME Score 连续，量化免疫原性强弱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实测 147 行输出与官方答案逐字一致（diff=0）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419088" y="4325112"/>
            <a:ext cx="5486400" cy="2157984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sx="100000" sy="100000" kx="0" ky="0" algn="bl" rotWithShape="0" blurRad="114300" dist="38100" dir="8100000">
              <a:srgbClr val="0B3C49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6419088" y="4325112"/>
            <a:ext cx="82296" cy="2157984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23" name="Text 21"/>
          <p:cNvSpPr/>
          <p:nvPr/>
        </p:nvSpPr>
        <p:spPr>
          <a:xfrm>
            <a:off x="6675120" y="4471416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C72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④ 简介 / 特点优势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6693408" y="4855464"/>
            <a:ext cx="4983480" cy="1517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直接出免疫原性连续分；依赖链最短（只要 MixMHCpred，无收费工具），五个里装起来最容易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方法非深度学习，轻快、CPU 即可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限制：肽长 8–14；需对齐 MixMHCpred 版本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640080" y="6419088"/>
            <a:ext cx="10972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i="1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来源  </a:t>
            </a:r>
            <a:pPr indent="0" marL="0">
              <a:buNone/>
            </a:pPr>
            <a:r>
              <a:rPr lang="en-US" sz="900" i="1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PRIME, Cell Reports Medicine 2021 / Cell Systems 2023 · DOI 10.1016/j.celrep.2021.100194 · 10.1016/j.cels.2022.12.002 · github.com/GfellerLab/PRIME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145743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15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2F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工具 7 / 10 · 工作原理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65836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ImmuneApp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640080" y="1335024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带注意力的 CNN-LSTM，做 HLA-I 表位与免疫原性预测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" y="1783080"/>
            <a:ext cx="5349240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sx="100000" sy="100000" kx="0" ky="0" algn="bl" rotWithShape="0" blurRad="114300" dist="38100" dir="8100000">
              <a:srgbClr val="0B3C49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896112" y="1920240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用什么输入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896112" y="2231136"/>
            <a:ext cx="4846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输入肽段（每行一条）和 HLA（-a 指定），肽段 8–15，仅 20 种标准氨基酸。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96112" y="3520440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 模型怎么算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896112" y="3831336"/>
            <a:ext cx="4846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用注意力机制的 CNN-LSTM 混合网络处理肽段序列，注意力能指出哪些残基对结合关键；其中免疫原性模块由迁移学习得到。仅支持 HLA-I。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96112" y="5120640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③ 给出什么输出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896112" y="5431536"/>
            <a:ext cx="4846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 TSV，每条肽段每个 HLA 一行，给 0 到 1 的 Immunogenicity_score。实测 CILGKLFTKK=0.99997、ALPPTVYEV=0.00068。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263640" y="1783080"/>
            <a:ext cx="5257800" cy="1463040"/>
          </a:xfrm>
          <a:prstGeom prst="roundRect">
            <a:avLst>
              <a:gd name="adj" fmla="val 5000"/>
            </a:avLst>
          </a:prstGeom>
          <a:solidFill>
            <a:srgbClr val="0B3C49"/>
          </a:solidFill>
          <a:ln/>
        </p:spPr>
      </p:sp>
      <p:sp>
        <p:nvSpPr>
          <p:cNvPr id="14" name="Text 12"/>
          <p:cNvSpPr/>
          <p:nvPr/>
        </p:nvSpPr>
        <p:spPr>
          <a:xfrm>
            <a:off x="6428232" y="1874520"/>
            <a:ext cx="4983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2C39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运行命令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428232" y="2185416"/>
            <a:ext cx="498348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D6F2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 \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D6F2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ImmuneApp_immunogenicity_prediction.py \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D6F2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-f test_immunogenicity.txt \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D6F2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-a 'HLA-A*01:01' 'HLA-A*02:01' \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D6F2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-o results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263640" y="3429000"/>
            <a:ext cx="5257800" cy="1463040"/>
          </a:xfrm>
          <a:prstGeom prst="roundRect">
            <a:avLst>
              <a:gd name="adj" fmla="val 5000"/>
            </a:avLst>
          </a:prstGeom>
          <a:solidFill>
            <a:srgbClr val="0B3C49"/>
          </a:solidFill>
          <a:ln/>
        </p:spPr>
      </p:sp>
      <p:sp>
        <p:nvSpPr>
          <p:cNvPr id="17" name="Text 15"/>
          <p:cNvSpPr/>
          <p:nvPr/>
        </p:nvSpPr>
        <p:spPr>
          <a:xfrm>
            <a:off x="6428232" y="3520440"/>
            <a:ext cx="4983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2C39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输入数据样例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428232" y="3831336"/>
            <a:ext cx="498348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D6F2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每行一条肽段 + 命令行 -a 给 HLA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D6F2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CILGKLFTKK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D6F2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ALPPTVYEV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263640" y="5074920"/>
            <a:ext cx="5257800" cy="1280160"/>
          </a:xfrm>
          <a:prstGeom prst="roundRect">
            <a:avLst>
              <a:gd name="adj" fmla="val 5714"/>
            </a:avLst>
          </a:prstGeom>
          <a:solidFill>
            <a:srgbClr val="0B3C49"/>
          </a:solidFill>
          <a:ln/>
        </p:spPr>
      </p:sp>
      <p:sp>
        <p:nvSpPr>
          <p:cNvPr id="20" name="Text 18"/>
          <p:cNvSpPr/>
          <p:nvPr/>
        </p:nvSpPr>
        <p:spPr>
          <a:xfrm>
            <a:off x="6428232" y="5166360"/>
            <a:ext cx="4983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2C39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输出数据样例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6428232" y="5477256"/>
            <a:ext cx="49834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D6F2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Allele       Peptide      Immunogenicity_score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D6F2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HLA-A*01:01  CILGKLFTKK   0.99997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D6F2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HLA-A*01:01  ALPPTVYEV    0.00068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640080" y="6419088"/>
            <a:ext cx="10972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i="1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来源  </a:t>
            </a:r>
            <a:pPr indent="0" marL="0">
              <a:buNone/>
            </a:pPr>
            <a:r>
              <a:rPr lang="en-US" sz="900" i="1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ImmuneApp, Nature Communications 2024 · DOI 10.1038/s41467-024-53296-0 · github.com/bsml320/ImmuneApp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1145743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16</a:t>
            </a:r>
            <a:endParaRPr lang="en-US" sz="11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2F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工具 7 / 10 · 四类信息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65836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ImmuneApp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640080" y="1335024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带注意力的 CNN-LSTM，做 HLA-I 表位预测 + 免疫肽组分析；其中 Neo 模块专做免疫原性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9262872" y="658368"/>
            <a:ext cx="2286000" cy="384048"/>
          </a:xfrm>
          <a:prstGeom prst="roundRect">
            <a:avLst>
              <a:gd name="adj" fmla="val 50000"/>
            </a:avLst>
          </a:prstGeom>
          <a:solidFill>
            <a:srgbClr val="00A896"/>
          </a:solidFill>
          <a:ln/>
        </p:spPr>
      </p:sp>
      <p:sp>
        <p:nvSpPr>
          <p:cNvPr id="7" name="Text 5"/>
          <p:cNvSpPr/>
          <p:nvPr/>
        </p:nvSpPr>
        <p:spPr>
          <a:xfrm>
            <a:off x="9262872" y="658368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✅ 完整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9262872" y="111556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方法  CNN-LSTM + 注意力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40080" y="1874520"/>
            <a:ext cx="5486400" cy="2157984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sx="100000" sy="100000" kx="0" ky="0" algn="bl" rotWithShape="0" blurRad="114300" dist="38100" dir="8100000">
              <a:srgbClr val="0B3C49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40080" y="1874520"/>
            <a:ext cx="82296" cy="2157984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11" name="Text 9"/>
          <p:cNvSpPr/>
          <p:nvPr/>
        </p:nvSpPr>
        <p:spPr>
          <a:xfrm>
            <a:off x="896112" y="2020824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输入数据 / 格式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914400" y="2404872"/>
            <a:ext cx="4983480" cy="1517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纯肽段文本（每行一条，无表头）+ 命令行 -a 指定 HLA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肽段 8–15 个氨基酸（仅 20 种标准氨基酸）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HLA 写法  HLA-A*01:01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419088" y="1874520"/>
            <a:ext cx="5486400" cy="2157984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sx="100000" sy="100000" kx="0" ky="0" algn="bl" rotWithShape="0" blurRad="114300" dist="38100" dir="8100000">
              <a:srgbClr val="0B3C49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419088" y="1874520"/>
            <a:ext cx="82296" cy="2157984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15" name="Text 13"/>
          <p:cNvSpPr/>
          <p:nvPr/>
        </p:nvSpPr>
        <p:spPr>
          <a:xfrm>
            <a:off x="6675120" y="2020824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 运行参数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6693408" y="2404872"/>
            <a:ext cx="4983480" cy="1517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-f 肽段文件  -a HLA 列表  -o 输出目录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多个模块（结合/洗脱/提呈/免疫原性），本项目用免疫原性模块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40080" y="4325112"/>
            <a:ext cx="5486400" cy="2157984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sx="100000" sy="100000" kx="0" ky="0" algn="bl" rotWithShape="0" blurRad="114300" dist="38100" dir="8100000">
              <a:srgbClr val="0B3C49">
                <a:alpha val="1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40080" y="4325112"/>
            <a:ext cx="82296" cy="2157984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19" name="Text 17"/>
          <p:cNvSpPr/>
          <p:nvPr/>
        </p:nvSpPr>
        <p:spPr>
          <a:xfrm>
            <a:off x="896112" y="4471416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③ 输出格式 / 含义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914400" y="4855464"/>
            <a:ext cx="4983480" cy="1517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TSV：Allele / Peptide / Sample / Immunogenicity_score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分数 0~1 连续；每条肽段每个 HLA 各出一行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实测 CILGKLFTKK = 0.99997、ALPPTVYEV = 0.00068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419088" y="4325112"/>
            <a:ext cx="5486400" cy="2157984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sx="100000" sy="100000" kx="0" ky="0" algn="bl" rotWithShape="0" blurRad="114300" dist="38100" dir="8100000">
              <a:srgbClr val="0B3C49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6419088" y="4325112"/>
            <a:ext cx="82296" cy="2157984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23" name="Text 21"/>
          <p:cNvSpPr/>
          <p:nvPr/>
        </p:nvSpPr>
        <p:spPr>
          <a:xfrm>
            <a:off x="6675120" y="4471416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④ 简介 / 特点优势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6693408" y="4855464"/>
            <a:ext cx="4983480" cy="1517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HLA-I 提呈方向性能领先，预训练权重随仓库带、MIT 许可无障碍、不依赖收费工具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方法可解释（注意力能指出关键结合残基）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限制：仅 HLA-I；TF1.15 老环境易踩坑；训练数据含公开库 → 注意与测试集重叠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640080" y="6419088"/>
            <a:ext cx="10972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i="1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来源  </a:t>
            </a:r>
            <a:pPr indent="0" marL="0">
              <a:buNone/>
            </a:pPr>
            <a:r>
              <a:rPr lang="en-US" sz="900" i="1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ImmuneApp, Nature Communications 2024 · DOI 10.1038/s41467-024-53296-0 · github.com/bsml320/ImmuneApp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145743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17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2F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1C72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工具 8 / 10 · 工作原理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65836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deepHLApan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640080" y="1335024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双向循环网络+注意力，一次给出结合分和免疫原性分（仅 MHC-I）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" y="1783080"/>
            <a:ext cx="5349240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sx="100000" sy="100000" kx="0" ky="0" algn="bl" rotWithShape="0" blurRad="114300" dist="38100" dir="8100000">
              <a:srgbClr val="0B3C49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896112" y="1920240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72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用什么输入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896112" y="2231136"/>
            <a:ext cx="4846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输入 CSV，必须有表头 Annotation,HLA,peptide，肽段 8–15。HLA 写法特殊：HLA-A01:01（无星号、连字符直连）。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96112" y="3520440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72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 模型怎么算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896112" y="3831336"/>
            <a:ext cx="4846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用三层双向 GRU 加注意力处理肽段+HLA，同时输出两个任务的分：一个判结合/提呈，一个判免疫原性，无需手动切换。训练数据含公开库，需注意与测试集重叠。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96112" y="5120640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72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③ 给出什么输出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896112" y="5431536"/>
            <a:ext cx="4846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 CSV，给 binding score 和 immunogenic score（都是 0–1）。高置信新抗原定义为免疫原性 &gt;0.5 且结合排名前 20。实测 MKRFVQWL/HLA-C07:02 结合 0.99、免疫原性 0.97。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263640" y="1783080"/>
            <a:ext cx="5257800" cy="1463040"/>
          </a:xfrm>
          <a:prstGeom prst="roundRect">
            <a:avLst>
              <a:gd name="adj" fmla="val 5000"/>
            </a:avLst>
          </a:prstGeom>
          <a:solidFill>
            <a:srgbClr val="0B3C49"/>
          </a:solidFill>
          <a:ln/>
        </p:spPr>
      </p:sp>
      <p:sp>
        <p:nvSpPr>
          <p:cNvPr id="14" name="Text 12"/>
          <p:cNvSpPr/>
          <p:nvPr/>
        </p:nvSpPr>
        <p:spPr>
          <a:xfrm>
            <a:off x="6428232" y="1874520"/>
            <a:ext cx="4983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2C39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运行命令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428232" y="2185416"/>
            <a:ext cx="498348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D6F2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先建好输出目录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D6F2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mkdir -p out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D6F2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deephlapan -F input.csv -O out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263640" y="3429000"/>
            <a:ext cx="5257800" cy="1463040"/>
          </a:xfrm>
          <a:prstGeom prst="roundRect">
            <a:avLst>
              <a:gd name="adj" fmla="val 5000"/>
            </a:avLst>
          </a:prstGeom>
          <a:solidFill>
            <a:srgbClr val="0B3C49"/>
          </a:solidFill>
          <a:ln/>
        </p:spPr>
      </p:sp>
      <p:sp>
        <p:nvSpPr>
          <p:cNvPr id="17" name="Text 15"/>
          <p:cNvSpPr/>
          <p:nvPr/>
        </p:nvSpPr>
        <p:spPr>
          <a:xfrm>
            <a:off x="6428232" y="3520440"/>
            <a:ext cx="4983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2C39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输入数据样例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428232" y="3831336"/>
            <a:ext cx="498348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D6F2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CSV，必须有表头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D6F2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Annotation,HLA,peptide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D6F2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test,HLA-A01:01,MKRFVQWL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263640" y="5074920"/>
            <a:ext cx="5257800" cy="1280160"/>
          </a:xfrm>
          <a:prstGeom prst="roundRect">
            <a:avLst>
              <a:gd name="adj" fmla="val 5714"/>
            </a:avLst>
          </a:prstGeom>
          <a:solidFill>
            <a:srgbClr val="0B3C49"/>
          </a:solidFill>
          <a:ln/>
        </p:spPr>
      </p:sp>
      <p:sp>
        <p:nvSpPr>
          <p:cNvPr id="20" name="Text 18"/>
          <p:cNvSpPr/>
          <p:nvPr/>
        </p:nvSpPr>
        <p:spPr>
          <a:xfrm>
            <a:off x="6428232" y="5166360"/>
            <a:ext cx="4983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2C39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输出数据样例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6428232" y="5477256"/>
            <a:ext cx="49834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D6F2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Annotation,HLA,Peptide,binding score,immunogenic score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D6F2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test,HLA-C07:02,MKRFVQWL,0.9919,0.972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640080" y="6419088"/>
            <a:ext cx="10972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i="1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来源  </a:t>
            </a:r>
            <a:pPr indent="0" marL="0">
              <a:buNone/>
            </a:pPr>
            <a:r>
              <a:rPr lang="en-US" sz="900" i="1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DeepHLApan, Frontiers in Immunology 2019 · DOI 10.3389/fimmu.2019.02559 · github.com/jiujiezz/deephlapan（GPL-2.0）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1145743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18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2F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1C72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工具 8 / 10 · 四类信息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65836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deepHLApan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640080" y="1335024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双向循环网络+注意力，两个模型一起出：一个判结合/提呈，一个判免疫原性（仅 MHC-I）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9262872" y="658368"/>
            <a:ext cx="2286000" cy="384048"/>
          </a:xfrm>
          <a:prstGeom prst="roundRect">
            <a:avLst>
              <a:gd name="adj" fmla="val 50000"/>
            </a:avLst>
          </a:prstGeom>
          <a:solidFill>
            <a:srgbClr val="00A896"/>
          </a:solidFill>
          <a:ln/>
        </p:spPr>
      </p:sp>
      <p:sp>
        <p:nvSpPr>
          <p:cNvPr id="7" name="Text 5"/>
          <p:cNvSpPr/>
          <p:nvPr/>
        </p:nvSpPr>
        <p:spPr>
          <a:xfrm>
            <a:off x="9262872" y="658368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✅ 完整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9262872" y="111556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方法  双向循环网络 BiGRU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40080" y="1874520"/>
            <a:ext cx="5486400" cy="2157984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sx="100000" sy="100000" kx="0" ky="0" algn="bl" rotWithShape="0" blurRad="114300" dist="38100" dir="8100000">
              <a:srgbClr val="0B3C49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40080" y="1874520"/>
            <a:ext cx="82296" cy="2157984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11" name="Text 9"/>
          <p:cNvSpPr/>
          <p:nvPr/>
        </p:nvSpPr>
        <p:spPr>
          <a:xfrm>
            <a:off x="896112" y="2020824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C72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输入数据 / 格式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914400" y="2404872"/>
            <a:ext cx="4983480" cy="1517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CSV，必须有表头  Annotation, HLA, peptide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肽段 8–15 个氨基酸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HLA 写法  HLA-A01:01（注意：无星号、连字符直连）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419088" y="1874520"/>
            <a:ext cx="5486400" cy="2157984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sx="100000" sy="100000" kx="0" ky="0" algn="bl" rotWithShape="0" blurRad="114300" dist="38100" dir="8100000">
              <a:srgbClr val="0B3C49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419088" y="1874520"/>
            <a:ext cx="82296" cy="2157984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15" name="Text 13"/>
          <p:cNvSpPr/>
          <p:nvPr/>
        </p:nvSpPr>
        <p:spPr>
          <a:xfrm>
            <a:off x="6675120" y="2020824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C72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 运行参数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6693408" y="2404872"/>
            <a:ext cx="4983480" cy="1517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-F 输入 CSV，或 -P 单肽 + -H 单 HLA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两个模型一次出结果，无需手动切换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40080" y="4325112"/>
            <a:ext cx="5486400" cy="2157984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sx="100000" sy="100000" kx="0" ky="0" algn="bl" rotWithShape="0" blurRad="114300" dist="38100" dir="8100000">
              <a:srgbClr val="0B3C49">
                <a:alpha val="1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40080" y="4325112"/>
            <a:ext cx="82296" cy="2157984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19" name="Text 17"/>
          <p:cNvSpPr/>
          <p:nvPr/>
        </p:nvSpPr>
        <p:spPr>
          <a:xfrm>
            <a:off x="896112" y="4471416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C72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③ 输出格式 / 含义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914400" y="4855464"/>
            <a:ext cx="4983480" cy="1517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CSV：binding score + immunogenic score（都是 0~1）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高置信新抗原 = 免疫原性 &gt;0.5 且结合排名前 20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实测 MKRFVQWL/HLA-C07:02  结合=0.99 免疫原性=0.97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419088" y="4325112"/>
            <a:ext cx="5486400" cy="2157984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sx="100000" sy="100000" kx="0" ky="0" algn="bl" rotWithShape="0" blurRad="114300" dist="38100" dir="8100000">
              <a:srgbClr val="0B3C49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6419088" y="4325112"/>
            <a:ext cx="82296" cy="2157984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23" name="Text 21"/>
          <p:cNvSpPr/>
          <p:nvPr/>
        </p:nvSpPr>
        <p:spPr>
          <a:xfrm>
            <a:off x="6675120" y="4471416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C72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④ 简介 / 特点优势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6693408" y="4855464"/>
            <a:ext cx="4983480" cy="1517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一次同时给「结合 + 免疫原性」两个分，纯肽段+HLA，不依赖收费工具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官方推荐用 Docker 镜像绕开版本不兼容问题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限制：仅 MHC-I；训练数据含公开库 → 与测试集可能重叠，需排重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640080" y="6419088"/>
            <a:ext cx="10972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i="1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来源  </a:t>
            </a:r>
            <a:pPr indent="0" marL="0">
              <a:buNone/>
            </a:pPr>
            <a:r>
              <a:rPr lang="en-US" sz="900" i="1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DeepHLApan, Frontiers in Immunology 2019 · DOI 10.3389/fimmu.2019.02559 · github.com/jiujiezz/deephlapan（GPL-2.0）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145743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19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2F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C9743D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974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工具 9 / 10 · 工作原理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65836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HLAthena（提呈 proxy）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640080" y="1335024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质谱训练的全连接网络，预测「提呈」概率——不是免疫原性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" y="1783080"/>
            <a:ext cx="5349240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sx="100000" sy="100000" kx="0" ky="0" algn="bl" rotWithShape="0" blurRad="114300" dist="38100" dir="8100000">
              <a:srgbClr val="0B3C49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896112" y="1920240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974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用什么输入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896112" y="2231136"/>
            <a:ext cx="4846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输入肽段（tab 带表头或 FASTA，必填 peptide 列），肽段 8/9/10/11。可选给剪切上下文或表达量，决定跑哪个子模型。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96112" y="3520440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974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 模型怎么算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896112" y="3831336"/>
            <a:ext cx="4846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用大规模质谱免疫肽组数据训练一个单隐层全连接网络，预测肽段被 HLA-I 提呈的概率。论文明确声明：它只预测「能否被提呈」，不预测「能否激活 T 细胞」。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96112" y="5120640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974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③ 给出什么输出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896112" y="5431536"/>
            <a:ext cx="4846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输出连续提呈分（MSi 等列），越高越可能被提呈。注意这不是免疫强弱分——这正是它在本基准里只能作提呈参照、不与免疫原性工具并比的原因。实测 IDLLKEIY 的 MSi=0.844。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263640" y="1783080"/>
            <a:ext cx="5257800" cy="1463040"/>
          </a:xfrm>
          <a:prstGeom prst="roundRect">
            <a:avLst>
              <a:gd name="adj" fmla="val 5000"/>
            </a:avLst>
          </a:prstGeom>
          <a:solidFill>
            <a:srgbClr val="0B3C49"/>
          </a:solidFill>
          <a:ln/>
        </p:spPr>
      </p:sp>
      <p:sp>
        <p:nvSpPr>
          <p:cNvPr id="14" name="Text 12"/>
          <p:cNvSpPr/>
          <p:nvPr/>
        </p:nvSpPr>
        <p:spPr>
          <a:xfrm>
            <a:off x="6428232" y="1874520"/>
            <a:ext cx="4983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2C39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运行命令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428232" y="2185416"/>
            <a:ext cx="498348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D6F2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predict \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D6F2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--runID demo \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D6F2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--rundir /work \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D6F2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--peptides peps.txt \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D6F2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--alleles A0101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263640" y="3429000"/>
            <a:ext cx="5257800" cy="1463040"/>
          </a:xfrm>
          <a:prstGeom prst="roundRect">
            <a:avLst>
              <a:gd name="adj" fmla="val 5000"/>
            </a:avLst>
          </a:prstGeom>
          <a:solidFill>
            <a:srgbClr val="0B3C49"/>
          </a:solidFill>
          <a:ln/>
        </p:spPr>
      </p:sp>
      <p:sp>
        <p:nvSpPr>
          <p:cNvPr id="17" name="Text 15"/>
          <p:cNvSpPr/>
          <p:nvPr/>
        </p:nvSpPr>
        <p:spPr>
          <a:xfrm>
            <a:off x="6428232" y="3520440"/>
            <a:ext cx="4983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2C39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输入数据样例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428232" y="3831336"/>
            <a:ext cx="498348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D6F2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tab 分隔，带表头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D6F2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peptide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D6F2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IDLLKEIY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D6F2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AAAVFKTLP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263640" y="5074920"/>
            <a:ext cx="5257800" cy="1280160"/>
          </a:xfrm>
          <a:prstGeom prst="roundRect">
            <a:avLst>
              <a:gd name="adj" fmla="val 5714"/>
            </a:avLst>
          </a:prstGeom>
          <a:solidFill>
            <a:srgbClr val="0B3C49"/>
          </a:solidFill>
          <a:ln/>
        </p:spPr>
      </p:sp>
      <p:sp>
        <p:nvSpPr>
          <p:cNvPr id="20" name="Text 18"/>
          <p:cNvSpPr/>
          <p:nvPr/>
        </p:nvSpPr>
        <p:spPr>
          <a:xfrm>
            <a:off x="6428232" y="5166360"/>
            <a:ext cx="4983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2C39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输出数据样例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6428232" y="5477256"/>
            <a:ext cx="49834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D6F2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peptide    MSi_A0101   prank.MSi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D6F2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IDLLKEIY   0.844       1.2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640080" y="6419088"/>
            <a:ext cx="10972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i="1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来源  </a:t>
            </a:r>
            <a:pPr indent="0" marL="0">
              <a:buNone/>
            </a:pPr>
            <a:r>
              <a:rPr lang="en-US" sz="900" i="1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HLAthena, Nature Biotechnology 2020 · DOI 10.1038/s41587-019-0322-9 · hlathena.tools + Docker ssarkizova/hlathena-external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1145743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</a:t>
            </a:r>
            <a:endParaRPr lang="en-US" sz="11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2F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C9743D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974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工具 9 / 10 · 四类信息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65836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HLAthena（提呈 proxy）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640080" y="1335024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质谱数据训练的全连接网络，预测肽段被 HLA-I「提呈」的概率 —— 注意：是提呈，不是免疫原性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9262872" y="658368"/>
            <a:ext cx="2286000" cy="384048"/>
          </a:xfrm>
          <a:prstGeom prst="roundRect">
            <a:avLst>
              <a:gd name="adj" fmla="val 50000"/>
            </a:avLst>
          </a:prstGeom>
          <a:solidFill>
            <a:srgbClr val="C9743D"/>
          </a:solidFill>
          <a:ln/>
        </p:spPr>
      </p:sp>
      <p:sp>
        <p:nvSpPr>
          <p:cNvPr id="7" name="Text 5"/>
          <p:cNvSpPr/>
          <p:nvPr/>
        </p:nvSpPr>
        <p:spPr>
          <a:xfrm>
            <a:off x="9262872" y="658368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⚠️ 提呈 proxy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9262872" y="111556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方法  全连接网络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40080" y="1874520"/>
            <a:ext cx="5486400" cy="2157984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sx="100000" sy="100000" kx="0" ky="0" algn="bl" rotWithShape="0" blurRad="114300" dist="38100" dir="8100000">
              <a:srgbClr val="0B3C49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40080" y="1874520"/>
            <a:ext cx="82296" cy="2157984"/>
          </a:xfrm>
          <a:prstGeom prst="rect">
            <a:avLst/>
          </a:prstGeom>
          <a:solidFill>
            <a:srgbClr val="C9743D"/>
          </a:solidFill>
          <a:ln/>
        </p:spPr>
      </p:sp>
      <p:sp>
        <p:nvSpPr>
          <p:cNvPr id="11" name="Text 9"/>
          <p:cNvSpPr/>
          <p:nvPr/>
        </p:nvSpPr>
        <p:spPr>
          <a:xfrm>
            <a:off x="896112" y="2020824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974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输入数据 / 格式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914400" y="2404872"/>
            <a:ext cx="4983480" cy="1517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tab 分隔（带表头）或 FASTA，必填 peptide 列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肽段 8 / 9 / 10 / 11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可选列（剪切上下文 / 表达量）决定跑哪个子模型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419088" y="1874520"/>
            <a:ext cx="5486400" cy="2157984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sx="100000" sy="100000" kx="0" ky="0" algn="bl" rotWithShape="0" blurRad="114300" dist="38100" dir="8100000">
              <a:srgbClr val="0B3C49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419088" y="1874520"/>
            <a:ext cx="82296" cy="2157984"/>
          </a:xfrm>
          <a:prstGeom prst="rect">
            <a:avLst/>
          </a:prstGeom>
          <a:solidFill>
            <a:srgbClr val="C9743D"/>
          </a:solidFill>
          <a:ln/>
        </p:spPr>
      </p:sp>
      <p:sp>
        <p:nvSpPr>
          <p:cNvPr id="15" name="Text 13"/>
          <p:cNvSpPr/>
          <p:nvPr/>
        </p:nvSpPr>
        <p:spPr>
          <a:xfrm>
            <a:off x="6675120" y="2020824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974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 运行参数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6693408" y="2404872"/>
            <a:ext cx="4983480" cy="1517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选模型 MSi / MSiC / MSiCE（取决于提供的可选列）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实测用 Docker 镜像跑，参数同官方 web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40080" y="4325112"/>
            <a:ext cx="5486400" cy="2157984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sx="100000" sy="100000" kx="0" ky="0" algn="bl" rotWithShape="0" blurRad="114300" dist="38100" dir="8100000">
              <a:srgbClr val="0B3C49">
                <a:alpha val="1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40080" y="4325112"/>
            <a:ext cx="82296" cy="2157984"/>
          </a:xfrm>
          <a:prstGeom prst="rect">
            <a:avLst/>
          </a:prstGeom>
          <a:solidFill>
            <a:srgbClr val="C9743D"/>
          </a:solidFill>
          <a:ln/>
        </p:spPr>
      </p:sp>
      <p:sp>
        <p:nvSpPr>
          <p:cNvPr id="19" name="Text 17"/>
          <p:cNvSpPr/>
          <p:nvPr/>
        </p:nvSpPr>
        <p:spPr>
          <a:xfrm>
            <a:off x="896112" y="4471416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974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③ 输出格式 / 含义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914400" y="4855464"/>
            <a:ext cx="4983480" cy="1517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连续提呈分（MSi 等列），越高越可能被提呈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❌ 不是免疫强弱分 —— 这是它与前 8 个工具的本质区别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实测 IDLLKEIY  MSi=0.844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419088" y="4325112"/>
            <a:ext cx="5486400" cy="2157984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sx="100000" sy="100000" kx="0" ky="0" algn="bl" rotWithShape="0" blurRad="114300" dist="38100" dir="8100000">
              <a:srgbClr val="0B3C49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6419088" y="4325112"/>
            <a:ext cx="82296" cy="2157984"/>
          </a:xfrm>
          <a:prstGeom prst="rect">
            <a:avLst/>
          </a:prstGeom>
          <a:solidFill>
            <a:srgbClr val="C9743D"/>
          </a:solidFill>
          <a:ln/>
        </p:spPr>
      </p:sp>
      <p:sp>
        <p:nvSpPr>
          <p:cNvPr id="23" name="Text 21"/>
          <p:cNvSpPr/>
          <p:nvPr/>
        </p:nvSpPr>
        <p:spPr>
          <a:xfrm>
            <a:off x="6675120" y="4471416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974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④ 简介 / 特点优势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6693408" y="4855464"/>
            <a:ext cx="4983480" cy="1517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质谱免疫肽组大规模训练、覆盖人群广、不依赖收费工具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论文明确声明：只预测「能否被提呈」，不预测「能否激活 T 细胞」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故进基准只作提呈参照（proxy），单列、不与免疫原性工具直接并比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640080" y="6419088"/>
            <a:ext cx="10972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i="1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来源  </a:t>
            </a:r>
            <a:pPr indent="0" marL="0">
              <a:buNone/>
            </a:pPr>
            <a:r>
              <a:rPr lang="en-US" sz="900" i="1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HLAthena, Nature Biotechnology 2020 · DOI 10.1038/s41587-019-0322-9 · hlathena.tools + Docker ssarkizova/hlathena-external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145743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21</a:t>
            </a:r>
            <a:endParaRPr lang="en-US" sz="11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2F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B23A48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B23A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工具 10 / 10 · 工作原理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65836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MHLAPre（未完成）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640080" y="1335024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元学习+Transformer+TextCNN 预测突变 HLA-I 表位免疫原性——信息摸清但无法复现运行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" y="1783080"/>
            <a:ext cx="5349240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sx="100000" sy="100000" kx="0" ky="0" algn="bl" rotWithShape="0" blurRad="114300" dist="38100" dir="8100000">
              <a:srgbClr val="0B3C49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896112" y="1920240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B23A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用什么输入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896112" y="2231136"/>
            <a:ext cx="4846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输入 CSV：肽段、HLA、标签，肽段 8–15（以 9 为主）。HLA 写法 B*07:02（无 HLA- 前缀）。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96112" y="3520440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B23A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 模型怎么算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896112" y="3831336"/>
            <a:ext cx="4846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用元学习（MAML）加 Transformer 编码器加 TextCNN，BLOSUM62 编码肽段。论文报告指标很高，但官方未放预训练权重，且把原始数据拼成模型输入的预处理代码缺失（被注释掉）——所以连自训也走不通。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96112" y="5120640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B23A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③ 给出什么输出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896112" y="5431536"/>
            <a:ext cx="4846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原代码只算评估指标、不保存预测文件（同 notebook 性质），理论上能出 0–1 概率但需自己加导出。实际因缺权重与中间数据，跑不起来，未做成。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263640" y="1783080"/>
            <a:ext cx="5257800" cy="1463040"/>
          </a:xfrm>
          <a:prstGeom prst="roundRect">
            <a:avLst>
              <a:gd name="adj" fmla="val 5000"/>
            </a:avLst>
          </a:prstGeom>
          <a:solidFill>
            <a:srgbClr val="0B3C49"/>
          </a:solidFill>
          <a:ln/>
        </p:spPr>
      </p:sp>
      <p:sp>
        <p:nvSpPr>
          <p:cNvPr id="14" name="Text 12"/>
          <p:cNvSpPr/>
          <p:nvPr/>
        </p:nvSpPr>
        <p:spPr>
          <a:xfrm>
            <a:off x="6428232" y="1874520"/>
            <a:ext cx="4983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2C39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运行命令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428232" y="2185416"/>
            <a:ext cx="498348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D6F2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顺序运行 3 个脚本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D6F2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 Pretreatment.py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D6F2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 TransfomerEncoder.py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D6F2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 TextCNN.py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D6F2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但缺中间数据，会报 FileNotFound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263640" y="3429000"/>
            <a:ext cx="5257800" cy="1463040"/>
          </a:xfrm>
          <a:prstGeom prst="roundRect">
            <a:avLst>
              <a:gd name="adj" fmla="val 5000"/>
            </a:avLst>
          </a:prstGeom>
          <a:solidFill>
            <a:srgbClr val="0B3C49"/>
          </a:solidFill>
          <a:ln/>
        </p:spPr>
      </p:sp>
      <p:sp>
        <p:nvSpPr>
          <p:cNvPr id="17" name="Text 15"/>
          <p:cNvSpPr/>
          <p:nvPr/>
        </p:nvSpPr>
        <p:spPr>
          <a:xfrm>
            <a:off x="6428232" y="3520440"/>
            <a:ext cx="4983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2C39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输入数据样例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428232" y="3831336"/>
            <a:ext cx="498348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D6F2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CSV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D6F2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Epitope,MHC Restriction,Assay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D6F2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APSFGSFHLI,B*07:02,1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263640" y="5074920"/>
            <a:ext cx="5257800" cy="1280160"/>
          </a:xfrm>
          <a:prstGeom prst="roundRect">
            <a:avLst>
              <a:gd name="adj" fmla="val 5714"/>
            </a:avLst>
          </a:prstGeom>
          <a:solidFill>
            <a:srgbClr val="0B3C49"/>
          </a:solidFill>
          <a:ln/>
        </p:spPr>
      </p:sp>
      <p:sp>
        <p:nvSpPr>
          <p:cNvPr id="20" name="Text 18"/>
          <p:cNvSpPr/>
          <p:nvPr/>
        </p:nvSpPr>
        <p:spPr>
          <a:xfrm>
            <a:off x="6428232" y="5166360"/>
            <a:ext cx="4983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2C39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输出数据样例（未做成·无输出）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6428232" y="5477256"/>
            <a:ext cx="49834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D6F2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未做成：原代码不存预测文件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D6F2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缺预训练权重 + 预处理中间数据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D6F2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跑不起来，无实测输出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640080" y="6419088"/>
            <a:ext cx="10972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i="1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来源  </a:t>
            </a:r>
            <a:pPr indent="0" marL="0">
              <a:buNone/>
            </a:pPr>
            <a:r>
              <a:rPr lang="en-US" sz="900" i="1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MHLAPre, Briefings in Bioinformatics 2024 · DOI 10.1093/bib/bbae625 · github.com/ChanganMakeYi/MHLAPre（无 LICENSE）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1145743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22</a:t>
            </a:r>
            <a:endParaRPr lang="en-US" sz="11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2F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B23A48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B23A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工具 10 / 10 · 四类信息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65836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MHLAPre（未完成）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640080" y="1335024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元学习 + Transformer + TextCNN 预测突变 HLA-I 表位免疫原性 —— 信息已摸清，但无法复现运行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9262872" y="658368"/>
            <a:ext cx="2286000" cy="384048"/>
          </a:xfrm>
          <a:prstGeom prst="roundRect">
            <a:avLst>
              <a:gd name="adj" fmla="val 50000"/>
            </a:avLst>
          </a:prstGeom>
          <a:solidFill>
            <a:srgbClr val="B23A48"/>
          </a:solidFill>
          <a:ln/>
        </p:spPr>
      </p:sp>
      <p:sp>
        <p:nvSpPr>
          <p:cNvPr id="7" name="Text 5"/>
          <p:cNvSpPr/>
          <p:nvPr/>
        </p:nvSpPr>
        <p:spPr>
          <a:xfrm>
            <a:off x="9262872" y="658368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❌ 未做成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9262872" y="111556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方法  元学习+Transformer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40080" y="1874520"/>
            <a:ext cx="5486400" cy="2157984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sx="100000" sy="100000" kx="0" ky="0" algn="bl" rotWithShape="0" blurRad="114300" dist="38100" dir="8100000">
              <a:srgbClr val="0B3C49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40080" y="1874520"/>
            <a:ext cx="82296" cy="2157984"/>
          </a:xfrm>
          <a:prstGeom prst="rect">
            <a:avLst/>
          </a:prstGeom>
          <a:solidFill>
            <a:srgbClr val="B23A48"/>
          </a:solidFill>
          <a:ln/>
        </p:spPr>
      </p:sp>
      <p:sp>
        <p:nvSpPr>
          <p:cNvPr id="11" name="Text 9"/>
          <p:cNvSpPr/>
          <p:nvPr/>
        </p:nvSpPr>
        <p:spPr>
          <a:xfrm>
            <a:off x="896112" y="2020824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23A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输入数据 / 格式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914400" y="2404872"/>
            <a:ext cx="4983480" cy="1517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CSV：肽段 + HLA + 标签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肽段 8–15（以 9 为主）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HLA 写法  B*07:02（无 HLA- 前缀）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419088" y="1874520"/>
            <a:ext cx="5486400" cy="2157984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sx="100000" sy="100000" kx="0" ky="0" algn="bl" rotWithShape="0" blurRad="114300" dist="38100" dir="8100000">
              <a:srgbClr val="0B3C49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419088" y="1874520"/>
            <a:ext cx="82296" cy="2157984"/>
          </a:xfrm>
          <a:prstGeom prst="rect">
            <a:avLst/>
          </a:prstGeom>
          <a:solidFill>
            <a:srgbClr val="B23A48"/>
          </a:solidFill>
          <a:ln/>
        </p:spPr>
      </p:sp>
      <p:sp>
        <p:nvSpPr>
          <p:cNvPr id="15" name="Text 13"/>
          <p:cNvSpPr/>
          <p:nvPr/>
        </p:nvSpPr>
        <p:spPr>
          <a:xfrm>
            <a:off x="6675120" y="2020824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23A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 运行参数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6693408" y="2404872"/>
            <a:ext cx="4983480" cy="1517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顺序跑 3 个脚本（预处理 → Transformer → TextCNN）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无命令行参数说明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40080" y="4325112"/>
            <a:ext cx="5486400" cy="2157984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sx="100000" sy="100000" kx="0" ky="0" algn="bl" rotWithShape="0" blurRad="114300" dist="38100" dir="8100000">
              <a:srgbClr val="0B3C49">
                <a:alpha val="1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40080" y="4325112"/>
            <a:ext cx="82296" cy="2157984"/>
          </a:xfrm>
          <a:prstGeom prst="rect">
            <a:avLst/>
          </a:prstGeom>
          <a:solidFill>
            <a:srgbClr val="B23A48"/>
          </a:solidFill>
          <a:ln/>
        </p:spPr>
      </p:sp>
      <p:sp>
        <p:nvSpPr>
          <p:cNvPr id="19" name="Text 17"/>
          <p:cNvSpPr/>
          <p:nvPr/>
        </p:nvSpPr>
        <p:spPr>
          <a:xfrm>
            <a:off x="896112" y="4471416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23A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③ 输出格式 / 含义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914400" y="4855464"/>
            <a:ext cx="4983480" cy="1517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原代码不存预测文件，只算指标（同 notebook 性质）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理论上出 0~1 连续概率，要自己加导出代码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实测无输出（卡在缺数据，跑不起来）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419088" y="4325112"/>
            <a:ext cx="5486400" cy="2157984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sx="100000" sy="100000" kx="0" ky="0" algn="bl" rotWithShape="0" blurRad="114300" dist="38100" dir="8100000">
              <a:srgbClr val="0B3C49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6419088" y="4325112"/>
            <a:ext cx="82296" cy="2157984"/>
          </a:xfrm>
          <a:prstGeom prst="rect">
            <a:avLst/>
          </a:prstGeom>
          <a:solidFill>
            <a:srgbClr val="B23A48"/>
          </a:solidFill>
          <a:ln/>
        </p:spPr>
      </p:sp>
      <p:sp>
        <p:nvSpPr>
          <p:cNvPr id="23" name="Text 21"/>
          <p:cNvSpPr/>
          <p:nvPr/>
        </p:nvSpPr>
        <p:spPr>
          <a:xfrm>
            <a:off x="6675120" y="4471416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23A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④ 简介 / 特点优势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6693408" y="4855464"/>
            <a:ext cx="4983480" cy="1517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方法新（元学习），论文报告指标高；纯开源依赖、无收费工具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❌ 阻塞：官方未放预训练权重，预处理中间数据也缺失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❌ 连自训也走不通：把原始数据拼成模型输入的那段代码没随仓库发出（被注释掉）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全网（GitHub/Gitee/ModelScope/Zenodo + 逐个 commit）搜权重均空 → 唯一出路是邮件原作者索取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640080" y="6419088"/>
            <a:ext cx="10972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i="1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来源  </a:t>
            </a:r>
            <a:pPr indent="0" marL="0">
              <a:buNone/>
            </a:pPr>
            <a:r>
              <a:rPr lang="en-US" sz="900" i="1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MHLAPre, Briefings in Bioinformatics 2024 · DOI 10.1093/bib/bbae625 · github.com/ChanganMakeYi/MHLAPre（无 LICENSE）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145743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23</a:t>
            </a:r>
            <a:endParaRPr lang="en-US" sz="11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2F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工程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65836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装这些工具踩过的坑（为什么不是点一下就能跑）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640080" y="1645920"/>
            <a:ext cx="4206240" cy="4434840"/>
          </a:xfrm>
          <a:prstGeom prst="rect">
            <a:avLst/>
          </a:prstGeom>
          <a:solidFill>
            <a:srgbClr val="0B3C49"/>
          </a:solidFill>
          <a:ln/>
          <a:effectLst>
            <a:outerShdw sx="100000" sy="100000" kx="0" ky="0" algn="bl" rotWithShape="0" blurRad="114300" dist="38100" dir="8100000">
              <a:srgbClr val="0B3C49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68680" y="18745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2C39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部署环境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868680" y="2286000"/>
            <a:ext cx="379476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本机 WSL2 Ubuntu</a:t>
            </a:r>
            <a:endParaRPr lang="en-US" sz="135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150" dirty="0">
                <a:solidFill>
                  <a:srgbClr val="9FD9C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调试主场 · 直通显卡 · conda + Docker</a:t>
            </a:r>
            <a:endParaRPr lang="en-US" sz="1350" dirty="0"/>
          </a:p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学校 HPC 集群</a:t>
            </a:r>
            <a:endParaRPr lang="en-US" sz="135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150" dirty="0">
                <a:solidFill>
                  <a:srgbClr val="9FD9C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最终部署目标 · Singularity 容器</a:t>
            </a:r>
            <a:endParaRPr lang="en-US" sz="1350" dirty="0"/>
          </a:p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出网情况</a:t>
            </a:r>
            <a:endParaRPr lang="en-US" sz="1350" dirty="0"/>
          </a:p>
          <a:p>
            <a:pPr indent="0" marL="0">
              <a:buNone/>
            </a:pPr>
            <a:r>
              <a:rPr lang="en-US" sz="1150" dirty="0">
                <a:solidFill>
                  <a:srgbClr val="9FD9C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GitHub / PyPI / DTU 通；Docker Hub 不通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5120640" y="17373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典型的坑与解法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120640" y="2194560"/>
            <a:ext cx="3108960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sx="100000" sy="100000" kx="0" ky="0" algn="bl" rotWithShape="0" blurRad="114300" dist="38100" dir="8100000">
              <a:srgbClr val="0B3C49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5120640" y="2194560"/>
            <a:ext cx="3108960" cy="5486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1" name="Text 9"/>
          <p:cNvSpPr/>
          <p:nvPr/>
        </p:nvSpPr>
        <p:spPr>
          <a:xfrm>
            <a:off x="5285232" y="2322576"/>
            <a:ext cx="2788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DeepImmuno：版本敏感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5285232" y="2651760"/>
            <a:ext cx="281635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protobuf 必须降到 3.20，否则报 Descriptors 错；TF2.3 + Python3.8 严格对版本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8412480" y="2194560"/>
            <a:ext cx="3108960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sx="100000" sy="100000" kx="0" ky="0" algn="bl" rotWithShape="0" blurRad="114300" dist="38100" dir="8100000">
              <a:srgbClr val="0B3C49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412480" y="2194560"/>
            <a:ext cx="3108960" cy="5486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5" name="Text 13"/>
          <p:cNvSpPr/>
          <p:nvPr/>
        </p:nvSpPr>
        <p:spPr>
          <a:xfrm>
            <a:off x="8577072" y="2322576"/>
            <a:ext cx="2788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ImmuneApp：装 TF1.15 卡死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577072" y="2651760"/>
            <a:ext cx="281635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一次性 pip 装会依赖回溯死循环(卡 20min+)→ 改先单独装 tensorflow==1.15 再装其余才过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5120640" y="3584448"/>
            <a:ext cx="3108960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sx="100000" sy="100000" kx="0" ky="0" algn="bl" rotWithShape="0" blurRad="114300" dist="38100" dir="8100000">
              <a:srgbClr val="0B3C49">
                <a:alpha val="1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5120640" y="3584448"/>
            <a:ext cx="3108960" cy="5486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9" name="Text 17"/>
          <p:cNvSpPr/>
          <p:nvPr/>
        </p:nvSpPr>
        <p:spPr>
          <a:xfrm>
            <a:off x="5285232" y="3712464"/>
            <a:ext cx="2788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deepHLApan：输出目录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5285232" y="4041648"/>
            <a:ext cx="281635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工具不自建输出目录，outdir 必须先 mkdir，否则报 No such file；用官方 Docker 绕版本不兼容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8412480" y="3584448"/>
            <a:ext cx="3108960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sx="100000" sy="100000" kx="0" ky="0" algn="bl" rotWithShape="0" blurRad="114300" dist="38100" dir="8100000">
              <a:srgbClr val="0B3C49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8412480" y="3584448"/>
            <a:ext cx="3108960" cy="5486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23" name="Text 21"/>
          <p:cNvSpPr/>
          <p:nvPr/>
        </p:nvSpPr>
        <p:spPr>
          <a:xfrm>
            <a:off x="8577072" y="3712464"/>
            <a:ext cx="2788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pTuneos：老链 + 大缓存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8577072" y="4041648"/>
            <a:ext cx="281635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镜像老依赖修了 8 处坑 + VEP 注释缓存 14G 才端到端跑通；HPC 因容器权限受限未跑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5120640" y="4974336"/>
            <a:ext cx="3108960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sx="100000" sy="100000" kx="0" ky="0" algn="bl" rotWithShape="0" blurRad="114300" dist="38100" dir="8100000">
              <a:srgbClr val="0B3C49">
                <a:alpha val="12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5120640" y="4974336"/>
            <a:ext cx="3108960" cy="5486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27" name="Text 25"/>
          <p:cNvSpPr/>
          <p:nvPr/>
        </p:nvSpPr>
        <p:spPr>
          <a:xfrm>
            <a:off x="5285232" y="5102352"/>
            <a:ext cx="2788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HLAthena：下载凭证失效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5285232" y="5431536"/>
            <a:ext cx="281635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镜像自带 GCS 凭证 401 死锁 → 改匿名直链下模型 + 关掉自动拉取、本地挂载才跑通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8412480" y="4974336"/>
            <a:ext cx="3108960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sx="100000" sy="100000" kx="0" ky="0" algn="bl" rotWithShape="0" blurRad="114300" dist="38100" dir="8100000">
              <a:srgbClr val="0B3C49">
                <a:alpha val="12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8412480" y="4974336"/>
            <a:ext cx="3108960" cy="5486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31" name="Text 29"/>
          <p:cNvSpPr/>
          <p:nvPr/>
        </p:nvSpPr>
        <p:spPr>
          <a:xfrm>
            <a:off x="8577072" y="5102352"/>
            <a:ext cx="2788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MHLAPre：缺权重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8577072" y="5431536"/>
            <a:ext cx="281635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官方未放预训练权重 + 预处理中间数据缺 + 拼装代码被注释 → 跑不通(未做成)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1145743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24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2F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基准方法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65836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用什么数据、怎么比、看什么指标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640080" y="1691640"/>
            <a:ext cx="1088136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sx="100000" sy="100000" kx="0" ky="0" algn="bl" rotWithShape="0" blurRad="114300" dist="38100" dir="8100000">
              <a:srgbClr val="0B3C49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40080" y="1691640"/>
            <a:ext cx="82296" cy="1078992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1837944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测试数据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3108960" y="1819656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真实 ELISpot 实验数据 DS2：101 条肽段。按实验反应值切分 —— 有反应 90 条、无反应 11 条（反应值≤0 算真无反应）。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40080" y="2862072"/>
            <a:ext cx="1088136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sx="100000" sy="100000" kx="0" ky="0" algn="bl" rotWithShape="0" blurRad="114300" dist="38100" dir="8100000">
              <a:srgbClr val="0B3C49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40080" y="2862072"/>
            <a:ext cx="82296" cy="1078992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1" name="Text 9"/>
          <p:cNvSpPr/>
          <p:nvPr/>
        </p:nvSpPr>
        <p:spPr>
          <a:xfrm>
            <a:off x="914400" y="3008376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0A89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参评工具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3108960" y="2990088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 个进基准：8 个免疫原性工具直接横比 + HLAthena（提呈 proxy）单列参照。MHLAPre 因缺权重未参评。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40080" y="4032504"/>
            <a:ext cx="1088136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sx="100000" sy="100000" kx="0" ky="0" algn="bl" rotWithShape="0" blurRad="114300" dist="38100" dir="8100000">
              <a:srgbClr val="0B3C49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40080" y="4032504"/>
            <a:ext cx="82296" cy="1078992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15" name="Text 13"/>
          <p:cNvSpPr/>
          <p:nvPr/>
        </p:nvSpPr>
        <p:spPr>
          <a:xfrm>
            <a:off x="914400" y="4178808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C72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怎么比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3108960" y="416052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一条肽段会拆成多个子肽×HLA，先聚合（取最大/平均）再按阈值切。主口径 = 取最大、阈值&gt;0，保证各工具同口径。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5202936"/>
            <a:ext cx="1088136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sx="100000" sy="100000" kx="0" ky="0" algn="bl" rotWithShape="0" blurRad="114300" dist="38100" dir="8100000">
              <a:srgbClr val="0B3C49">
                <a:alpha val="1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40080" y="5202936"/>
            <a:ext cx="82296" cy="1078992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19" name="Text 17"/>
          <p:cNvSpPr/>
          <p:nvPr/>
        </p:nvSpPr>
        <p:spPr>
          <a:xfrm>
            <a:off x="914400" y="5349240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看什么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3108960" y="5330952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AUC（能不能分开「有反应/无反应」，0.5=瞎猜）、AUPRC、Spearman 相关（分数和反应强弱是否同向 = 能不能分强弱）。用 2000 次重抽样给出置信区间。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640080" y="635508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口径校验：旧 5 工具复现与历史结果最大差 ≤ 0.004（浮点精度内），口径对齐通过；所有数字经 csv 三方核对。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1145743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25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2F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B23A48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B23A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核心结论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65836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 个免疫原性工具：判别力普遍偏弱、彼此分不出显著高下、新工具没带来增量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48640" y="1508760"/>
            <a:ext cx="6400800" cy="4754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sx="100000" sy="100000" kx="0" ky="0" algn="bl" rotWithShape="0" blurRad="114300" dist="38100" dir="8100000">
              <a:srgbClr val="0B3C49">
                <a:alpha val="12000"/>
              </a:srgbClr>
            </a:outerShdw>
          </a:effectLst>
        </p:spPr>
      </p:sp>
      <p:pic>
        <p:nvPicPr>
          <p:cNvPr id="6" name="Image 0" descr="D:/YJ-Agent/project/meeting/QuantImmuBench/analysis/figures/fig6_8tools_auc_comparison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" y="1627632"/>
            <a:ext cx="6217920" cy="420624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94360" y="5870448"/>
            <a:ext cx="630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i="1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图：8 个工具的 AUC（DS2，取最大聚合，阈值&gt;0）+ 95% 置信区间；橙色为第二批新工具。除 pTuneos 外，置信区间下界都跌破随机线 0.5。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7132320" y="1627632"/>
            <a:ext cx="4526280" cy="1481328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sx="100000" sy="100000" kx="0" ky="0" algn="bl" rotWithShape="0" blurRad="114300" dist="38100" dir="8100000">
              <a:srgbClr val="0B3C49">
                <a:alpha val="12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7132320" y="1627632"/>
            <a:ext cx="82296" cy="1481328"/>
          </a:xfrm>
          <a:prstGeom prst="rect">
            <a:avLst/>
          </a:prstGeom>
          <a:solidFill>
            <a:srgbClr val="B23A48"/>
          </a:solidFill>
          <a:ln/>
        </p:spPr>
      </p:sp>
      <p:sp>
        <p:nvSpPr>
          <p:cNvPr id="10" name="Text 7"/>
          <p:cNvSpPr/>
          <p:nvPr/>
        </p:nvSpPr>
        <p:spPr>
          <a:xfrm>
            <a:off x="7315200" y="1737360"/>
            <a:ext cx="4297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23A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判别力普遍偏弱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7315200" y="2084832"/>
            <a:ext cx="4206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点估最高的是 pTuneos 0.753，但置信区间 [0.598, 0.888] 很宽（约 ±0.15）；除它之外，其余工具的区间下界都低于 0.5（随机线）。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7132320" y="3200400"/>
            <a:ext cx="4526280" cy="1481328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sx="100000" sy="100000" kx="0" ky="0" algn="bl" rotWithShape="0" blurRad="114300" dist="38100" dir="8100000">
              <a:srgbClr val="0B3C49">
                <a:alpha val="12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7132320" y="3200400"/>
            <a:ext cx="82296" cy="1481328"/>
          </a:xfrm>
          <a:prstGeom prst="rect">
            <a:avLst/>
          </a:prstGeom>
          <a:solidFill>
            <a:srgbClr val="C9743D"/>
          </a:solidFill>
          <a:ln/>
        </p:spPr>
      </p:sp>
      <p:sp>
        <p:nvSpPr>
          <p:cNvPr id="14" name="Text 11"/>
          <p:cNvSpPr/>
          <p:nvPr/>
        </p:nvSpPr>
        <p:spPr>
          <a:xfrm>
            <a:off x="7315200" y="3310128"/>
            <a:ext cx="4297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974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彼此分不出高下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7315200" y="3657600"/>
            <a:ext cx="4206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两两对比，头部工具之间的差距都跨过 0 —— 比如 pTuneos 与 PredIG 差 0.09、与 NeoTImmuML 差 0.10，区间都含 0，统计上区分不开。根因是无反应样本只有 11 个。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7132320" y="4773168"/>
            <a:ext cx="4526280" cy="1481328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sx="100000" sy="100000" kx="0" ky="0" algn="bl" rotWithShape="0" blurRad="114300" dist="38100" dir="8100000">
              <a:srgbClr val="0B3C49">
                <a:alpha val="12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7132320" y="4773168"/>
            <a:ext cx="82296" cy="1481328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18" name="Text 15"/>
          <p:cNvSpPr/>
          <p:nvPr/>
        </p:nvSpPr>
        <p:spPr>
          <a:xfrm>
            <a:off x="7315200" y="4882896"/>
            <a:ext cx="4297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新工具没带来增量</a:t>
            </a:r>
            <a:endParaRPr lang="en-US" sz="1400" dirty="0"/>
          </a:p>
        </p:txBody>
      </p:sp>
      <p:sp>
        <p:nvSpPr>
          <p:cNvPr id="19" name="Text 16"/>
          <p:cNvSpPr/>
          <p:nvPr/>
        </p:nvSpPr>
        <p:spPr>
          <a:xfrm>
            <a:off x="7315200" y="5230368"/>
            <a:ext cx="4206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第二批 3 个工具在所有口径下都没超过第一批最好的点估：ImmuneApp 0.589 / PRIME 0.528 / deepHLApan 0.419（低于随机）。这个结论很稳，不依赖排名精度。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7132320" y="6355080"/>
            <a:ext cx="4526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i="1" dirty="0">
                <a:solidFill>
                  <a:srgbClr val="B23A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措辞克制：用「点估居前」而非「最优/最强」—— 在无反应样本仅 11 个时，这些差距不足以支撑「最优」的判断。</a:t>
            </a:r>
            <a:endParaRPr lang="en-US" sz="900" dirty="0"/>
          </a:p>
        </p:txBody>
      </p:sp>
      <p:sp>
        <p:nvSpPr>
          <p:cNvPr id="21" name="Text 18"/>
          <p:cNvSpPr/>
          <p:nvPr/>
        </p:nvSpPr>
        <p:spPr>
          <a:xfrm>
            <a:off x="1145743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26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2F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判别力 · ROC 曲线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65836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 个工具在 ELISpot 上的 ROC：多数贴着随机线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48640" y="1508760"/>
            <a:ext cx="6309360" cy="4754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sx="100000" sy="100000" kx="0" ky="0" algn="bl" rotWithShape="0" blurRad="114300" dist="38100" dir="8100000">
              <a:srgbClr val="0B3C49">
                <a:alpha val="12000"/>
              </a:srgbClr>
            </a:outerShdw>
          </a:effectLst>
        </p:spPr>
      </p:sp>
      <p:pic>
        <p:nvPicPr>
          <p:cNvPr id="6" name="Image 0" descr="D:/YJ-Agent/project/meeting/QuantImmuBench/analysis/figures/fig8_8tools_roc_curve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31520" y="1627632"/>
            <a:ext cx="5943600" cy="452628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66928" y="6199632"/>
            <a:ext cx="6309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i="1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图：8 个工具的 ROC 曲线（DS2，取最大聚合，阈值&gt;0）。蓝实线=第一批，橙虚线=第二批新工具，灰点线=随机。曲线离左上角越远越弱。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7040880" y="1645920"/>
            <a:ext cx="461772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sx="100000" sy="100000" kx="0" ky="0" algn="bl" rotWithShape="0" blurRad="114300" dist="38100" dir="8100000">
              <a:srgbClr val="0B3C49">
                <a:alpha val="12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7040880" y="1645920"/>
            <a:ext cx="82296" cy="146304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10" name="Text 7"/>
          <p:cNvSpPr/>
          <p:nvPr/>
        </p:nvSpPr>
        <p:spPr>
          <a:xfrm>
            <a:off x="7223760" y="1764792"/>
            <a:ext cx="4389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怎么看这张图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7223760" y="2121408"/>
            <a:ext cx="4297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曲线越往左上角凸 = 判别力越强；贴着对角线（灰点线）= 和瞎猜差不多。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7040880" y="3200400"/>
            <a:ext cx="461772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sx="100000" sy="100000" kx="0" ky="0" algn="bl" rotWithShape="0" blurRad="114300" dist="38100" dir="8100000">
              <a:srgbClr val="0B3C49">
                <a:alpha val="12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7040880" y="3200400"/>
            <a:ext cx="82296" cy="1463040"/>
          </a:xfrm>
          <a:prstGeom prst="rect">
            <a:avLst/>
          </a:prstGeom>
          <a:solidFill>
            <a:srgbClr val="C9743D"/>
          </a:solidFill>
          <a:ln/>
        </p:spPr>
      </p:sp>
      <p:sp>
        <p:nvSpPr>
          <p:cNvPr id="14" name="Text 11"/>
          <p:cNvSpPr/>
          <p:nvPr/>
        </p:nvSpPr>
        <p:spPr>
          <a:xfrm>
            <a:off x="7223760" y="3319272"/>
            <a:ext cx="4389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974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实际表现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7223760" y="3675888"/>
            <a:ext cx="4297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只有 pTuneos（蓝）明显凸向左上；多数工具的曲线缠在对角线附近上下穿插，几个新工具（橙虚线）有段还落到对角线下方（不如随机）。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7040880" y="4754880"/>
            <a:ext cx="461772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sx="100000" sy="100000" kx="0" ky="0" algn="bl" rotWithShape="0" blurRad="114300" dist="38100" dir="8100000">
              <a:srgbClr val="0B3C49">
                <a:alpha val="12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7040880" y="4754880"/>
            <a:ext cx="82296" cy="1463040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8" name="Text 15"/>
          <p:cNvSpPr/>
          <p:nvPr/>
        </p:nvSpPr>
        <p:spPr>
          <a:xfrm>
            <a:off x="7223760" y="4873752"/>
            <a:ext cx="4389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A89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和柱状图一致</a:t>
            </a:r>
            <a:endParaRPr lang="en-US" sz="1400" dirty="0"/>
          </a:p>
        </p:txBody>
      </p:sp>
      <p:sp>
        <p:nvSpPr>
          <p:cNvPr id="19" name="Text 16"/>
          <p:cNvSpPr/>
          <p:nvPr/>
        </p:nvSpPr>
        <p:spPr>
          <a:xfrm>
            <a:off x="7223760" y="5230368"/>
            <a:ext cx="4297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这与上一页 AUC 柱状图给出的结论相互印证：除少数外，判别力普遍接近随机。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1145743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27</a:t>
            </a:r>
            <a:endParaRPr lang="en-US" sz="11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2F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为什么不下「最优」结论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65836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置信区间互相重叠 + 样本太小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48640" y="1508760"/>
            <a:ext cx="6766560" cy="4800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sx="100000" sy="100000" kx="0" ky="0" algn="bl" rotWithShape="0" blurRad="114300" dist="38100" dir="8100000">
              <a:srgbClr val="0B3C49">
                <a:alpha val="12000"/>
              </a:srgbClr>
            </a:outerShdw>
          </a:effectLst>
        </p:spPr>
      </p:sp>
      <p:pic>
        <p:nvPicPr>
          <p:cNvPr id="6" name="Image 0" descr="D:/YJ-Agent/project/meeting/QuantImmuBench/analysis/figures_deepdive/fig_bootstrap_ci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58368" y="1645920"/>
            <a:ext cx="6537960" cy="429768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94360" y="5989320"/>
            <a:ext cx="6675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i="1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图：8 个工具的 AUC 点估 + 95% 置信区间。所有区间都跨过或贴近 0.5，且彼此大幅重叠。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7498080" y="1627632"/>
            <a:ext cx="4160520" cy="2286000"/>
          </a:xfrm>
          <a:prstGeom prst="rect">
            <a:avLst/>
          </a:prstGeom>
          <a:solidFill>
            <a:srgbClr val="0B3C49"/>
          </a:solidFill>
          <a:ln/>
          <a:effectLst>
            <a:outerShdw sx="100000" sy="100000" kx="0" ky="0" algn="bl" rotWithShape="0" blurRad="114300" dist="38100" dir="8100000">
              <a:srgbClr val="0B3C49">
                <a:alpha val="12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7699248" y="178308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C39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根因：无反应样本只有 11 个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7699248" y="2194560"/>
            <a:ext cx="379476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spcAft>
                <a:spcPts val="800"/>
              </a:spcAft>
              <a:buNone/>
            </a:pPr>
            <a:r>
              <a:rPr lang="en-US" sz="11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无反应这一类是少数，AUC 的不确定性主要由它决定。11 个样本 → 每次重抽样波动都很大 → 区间宽达 ±0.15。</a:t>
            </a:r>
            <a:endParaRPr lang="en-US" sz="11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CADC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工具之间不到 0.05 的差距，完全淹没在区间宽度里。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7498080" y="4069080"/>
            <a:ext cx="4160520" cy="2240280"/>
          </a:xfrm>
          <a:prstGeom prst="rect">
            <a:avLst/>
          </a:prstGeom>
          <a:solidFill>
            <a:srgbClr val="FBEEE4"/>
          </a:solidFill>
          <a:ln w="12700">
            <a:solidFill>
              <a:srgbClr val="C9743D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7699248" y="420624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974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「最优」只是个脆弱的角落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7699248" y="4590288"/>
            <a:ext cx="37947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spcAft>
                <a:spcPts val="600"/>
              </a:spcAft>
              <a:buNone/>
            </a:pPr>
            <a:r>
              <a:rPr lang="en-US" sz="110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pTuneos 的 0.75 是「某一种聚合 × 某一个阈值 × 11 个样本」凑出来的最高点。</a:t>
            </a:r>
            <a:endParaRPr lang="en-US" sz="1100" dirty="0"/>
          </a:p>
          <a:p>
            <a:pPr indent="0" marL="0">
              <a:lnSpc>
                <a:spcPct val="105000"/>
              </a:lnSpc>
              <a:spcAft>
                <a:spcPts val="600"/>
              </a:spcAft>
              <a:buNone/>
            </a:pPr>
            <a:r>
              <a:rPr lang="en-US" sz="110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同一工具换个阈值，AUC 就掉到约 0.46（低于随机）→ 不是稳定的能力。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它只显著强过几个最弱的工具，对最接近的竞品并不显著。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1145743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28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2F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工具之间一致吗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65836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把同一批肽段的打分两两比对：彼此基本不相关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48640" y="1508760"/>
            <a:ext cx="6400800" cy="4754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sx="100000" sy="100000" kx="0" ky="0" algn="bl" rotWithShape="0" blurRad="114300" dist="38100" dir="8100000">
              <a:srgbClr val="0B3C49">
                <a:alpha val="12000"/>
              </a:srgbClr>
            </a:outerShdw>
          </a:effectLst>
        </p:spPr>
      </p:sp>
      <p:pic>
        <p:nvPicPr>
          <p:cNvPr id="6" name="Image 0" descr="D:/YJ-Agent/project/meeting/QuantImmuBench/analysis/figures_deepdive/fig_corr_heatmap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85800" y="1627632"/>
            <a:ext cx="6126480" cy="452628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66928" y="6199632"/>
            <a:ext cx="6309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i="1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图：8 个工具在同一批肽段上打分的两两相关（Spearman）。颜色越红越正相关，越白越不相关。除对角线外大多接近白色。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7132320" y="1645920"/>
            <a:ext cx="452628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sx="100000" sy="100000" kx="0" ky="0" algn="bl" rotWithShape="0" blurRad="114300" dist="38100" dir="8100000">
              <a:srgbClr val="0B3C49">
                <a:alpha val="12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7132320" y="1645920"/>
            <a:ext cx="82296" cy="1463040"/>
          </a:xfrm>
          <a:prstGeom prst="rect">
            <a:avLst/>
          </a:prstGeom>
          <a:solidFill>
            <a:srgbClr val="B23A48"/>
          </a:solidFill>
          <a:ln/>
        </p:spPr>
      </p:sp>
      <p:sp>
        <p:nvSpPr>
          <p:cNvPr id="10" name="Text 7"/>
          <p:cNvSpPr/>
          <p:nvPr/>
        </p:nvSpPr>
        <p:spPr>
          <a:xfrm>
            <a:off x="7315200" y="1764792"/>
            <a:ext cx="4297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23A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大多互不相关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7315200" y="2121408"/>
            <a:ext cx="4206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对角线之外，绝大多数格子都接近 0 —— 不同工具对同一条肽段给的高低排序基本各说各话。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7132320" y="3200400"/>
            <a:ext cx="452628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sx="100000" sy="100000" kx="0" ky="0" algn="bl" rotWithShape="0" blurRad="114300" dist="38100" dir="8100000">
              <a:srgbClr val="0B3C49">
                <a:alpha val="12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7132320" y="3200400"/>
            <a:ext cx="82296" cy="1463040"/>
          </a:xfrm>
          <a:prstGeom prst="rect">
            <a:avLst/>
          </a:prstGeom>
          <a:solidFill>
            <a:srgbClr val="C9743D"/>
          </a:solidFill>
          <a:ln/>
        </p:spPr>
      </p:sp>
      <p:sp>
        <p:nvSpPr>
          <p:cNvPr id="14" name="Text 11"/>
          <p:cNvSpPr/>
          <p:nvPr/>
        </p:nvSpPr>
        <p:spPr>
          <a:xfrm>
            <a:off x="7315200" y="3319272"/>
            <a:ext cx="4297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974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只有两对例外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7315200" y="3675888"/>
            <a:ext cx="4206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IMPROVE–PRIME 0.69、DeepImmuno–deepHLApan 0.50 较高，多半因为它们方法或训练数据有重叠。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7132320" y="4754880"/>
            <a:ext cx="452628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sx="100000" sy="100000" kx="0" ky="0" algn="bl" rotWithShape="0" blurRad="114300" dist="38100" dir="8100000">
              <a:srgbClr val="0B3C49">
                <a:alpha val="12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7132320" y="4754880"/>
            <a:ext cx="82296" cy="146304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18" name="Text 15"/>
          <p:cNvSpPr/>
          <p:nvPr/>
        </p:nvSpPr>
        <p:spPr>
          <a:xfrm>
            <a:off x="7315200" y="4873752"/>
            <a:ext cx="4297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这说明什么</a:t>
            </a:r>
            <a:endParaRPr lang="en-US" sz="1400" dirty="0"/>
          </a:p>
        </p:txBody>
      </p:sp>
      <p:sp>
        <p:nvSpPr>
          <p:cNvPr id="19" name="Text 16"/>
          <p:cNvSpPr/>
          <p:nvPr/>
        </p:nvSpPr>
        <p:spPr>
          <a:xfrm>
            <a:off x="7315200" y="5230368"/>
            <a:ext cx="4206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工具之间没有共识 → 没有哪一个是「公认标准答案」；也意味着简单做平均集成，提升有限（后续验证也确实如此）。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1145743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29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2F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能不能分强弱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65836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现有工具更像「分类器」而非「打分器」—— 在全是阳性的数据上排不出强弱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48640" y="1508760"/>
            <a:ext cx="6035040" cy="4754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sx="100000" sy="100000" kx="0" ky="0" algn="bl" rotWithShape="0" blurRad="114300" dist="38100" dir="8100000">
              <a:srgbClr val="0B3C49">
                <a:alpha val="12000"/>
              </a:srgbClr>
            </a:outerShdw>
          </a:effectLst>
        </p:spPr>
      </p:sp>
      <p:pic>
        <p:nvPicPr>
          <p:cNvPr id="6" name="Image 0" descr="D:/YJ-Agent/project/meeting/QuantImmuBench/analysis/figures/fig7_8tools_spearman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58368" y="1645920"/>
            <a:ext cx="5806440" cy="41148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94360" y="5852160"/>
            <a:ext cx="5943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i="1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图：8 个工具分数与实验反应强度的 Spearman 相关（取最大聚合）。* 表示显著。只有 IMPROVE / PredIG 显著正相关。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6766560" y="1600200"/>
            <a:ext cx="4892040" cy="2331720"/>
          </a:xfrm>
          <a:prstGeom prst="rect">
            <a:avLst/>
          </a:prstGeom>
          <a:solidFill>
            <a:srgbClr val="0B3C49"/>
          </a:solidFill>
          <a:ln/>
          <a:effectLst>
            <a:outerShdw sx="100000" sy="100000" kx="0" ky="0" algn="bl" rotWithShape="0" blurRad="114300" dist="38100" dir="8100000">
              <a:srgbClr val="0B3C49">
                <a:alpha val="12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6967728" y="1755648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2C39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用「全阳数据」DS1 验证「能不能分强弱」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6967728" y="2212848"/>
            <a:ext cx="452628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spcAft>
                <a:spcPts val="600"/>
              </a:spcAft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DS1 = 82 条肽段，全部有反应（强度从 16 到 677，差约 40 倍），没有阴性 → 不能算 AUC，只能看能不能排强弱。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结果：9 个里 8 个的相关性接近 0、都不显著（基本等于乱排）。唯一显著的那个还是反着的。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6766560" y="4069080"/>
            <a:ext cx="4892040" cy="2194560"/>
          </a:xfrm>
          <a:prstGeom prst="rect">
            <a:avLst/>
          </a:prstGeom>
          <a:solidFill>
            <a:srgbClr val="E6F4F1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967728" y="4187952"/>
            <a:ext cx="4572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这说明什么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6967728" y="4535424"/>
            <a:ext cx="452628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spcAft>
                <a:spcPts val="600"/>
              </a:spcAft>
              <a:buNone/>
            </a:pPr>
            <a:r>
              <a:rPr lang="en-US" sz="10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干净对照：同一批工具在有阴有阳的 DS2 上，头部还能正向排强弱；一到「全是阳性」的 DS1 就全塌成乱排。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0B3C4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也就是说，它们的本事主要在「分有反应 / 没反应」这道门槛；真要预测「有多强」几乎做不到（详见下页 DS1 全阳证据）。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1145743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30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2F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用全阳数据证伪「能分强弱」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65836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DS1 全是有反应的肽，按强弱排 —— 没有工具排得对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48640" y="1463040"/>
            <a:ext cx="6903720" cy="2788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sx="100000" sy="100000" kx="0" ky="0" algn="bl" rotWithShape="0" blurRad="114300" dist="38100" dir="8100000">
              <a:srgbClr val="0B3C49">
                <a:alpha val="12000"/>
              </a:srgbClr>
            </a:outerShdw>
          </a:effectLst>
        </p:spPr>
      </p:sp>
      <p:pic>
        <p:nvPicPr>
          <p:cNvPr id="6" name="Image 0" descr="D:/YJ-Agent/project/meeting/QuantImmuBench/figures/ds1_vs_ds2_spearman_ba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58368" y="1572768"/>
            <a:ext cx="6675120" cy="256032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66928" y="4187952"/>
            <a:ext cx="6858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i="1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图上：同一工具在 DS2（蓝，有阴有阳）能正向排强弱，到 DS1（橙，全阳）就掉到 0 附近。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548640" y="4526280"/>
            <a:ext cx="6903720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sx="100000" sy="100000" kx="0" ky="0" algn="bl" rotWithShape="0" blurRad="114300" dist="38100" dir="8100000">
              <a:srgbClr val="0B3C49">
                <a:alpha val="12000"/>
              </a:srgbClr>
            </a:outerShdw>
          </a:effectLst>
        </p:spPr>
      </p:sp>
      <p:pic>
        <p:nvPicPr>
          <p:cNvPr id="9" name="Image 1" descr="D:/YJ-Agent/project/meeting/QuantImmuBench/figures/ds1_magnitude_scatter_bestbinder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58368" y="4617720"/>
            <a:ext cx="6675120" cy="160020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566928" y="6272784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i="1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图下：每个工具的分数 vs 真实反应强度散点 —— 都是一团平云，没有上升趋势。</a:t>
            </a:r>
            <a:endParaRPr lang="en-US" sz="850" dirty="0"/>
          </a:p>
        </p:txBody>
      </p:sp>
      <p:sp>
        <p:nvSpPr>
          <p:cNvPr id="11" name="Shape 7"/>
          <p:cNvSpPr/>
          <p:nvPr/>
        </p:nvSpPr>
        <p:spPr>
          <a:xfrm>
            <a:off x="7635240" y="1463040"/>
            <a:ext cx="4023360" cy="4846320"/>
          </a:xfrm>
          <a:prstGeom prst="rect">
            <a:avLst/>
          </a:prstGeom>
          <a:solidFill>
            <a:srgbClr val="0B3C49"/>
          </a:solidFill>
          <a:ln/>
          <a:effectLst>
            <a:outerShdw sx="100000" sy="100000" kx="0" ky="0" algn="bl" rotWithShape="0" blurRad="114300" dist="38100" dir="8100000">
              <a:srgbClr val="0B3C49">
                <a:alpha val="12000"/>
              </a:srgbClr>
            </a:outerShdw>
          </a:effectLst>
        </p:spPr>
      </p:sp>
      <p:sp>
        <p:nvSpPr>
          <p:cNvPr id="12" name="Text 8"/>
          <p:cNvSpPr/>
          <p:nvPr/>
        </p:nvSpPr>
        <p:spPr>
          <a:xfrm>
            <a:off x="7845552" y="16459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2C39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结论：分类器，不是打分器</a:t>
            </a:r>
            <a:endParaRPr lang="en-US" sz="1500" dirty="0"/>
          </a:p>
        </p:txBody>
      </p:sp>
      <p:sp>
        <p:nvSpPr>
          <p:cNvPr id="13" name="Text 9"/>
          <p:cNvSpPr/>
          <p:nvPr/>
        </p:nvSpPr>
        <p:spPr>
          <a:xfrm>
            <a:off x="7845552" y="2103120"/>
            <a:ext cx="361188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spcAft>
                <a:spcPts val="1000"/>
              </a:spcAft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DS1 = 82 条肽，全部有反应，强度从 16 到 677（差约 40 倍）。没有阴性，所以只考一件事：能不能把「强的排前、弱的排后」。</a:t>
            </a:r>
            <a:endParaRPr lang="en-US" sz="1100" dirty="0"/>
          </a:p>
          <a:p>
            <a:pPr indent="0" marL="0">
              <a:lnSpc>
                <a:spcPct val="105000"/>
              </a:lnSpc>
              <a:spcAft>
                <a:spcPts val="1000"/>
              </a:spcAft>
              <a:buNone/>
            </a:pPr>
            <a:r>
              <a:rPr lang="en-US" sz="1100" dirty="0">
                <a:solidFill>
                  <a:srgbClr val="CADC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结果：几乎所有工具的相关系数都接近 0、不显著（等于乱排）；个别显著的还是反向。</a:t>
            </a:r>
            <a:endParaRPr lang="en-US" sz="1100" dirty="0"/>
          </a:p>
          <a:p>
            <a:pPr indent="0" marL="0">
              <a:lnSpc>
                <a:spcPct val="105000"/>
              </a:lnSpc>
              <a:spcAft>
                <a:spcPts val="1000"/>
              </a:spcAft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对照 DS2（有阴有阳）头部还能排 → 工具的能力集中在「有反应 / 没反应」这道门槛上；一旦都是阳性、要比「谁更强」，门槛信息用完就失灵。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02C39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这正是「预测反应强弱」值得做的直接证据。</a:t>
            </a:r>
            <a:endParaRPr lang="en-US" sz="1100" dirty="0"/>
          </a:p>
        </p:txBody>
      </p:sp>
      <p:sp>
        <p:nvSpPr>
          <p:cNvPr id="14" name="Text 10"/>
          <p:cNvSpPr/>
          <p:nvPr/>
        </p:nvSpPr>
        <p:spPr>
          <a:xfrm>
            <a:off x="1145743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31</a:t>
            </a:r>
            <a:endParaRPr lang="en-US" sz="11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2F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再细看一层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65836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按肽段长度分开看 · 临床更关心的 top-K 命中率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48640" y="1508760"/>
            <a:ext cx="6949440" cy="3657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sx="100000" sy="100000" kx="0" ky="0" algn="bl" rotWithShape="0" blurRad="114300" dist="38100" dir="8100000">
              <a:srgbClr val="0B3C49">
                <a:alpha val="12000"/>
              </a:srgbClr>
            </a:outerShdw>
          </a:effectLst>
        </p:spPr>
      </p:sp>
      <p:pic>
        <p:nvPicPr>
          <p:cNvPr id="6" name="Image 0" descr="D:/YJ-Agent/project/meeting/QuantImmuBench/analysis/figures_deepdive/fig_length_strat_auc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76656" y="1645920"/>
            <a:ext cx="6675120" cy="333756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66928" y="5074920"/>
            <a:ext cx="6949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i="1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图：按子肽长度（8–14）分开算 AUC。PredIG（橙）在各长度都稳在 0.5 以上；多数工具随长度上下波动、部分跌破随机。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548640" y="5532120"/>
            <a:ext cx="6949440" cy="868680"/>
          </a:xfrm>
          <a:prstGeom prst="rect">
            <a:avLst/>
          </a:prstGeom>
          <a:solidFill>
            <a:srgbClr val="E6F4F1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31520" y="5596128"/>
            <a:ext cx="66294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读法：</a:t>
            </a:r>
            <a:pPr indent="0" marL="0">
              <a:lnSpc>
                <a:spcPct val="103000"/>
              </a:lnSpc>
              <a:buNone/>
            </a:pPr>
            <a:r>
              <a:rPr lang="en-US" sz="10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长度分层后样本更小、波动更大，但能看出哪些工具的判别力对肽长稳健（PredIG 相对稳）。这一层主要用于诊断，不改变「整体偏弱」的主结论。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7680960" y="155448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临床更关心：top-K 命中率（PPV@K）</a:t>
            </a:r>
            <a:endParaRPr lang="en-US" sz="1350" dirty="0"/>
          </a:p>
        </p:txBody>
      </p:sp>
      <p:graphicFrame>
        <p:nvGraphicFramePr>
          <p:cNvPr id="3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680960" y="2011680"/>
          <a:ext cx="397764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914400"/>
                <a:gridCol w="868680"/>
                <a:gridCol w="822960"/>
              </a:tblGrid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工具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AUPRC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PPV@10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MCC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32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pTuneos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32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0.949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A89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1.00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32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0.280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32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PredIG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32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0.941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A89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1.00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32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0.247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32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NeoTImmuML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32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0.942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A89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1.00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32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0.224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32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IMPROVE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32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0.922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32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0.90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32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0.240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32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DeepImmuno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32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0.895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32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0.90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32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0.082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Shape 8"/>
          <p:cNvSpPr/>
          <p:nvPr/>
        </p:nvSpPr>
        <p:spPr>
          <a:xfrm>
            <a:off x="7680960" y="4434840"/>
            <a:ext cx="3977640" cy="1874520"/>
          </a:xfrm>
          <a:prstGeom prst="rect">
            <a:avLst/>
          </a:prstGeom>
          <a:solidFill>
            <a:srgbClr val="FBEEE4"/>
          </a:solidFill>
          <a:ln w="12700">
            <a:solidFill>
              <a:srgbClr val="C9743D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7845552" y="4526280"/>
            <a:ext cx="3657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C974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怎么读这些指标：</a:t>
            </a:r>
            <a:endParaRPr lang="en-US" sz="1100" dirty="0"/>
          </a:p>
          <a:p>
            <a:pPr indent="0" marL="0">
              <a:lnSpc>
                <a:spcPct val="10300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PPV@10 = 把分数最高的 10 条挑出来，里面真有反应的比例（临床只能合成前几条，这个最实用）。AUPRC、MCC 是综合精确率指标。</a:t>
            </a:r>
            <a:endParaRPr lang="en-US" sz="1100" dirty="0"/>
          </a:p>
          <a:p>
            <a:pPr indent="0" marL="0">
              <a:lnSpc>
                <a:spcPct val="103000"/>
              </a:lnSpc>
              <a:buNone/>
            </a:pPr>
            <a:r>
              <a:rPr lang="en-US" sz="900" i="1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注意：阳性本就占 89%，AUPRC 起点就高、提升空间有限；这 5 个为第一批工具，新工具的 top-K 未单独计算。</a:t>
            </a:r>
            <a:endParaRPr lang="en-US" sz="1100" dirty="0"/>
          </a:p>
        </p:txBody>
      </p:sp>
      <p:sp>
        <p:nvSpPr>
          <p:cNvPr id="14" name="Text 10"/>
          <p:cNvSpPr/>
          <p:nvPr/>
        </p:nvSpPr>
        <p:spPr>
          <a:xfrm>
            <a:off x="1145743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32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2F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C9743D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974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提呈参照（单列）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65836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HLAthena：预测的是「提呈」不是「免疫原性」，单独看、不与前 8 个并比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640080" y="1627632"/>
            <a:ext cx="6858000" cy="4617720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sx="100000" sy="100000" kx="0" ky="0" algn="bl" rotWithShape="0" blurRad="114300" dist="38100" dir="8100000">
              <a:srgbClr val="0B3C49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68680" y="178308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3C4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在 ELISpot 上的表现（DS2）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868680" y="2286000"/>
            <a:ext cx="6400800" cy="566928"/>
          </a:xfrm>
          <a:prstGeom prst="rect">
            <a:avLst/>
          </a:prstGeom>
          <a:solidFill>
            <a:srgbClr val="F7FAFA"/>
          </a:solidFill>
          <a:ln w="12700">
            <a:solidFill>
              <a:srgbClr val="D5E3E4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68680" y="2286000"/>
            <a:ext cx="73152" cy="566928"/>
          </a:xfrm>
          <a:prstGeom prst="rect">
            <a:avLst/>
          </a:prstGeom>
          <a:solidFill>
            <a:srgbClr val="B23A48"/>
          </a:solidFill>
          <a:ln/>
        </p:spPr>
      </p:sp>
      <p:sp>
        <p:nvSpPr>
          <p:cNvPr id="9" name="Text 7"/>
          <p:cNvSpPr/>
          <p:nvPr/>
        </p:nvSpPr>
        <p:spPr>
          <a:xfrm>
            <a:off x="1051560" y="2340864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AUC（取最大，阈值&gt;0）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4114800" y="2340864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B23A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0.509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5349240" y="2340864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≈ 随机（0.5）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868680" y="2944368"/>
            <a:ext cx="6400800" cy="566928"/>
          </a:xfrm>
          <a:prstGeom prst="rect">
            <a:avLst/>
          </a:prstGeom>
          <a:solidFill>
            <a:srgbClr val="F7FAFA"/>
          </a:solidFill>
          <a:ln w="12700">
            <a:solidFill>
              <a:srgbClr val="D5E3E4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68680" y="2944368"/>
            <a:ext cx="73152" cy="566928"/>
          </a:xfrm>
          <a:prstGeom prst="rect">
            <a:avLst/>
          </a:prstGeom>
          <a:solidFill>
            <a:srgbClr val="B23A48"/>
          </a:solidFill>
          <a:ln/>
        </p:spPr>
      </p:sp>
      <p:sp>
        <p:nvSpPr>
          <p:cNvPr id="14" name="Text 12"/>
          <p:cNvSpPr/>
          <p:nvPr/>
        </p:nvSpPr>
        <p:spPr>
          <a:xfrm>
            <a:off x="1051560" y="2999232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AUC（各种口径范围）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4114800" y="2999232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B23A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0.49 – 0.59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5349240" y="2999232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没有一个明显离开随机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868680" y="3602736"/>
            <a:ext cx="6400800" cy="566928"/>
          </a:xfrm>
          <a:prstGeom prst="rect">
            <a:avLst/>
          </a:prstGeom>
          <a:solidFill>
            <a:srgbClr val="F7FAFA"/>
          </a:solidFill>
          <a:ln w="12700">
            <a:solidFill>
              <a:srgbClr val="D5E3E4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68680" y="3602736"/>
            <a:ext cx="73152" cy="566928"/>
          </a:xfrm>
          <a:prstGeom prst="rect">
            <a:avLst/>
          </a:prstGeom>
          <a:solidFill>
            <a:srgbClr val="C9743D"/>
          </a:solidFill>
          <a:ln/>
        </p:spPr>
      </p:sp>
      <p:sp>
        <p:nvSpPr>
          <p:cNvPr id="19" name="Text 17"/>
          <p:cNvSpPr/>
          <p:nvPr/>
        </p:nvSpPr>
        <p:spPr>
          <a:xfrm>
            <a:off x="1051560" y="365760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与反应强度的相关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4114800" y="3657600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C974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0.08 – 0.15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5349240" y="365760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全都不显著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868680" y="4261104"/>
            <a:ext cx="6400800" cy="566928"/>
          </a:xfrm>
          <a:prstGeom prst="rect">
            <a:avLst/>
          </a:prstGeom>
          <a:solidFill>
            <a:srgbClr val="F7FAFA"/>
          </a:solidFill>
          <a:ln w="12700">
            <a:solidFill>
              <a:srgbClr val="D5E3E4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68680" y="4261104"/>
            <a:ext cx="73152" cy="566928"/>
          </a:xfrm>
          <a:prstGeom prst="rect">
            <a:avLst/>
          </a:prstGeom>
          <a:solidFill>
            <a:srgbClr val="C9743D"/>
          </a:solidFill>
          <a:ln/>
        </p:spPr>
      </p:sp>
      <p:sp>
        <p:nvSpPr>
          <p:cNvPr id="24" name="Text 22"/>
          <p:cNvSpPr/>
          <p:nvPr/>
        </p:nvSpPr>
        <p:spPr>
          <a:xfrm>
            <a:off x="1051560" y="4315968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AUPRC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4114800" y="4315968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C974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0.890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349240" y="4315968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数据本身阳性占比就 0.89，谈不上提升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868680" y="5029200"/>
            <a:ext cx="6400800" cy="1078992"/>
          </a:xfrm>
          <a:prstGeom prst="rect">
            <a:avLst/>
          </a:prstGeom>
          <a:solidFill>
            <a:srgbClr val="E6F4F1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051560" y="5084064"/>
            <a:ext cx="603504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200" b="1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怎么理解：</a:t>
            </a:r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HLAthena 在免疫原性上接近随机，这恰恰符合它的本职 —— 它只预测「能否被提呈」，论文也明说不预测「能否激活 T 细胞」。所以它在这里只当提呈参照，</a:t>
            </a:r>
            <a:pPr indent="0" marL="0">
              <a:lnSpc>
                <a:spcPct val="104000"/>
              </a:lnSpc>
              <a:buNone/>
            </a:pPr>
            <a:r>
              <a:rPr lang="en-US" sz="1100" b="1" dirty="0">
                <a:solidFill>
                  <a:srgbClr val="0B3C4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单列，不和 8 个免疫原性工具直接并比。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7680960" y="1627632"/>
            <a:ext cx="3977640" cy="4617720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sx="100000" sy="100000" kx="0" ky="0" algn="bl" rotWithShape="0" blurRad="114300" dist="38100" dir="8100000">
              <a:srgbClr val="0B3C49">
                <a:alpha val="12000"/>
              </a:srgbClr>
            </a:outerShdw>
          </a:effectLst>
        </p:spPr>
      </p:sp>
      <p:sp>
        <p:nvSpPr>
          <p:cNvPr id="30" name="Text 28"/>
          <p:cNvSpPr/>
          <p:nvPr/>
        </p:nvSpPr>
        <p:spPr>
          <a:xfrm>
            <a:off x="7909560" y="178308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974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覆盖度与工程说明</a:t>
            </a:r>
            <a:endParaRPr lang="en-US" sz="1500" dirty="0"/>
          </a:p>
        </p:txBody>
      </p:sp>
      <p:sp>
        <p:nvSpPr>
          <p:cNvPr id="31" name="Text 29"/>
          <p:cNvSpPr/>
          <p:nvPr/>
        </p:nvSpPr>
        <p:spPr>
          <a:xfrm>
            <a:off x="7909560" y="2240280"/>
            <a:ext cx="356616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0B3C4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逐肽覆盖 100/101（98%）</a:t>
            </a:r>
            <a:endParaRPr lang="en-US" sz="1150" dirty="0"/>
          </a:p>
          <a:p>
            <a:pPr indent="0" marL="0">
              <a:lnSpc>
                <a:spcPct val="105000"/>
              </a:lnSpc>
              <a:spcAft>
                <a:spcPts val="1000"/>
              </a:spcAft>
              <a:buNone/>
            </a:pPr>
            <a:r>
              <a:rPr lang="en-US" sz="10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每条肽段取其所有子肽中的最高分，即使个别子肽缺失，逐肽结论依然稳。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0B3C4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分块计算 266/336 完成</a:t>
            </a:r>
            <a:endParaRPr lang="en-US" sz="1150" dirty="0"/>
          </a:p>
          <a:p>
            <a:pPr indent="0" marL="0">
              <a:lnSpc>
                <a:spcPct val="105000"/>
              </a:lnSpc>
              <a:spcAft>
                <a:spcPts val="1000"/>
              </a:spcAft>
              <a:buNone/>
            </a:pPr>
            <a:r>
              <a:rPr lang="en-US" sz="10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在共享登录节点上跑，部分小任务因节点高负载被系统中止；因覆盖已达 98%，不影响「近随机」的结论。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0B3C4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模型下载绕坑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镜像自带的下载凭证已失效 → 改用匿名直链下模型、改配置走本地挂载，才跑通。</a:t>
            </a:r>
            <a:endParaRPr lang="en-US" sz="1150" dirty="0"/>
          </a:p>
        </p:txBody>
      </p:sp>
      <p:sp>
        <p:nvSpPr>
          <p:cNvPr id="32" name="Text 30"/>
          <p:cNvSpPr/>
          <p:nvPr/>
        </p:nvSpPr>
        <p:spPr>
          <a:xfrm>
            <a:off x="640080" y="6419088"/>
            <a:ext cx="10972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i="1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来源  </a:t>
            </a:r>
            <a:pPr indent="0" marL="0">
              <a:buNone/>
            </a:pPr>
            <a:r>
              <a:rPr lang="en-US" sz="900" i="1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HLAthena, Nature Biotechnology 2020 · DOI 10.1038/s41587-019-0322-9 · 数字见 analysis/metrics_ds2_9tools.csv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1145743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33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2F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C9743D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974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诚实边界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65836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已知限制与红线（先讲清楚）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640080" y="1627632"/>
            <a:ext cx="722376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sx="100000" sy="100000" kx="0" ky="0" algn="bl" rotWithShape="0" blurRad="114300" dist="38100" dir="8100000">
              <a:srgbClr val="0B3C49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40080" y="1627632"/>
            <a:ext cx="82296" cy="1078992"/>
          </a:xfrm>
          <a:prstGeom prst="rect">
            <a:avLst/>
          </a:prstGeom>
          <a:solidFill>
            <a:srgbClr val="B23A48"/>
          </a:solidFill>
          <a:ln/>
        </p:spPr>
      </p:sp>
      <p:sp>
        <p:nvSpPr>
          <p:cNvPr id="7" name="Text 5"/>
          <p:cNvSpPr/>
          <p:nvPr/>
        </p:nvSpPr>
        <p:spPr>
          <a:xfrm>
            <a:off x="896112" y="1755648"/>
            <a:ext cx="1828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B23A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样本量很小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2697480" y="1737360"/>
            <a:ext cx="5029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无反应样本只有 11 个 → 所有 AUC/相关的置信区间都偏宽，工具间不到 0.05 的差距不显著。这正是「没有稳定最优」结论的来源。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640080" y="2798064"/>
            <a:ext cx="722376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sx="100000" sy="100000" kx="0" ky="0" algn="bl" rotWithShape="0" blurRad="114300" dist="38100" dir="8100000">
              <a:srgbClr val="0B3C49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40080" y="2798064"/>
            <a:ext cx="82296" cy="1078992"/>
          </a:xfrm>
          <a:prstGeom prst="rect">
            <a:avLst/>
          </a:prstGeom>
          <a:solidFill>
            <a:srgbClr val="C9743D"/>
          </a:solidFill>
          <a:ln/>
        </p:spPr>
      </p:sp>
      <p:sp>
        <p:nvSpPr>
          <p:cNvPr id="11" name="Text 9"/>
          <p:cNvSpPr/>
          <p:nvPr/>
        </p:nvSpPr>
        <p:spPr>
          <a:xfrm>
            <a:off x="896112" y="2926080"/>
            <a:ext cx="1828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C974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数据有聚集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2697480" y="2907792"/>
            <a:ext cx="5029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101 条肽来自 9 个病人，前两个病人贡献了约 45% 的阴性肽 → 有效样本数其实小于 101，AUC 可能部分在「区分病人」。需按病人分层复核。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40080" y="3968496"/>
            <a:ext cx="722376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sx="100000" sy="100000" kx="0" ky="0" algn="bl" rotWithShape="0" blurRad="114300" dist="38100" dir="8100000">
              <a:srgbClr val="0B3C49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40080" y="3968496"/>
            <a:ext cx="82296" cy="1078992"/>
          </a:xfrm>
          <a:prstGeom prst="rect">
            <a:avLst/>
          </a:prstGeom>
          <a:solidFill>
            <a:srgbClr val="C9743D"/>
          </a:solidFill>
          <a:ln/>
        </p:spPr>
      </p:sp>
      <p:sp>
        <p:nvSpPr>
          <p:cNvPr id="15" name="Text 13"/>
          <p:cNvSpPr/>
          <p:nvPr/>
        </p:nvSpPr>
        <p:spPr>
          <a:xfrm>
            <a:off x="896112" y="4096512"/>
            <a:ext cx="1828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C974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训练-测试可能重叠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2697480" y="4078224"/>
            <a:ext cx="5029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第二批几个工具用公开库训练，可能与本测试集重叠；当前未排重，「独立性待核」。重叠会让分数偏高 → 对「新工具无增量」这个主结论反而更保守、更稳。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40080" y="5138928"/>
            <a:ext cx="722376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sx="100000" sy="100000" kx="0" ky="0" algn="bl" rotWithShape="0" blurRad="114300" dist="38100" dir="8100000">
              <a:srgbClr val="0B3C49">
                <a:alpha val="1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40080" y="5138928"/>
            <a:ext cx="82296" cy="1078992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19" name="Text 17"/>
          <p:cNvSpPr/>
          <p:nvPr/>
        </p:nvSpPr>
        <p:spPr>
          <a:xfrm>
            <a:off x="896112" y="5266944"/>
            <a:ext cx="1828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完整度分级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2697480" y="5248656"/>
            <a:ext cx="5029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DeepImmuno/PredIG/PRIME/ImmuneApp/deepHLApan 完整；pTuneos 用子模型；IMPROVE 特征降级；NeoTImmuML 自训版；MHLAPre 未完成。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8046720" y="1627632"/>
            <a:ext cx="3611880" cy="4617720"/>
          </a:xfrm>
          <a:prstGeom prst="rect">
            <a:avLst/>
          </a:prstGeom>
          <a:solidFill>
            <a:srgbClr val="4A1F24"/>
          </a:solidFill>
          <a:ln/>
          <a:effectLst>
            <a:outerShdw sx="100000" sy="100000" kx="0" ky="0" algn="bl" rotWithShape="0" blurRad="114300" dist="38100" dir="8100000">
              <a:srgbClr val="0B3C49">
                <a:alpha val="12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8275320" y="182880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2C2C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⚠️ 许可红线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8275320" y="2286000"/>
            <a:ext cx="324612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netMHCpan / netMHCstabpan</a:t>
            </a:r>
            <a:endParaRPr lang="en-US" sz="1250" dirty="0"/>
          </a:p>
          <a:p>
            <a:pPr indent="0" marL="0">
              <a:lnSpc>
                <a:spcPct val="105000"/>
              </a:lnSpc>
              <a:spcAft>
                <a:spcPts val="1200"/>
              </a:spcAft>
              <a:buNone/>
            </a:pPr>
            <a:r>
              <a:rPr lang="en-US" sz="1100" dirty="0">
                <a:solidFill>
                  <a:srgbClr val="F2C2C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= DTU 学术许可。未经书面同意，不得把在其软件上跑出的结果（含数字）对外发布。</a:t>
            </a:r>
            <a:endParaRPr lang="en-US" sz="12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本项目正是基准评测</a:t>
            </a:r>
            <a:endParaRPr lang="en-US" sz="1250" dirty="0"/>
          </a:p>
          <a:p>
            <a:pPr indent="0" marL="0">
              <a:lnSpc>
                <a:spcPct val="105000"/>
              </a:lnSpc>
              <a:spcAft>
                <a:spcPts val="1200"/>
              </a:spcAft>
              <a:buNone/>
            </a:pPr>
            <a:r>
              <a:rPr lang="en-US" sz="1100" dirty="0">
                <a:solidFill>
                  <a:srgbClr val="F2C2C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 论文或对外材料若含这些工具跑出的对比数字，须先取 DTU 书面同意（投稿阶段处理）。</a:t>
            </a:r>
            <a:endParaRPr lang="en-US" sz="12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deepHLApan = GPL-2.0</a:t>
            </a:r>
            <a:endParaRPr lang="en-US" sz="12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F2C2C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公开发布前需做许可合规审查。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1145743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34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2F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参考文献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65836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 个工具的论文出处与代码仓库</a:t>
            </a:r>
            <a:endParaRPr lang="en-US" sz="2600" dirty="0"/>
          </a:p>
        </p:txBody>
      </p:sp>
      <p:graphicFrame>
        <p:nvGraphicFramePr>
          <p:cNvPr id="3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00200"/>
          <a:ext cx="10927080" cy="914400"/>
        </p:xfrm>
        <a:graphic>
          <a:graphicData uri="http://schemas.openxmlformats.org/drawingml/2006/table">
            <a:tbl>
              <a:tblPr/>
              <a:tblGrid>
                <a:gridCol w="1691640"/>
                <a:gridCol w="2834640"/>
                <a:gridCol w="2606040"/>
                <a:gridCol w="3794760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工具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发表期刊 / 年份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DOI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代码仓库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632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DeepImmuno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632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Briefings in Bioinformatics 2021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632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10.1093/bib/bbab160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632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github.com/frankligy/DeepImmuno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632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PredIG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632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Genome Medicine 2025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632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10.1186/s13073-025-01569-8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632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github.com/BSC-CNS-EAPM/PredIG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632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pTuneos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632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Genome Medicine 2019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632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10.1186/s13073-019-0679-x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632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github.com/bm2-lab/pTuneos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632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IMPROVE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632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Frontiers in Immunology 2024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632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10.3389/fimmu.2024.1360281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632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github.com/SRHgroup/IMPROVE_tool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632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NeoTImmuML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632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Frontiers in Immunology 2025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632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10.3389/fimmu.2025.1681396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632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github.com/01SYan19/NeoTImmuML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632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PRIME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632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Cell Rep. Med. 2021 / Cell Systems 2023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632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10.1016/j.celrep.2021.100194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632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github.com/GfellerLab/PRIME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632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ImmuneApp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632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Nature Communications 2024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632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10.1038/s41467-024-53296-0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632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github.com/bsml320/ImmuneApp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632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deepHLApan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632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Frontiers in Immunology 2019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632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10.3389/fimmu.2019.02559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632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github.com/jiujiezz/deephlapan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632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MHLAPre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632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Briefings in Bioinformatics 2024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632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10.1093/bib/bbae625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632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github.com/ChanganMakeYi/MHLAPre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632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HLAthena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632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Nature Biotechnology 2020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632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10.1038/s41587-019-0322-9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632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hlathena.tools · Docker ssarkizova/hlathena-external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640080" y="6172200"/>
            <a:ext cx="10927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i="1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外部依赖工具：netMHCpan / netMHCstabpan（DTU Health Tech，学术许可）· MixMHCpred（Gfeller lab）· Ensembl VEP · R Peptides 包。数据集与本地产物为课题组内部数据，不在此列。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145743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35</a:t>
            </a:r>
            <a:endParaRPr lang="en-US" sz="11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0B3C4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640080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结论与下一步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822960" y="169164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2C39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已经完成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822960" y="2148840"/>
            <a:ext cx="534924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 个工具全部部署 + 四类信息全收集（逐工具文档齐）</a:t>
            </a:r>
            <a:endParaRPr lang="en-US" sz="12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 个跑进统一 ELISpot 基准；唯一 MHLAPre 因缺权重未完成（已尽力核实、留可行出路）</a:t>
            </a:r>
            <a:endParaRPr lang="en-US" sz="12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主结论：8 个免疫原性工具判别力普遍偏弱、彼此分不出显著高下、新工具无增量</a:t>
            </a:r>
            <a:endParaRPr lang="en-US" sz="12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HLAthena（提呈 proxy）近随机，印证「提呈 ≠ 免疫原性」，单列参照</a:t>
            </a:r>
            <a:endParaRPr lang="en-US" sz="1250" dirty="0"/>
          </a:p>
          <a:p>
            <a:pPr marL="177800" indent="-177800">
              <a:buSzPct val="100000"/>
              <a:buChar char="•"/>
            </a:pPr>
            <a:r>
              <a:rPr lang="en-US" sz="1250" b="1" dirty="0">
                <a:solidFill>
                  <a:srgbClr val="02C39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现有工具几乎不能预测「反应有多强」→ 反过来说明做「强弱定量」这件事有空白、有价值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6400800" y="169164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974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下一步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6400800" y="2148840"/>
            <a:ext cx="5029200" cy="786384"/>
          </a:xfrm>
          <a:prstGeom prst="rect">
            <a:avLst/>
          </a:prstGeom>
          <a:solidFill>
            <a:srgbClr val="123F4B"/>
          </a:solidFill>
          <a:ln w="12700">
            <a:solidFill>
              <a:srgbClr val="1C556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0" y="2148840"/>
            <a:ext cx="73152" cy="786384"/>
          </a:xfrm>
          <a:prstGeom prst="rect">
            <a:avLst/>
          </a:prstGeom>
          <a:solidFill>
            <a:srgbClr val="C9743D"/>
          </a:solidFill>
          <a:ln/>
        </p:spPr>
      </p:sp>
      <p:sp>
        <p:nvSpPr>
          <p:cNvPr id="9" name="Text 7"/>
          <p:cNvSpPr/>
          <p:nvPr/>
        </p:nvSpPr>
        <p:spPr>
          <a:xfrm>
            <a:off x="6629400" y="2240280"/>
            <a:ext cx="4663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先核连续标签够不够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6629400" y="2532888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9FD9C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要做「强弱回归」，先确认公开库里带强度标签的数据量够不够 —— 这是方向的总开关，零算力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6400800" y="3026664"/>
            <a:ext cx="5029200" cy="786384"/>
          </a:xfrm>
          <a:prstGeom prst="rect">
            <a:avLst/>
          </a:prstGeom>
          <a:solidFill>
            <a:srgbClr val="123F4B"/>
          </a:solidFill>
          <a:ln w="12700">
            <a:solidFill>
              <a:srgbClr val="1C556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400800" y="3026664"/>
            <a:ext cx="73152" cy="786384"/>
          </a:xfrm>
          <a:prstGeom prst="rect">
            <a:avLst/>
          </a:prstGeom>
          <a:solidFill>
            <a:srgbClr val="C9743D"/>
          </a:solidFill>
          <a:ln/>
        </p:spPr>
      </p:sp>
      <p:sp>
        <p:nvSpPr>
          <p:cNvPr id="13" name="Text 11"/>
          <p:cNvSpPr/>
          <p:nvPr/>
        </p:nvSpPr>
        <p:spPr>
          <a:xfrm>
            <a:off x="6629400" y="3118104"/>
            <a:ext cx="4663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补充阴性样本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6629400" y="3410712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9FD9C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测试集无反应样本仅 11 个 → 补到 ≥30 再重测，结论更稳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6400800" y="3904488"/>
            <a:ext cx="5029200" cy="786384"/>
          </a:xfrm>
          <a:prstGeom prst="rect">
            <a:avLst/>
          </a:prstGeom>
          <a:solidFill>
            <a:srgbClr val="123F4B"/>
          </a:solidFill>
          <a:ln w="12700">
            <a:solidFill>
              <a:srgbClr val="1C556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00800" y="3904488"/>
            <a:ext cx="73152" cy="786384"/>
          </a:xfrm>
          <a:prstGeom prst="rect">
            <a:avLst/>
          </a:prstGeom>
          <a:solidFill>
            <a:srgbClr val="C9743D"/>
          </a:solidFill>
          <a:ln/>
        </p:spPr>
      </p:sp>
      <p:sp>
        <p:nvSpPr>
          <p:cNvPr id="17" name="Text 15"/>
          <p:cNvSpPr/>
          <p:nvPr/>
        </p:nvSpPr>
        <p:spPr>
          <a:xfrm>
            <a:off x="6629400" y="3995928"/>
            <a:ext cx="4663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排查训练-测试重叠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6629400" y="4288536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9FD9C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把测试肽与公开训练库做精确比对，报告重叠比例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6400800" y="4782312"/>
            <a:ext cx="5029200" cy="786384"/>
          </a:xfrm>
          <a:prstGeom prst="rect">
            <a:avLst/>
          </a:prstGeom>
          <a:solidFill>
            <a:srgbClr val="123F4B"/>
          </a:solidFill>
          <a:ln w="12700">
            <a:solidFill>
              <a:srgbClr val="1C556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400800" y="4782312"/>
            <a:ext cx="73152" cy="786384"/>
          </a:xfrm>
          <a:prstGeom prst="rect">
            <a:avLst/>
          </a:prstGeom>
          <a:solidFill>
            <a:srgbClr val="C9743D"/>
          </a:solidFill>
          <a:ln/>
        </p:spPr>
      </p:sp>
      <p:sp>
        <p:nvSpPr>
          <p:cNvPr id="21" name="Text 19"/>
          <p:cNvSpPr/>
          <p:nvPr/>
        </p:nvSpPr>
        <p:spPr>
          <a:xfrm>
            <a:off x="6629400" y="4873752"/>
            <a:ext cx="4663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接入正式数据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6629400" y="516636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9FD9C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课题组正式数据到位后，按各工具格式转换再正式测一轮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6400800" y="5660136"/>
            <a:ext cx="5029200" cy="786384"/>
          </a:xfrm>
          <a:prstGeom prst="rect">
            <a:avLst/>
          </a:prstGeom>
          <a:solidFill>
            <a:srgbClr val="123F4B"/>
          </a:solidFill>
          <a:ln w="12700">
            <a:solidFill>
              <a:srgbClr val="1C556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400800" y="5660136"/>
            <a:ext cx="73152" cy="786384"/>
          </a:xfrm>
          <a:prstGeom prst="rect">
            <a:avLst/>
          </a:prstGeom>
          <a:solidFill>
            <a:srgbClr val="C9743D"/>
          </a:solidFill>
          <a:ln/>
        </p:spPr>
      </p:sp>
      <p:sp>
        <p:nvSpPr>
          <p:cNvPr id="25" name="Text 23"/>
          <p:cNvSpPr/>
          <p:nvPr/>
        </p:nvSpPr>
        <p:spPr>
          <a:xfrm>
            <a:off x="6629400" y="5751576"/>
            <a:ext cx="4663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对外许可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6629400" y="6044184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9FD9C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投稿前取 DTU 书面同意（netMHCpan 相关数字）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822960" y="644652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E9AA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基准数字均经 csv 三方核对；逐工具四类信息见 TOOLS/ 目录；工具论文出处见参考文献页。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1145743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36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36</Slides>
  <Notes>36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36</vt:i4>
      </vt:variant>
    </vt:vector>
  </HeadingPairs>
  <TitlesOfParts>
    <vt:vector size="3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新抗原免疫原性预测工具 10 工具横评 + Benchmark 报告</dc:title>
  <dc:subject>PptxGenJS Presentation</dc:subject>
  <dc:creator>legacccy</dc:creator>
  <cp:lastModifiedBy>legacccy</cp:lastModifiedBy>
  <cp:revision>1</cp:revision>
  <dcterms:created xsi:type="dcterms:W3CDTF">2026-06-25T06:58:59Z</dcterms:created>
  <dcterms:modified xsi:type="dcterms:W3CDTF">2026-06-25T06:58:59Z</dcterms:modified>
</cp:coreProperties>
</file>
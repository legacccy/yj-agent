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9171432" y="-1463040"/>
            <a:ext cx="4206240" cy="420624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360152" y="3291840"/>
            <a:ext cx="2926080" cy="292608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癌症个性化新抗原疫苗 · 免疫原性定量评测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QuantImmu 新抗原免疫原性定量评测框架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阶段进度与方法学评价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868680" y="416052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工具系统横评 · 官方 130 肽口径 · 2026-07-01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49377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版围绕项目当前阶段进度展开，先说明三十个预测工具的部署到位情况与数据口径，再依次呈现单工具基线、子肽聚合规律与多工具融合三层核心结果，最后用单独一章系统说明如何看待这批数据，包括已经处理好的方法学问题和留待周五讨论的两处措辞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994392" y="6126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B7B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本报告的内容结构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56232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0" y="184708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进度与工具部署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0" y="184708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三十个工具的部署到位情况与整体完成度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670048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88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828800" y="277977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277977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02736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3602736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37216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828800" y="37124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三层核心结果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43600" y="37124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单工具基线 子肽聚合规律 多工具融合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535424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535424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654296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828800" y="4645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43600" y="464515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如何看待这批数据 及三个评价要点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468112"/>
            <a:ext cx="1088136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5468112"/>
            <a:ext cx="82296" cy="78638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558698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828800" y="55778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43600" y="55778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 与周五要讨论的问题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进度总览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 数据到位 评测流程的整体完成度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44652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progress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290680"/>
            <a:ext cx="6227064" cy="332820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269480" y="1554480"/>
            <a:ext cx="427939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269480" y="1554480"/>
            <a:ext cx="82296" cy="4800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525512" y="1700784"/>
            <a:ext cx="3913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阶段进度要点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43800" y="2121408"/>
            <a:ext cx="377647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工具接入已全部完成，三十个工具全部部署跑通并进入官方一百三十肽评测，其中八种属于抗原呈递与结合方向，二十二种属于免疫原性方向。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人源数据两套均已就位，一套是六例黑色素瘤的早期数据集，另一套是官方发布的一百三十条肽、九名患者的主分析队列。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小鼠数据两套目前都还没有，正在收集当中。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评测所需的方法学工具已全部跑通，包括十二种融合方法、四种子肽聚合算子，以及三重检验流程。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项目进度追踪（2026-07-01）· 官方一百三十肽队列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一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抗原呈递与结合类共八种工具的部署状态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3774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分数类型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(BA)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netMHCpan-4.1 (EL)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MHCflurry 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 / 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netMHCstabpan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结合稳定性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TransHLA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MHCnuggets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结合亲和力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BSD 类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MHCSeqNet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Apache-2.0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HLAthena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抗原呈递代理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已部署（代理）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呈递与结合类工具预测肽段能否被 MHC 分子提呈或结合，是免疫原性预测的上游环节。标注 DTU 学术许可的工具，其对比数字在对外公布前需先取得书面同意。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A（呈递/结合组）· 官方一百三十肽口径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工具部署清单 · 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免疫原性类共二十二种工具的部署状态</a:t>
            </a:r>
            <a:endParaRPr lang="en-US" sz="2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DeepImmuno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PredIG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IMPROVE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已部署·降级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NeoTImmuML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pTuneos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PRIME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学术免费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ImmuneApp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deepHLApan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BigMHC-IM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CNNeo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已部署·自训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IEDB-Calis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NPOSL-3.0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00200"/>
          <a:ext cx="53949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737360"/>
                <a:gridCol w="15544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工具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部署状态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许可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Repitope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T-SCAPE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学术非商用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ICERFIRE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Seq2Neo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AFL-3.0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NetTepi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DTU 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ImmugenX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学术许可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MUNIS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CC-BY-4.0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andy90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DeepNetBim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已部署·低覆盖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待授权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NeoaPred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NeoaG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已部署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学术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594360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免疫原性类工具直接预测肽段引发 T 细胞反应的强度。NeoTImmuML 与 CNNeo 因官方权重不可得采用自训版本，结果不与原论文对标；标注 DTU 学术许可的工具数字对外公布前需先取得书面同意。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工具部署总表 表 B（免疫原性组）· 官方一百三十肽口径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数据与评测口径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主分析集 主副指标 与聚合方式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03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口径项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具体设定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主分析集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官方发布的一百三十条肽、九名患者，患者编号从 P101 到 P110，其中缺少 P103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序列口径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以九个氨基酸的肽段为主分析对象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Spearman 秩相关，衡量对候选肽精细排序的能力，正是临床挑选疫苗靶点最需要的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副指标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肽级 AUPRC，作为补充的功效指标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聚合方式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先对每位患者单独计算相关，再做 Fisher-z 变换等权合并，避免患者之间的信息泄漏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官方一百三十肽队列（Braun 2025）· 主分析冻结表 pooled_clean_9mer.csv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单工具主指标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三十个工具的 Spearman 排序能力（覆盖修复后 effN≥8）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1_spearman_30tools_effN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075" y="1481328"/>
            <a:ext cx="4947690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主指标要点（Spearman 秩相关，effN≥8）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覆盖修复后八个工具补满一百三十肽，主榜从十五个扩到二十二个全覆盖工具，同患者集公平可比。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顶部工具相关集中在零点三九到零点四五之间，没有单一压倒者：MHCnuggets 零点四四七、netMHCpan-BA 零点三九二、MHCflurry 零点三零八，且置信区间大幅重叠。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MHCnuggets 补齐最难的一名患者后数值居首，netMHCpan-BA 仍作为结合亲和力的基准锚点。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整体天花板相关不足零点四五，印证新抗原免疫原性预测仍是公认的难题。头条措辞待与袁老师确认。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R1_recomputed_effN8.csv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per-patient Spearman（effN≥8，覆盖修复 remerge 后重算）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核心结果一 · 工具间相关性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各工具预测得分之间的相关结构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7665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_tool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53" y="1481328"/>
            <a:ext cx="5513854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406640" y="1371600"/>
            <a:ext cx="411480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40664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662672" y="1517904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相关结构要点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680960" y="1938528"/>
            <a:ext cx="361188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亲和力与呈递类工具彼此之间高度相关，说明它们捕捉的是相近的信号，存在明显的预测冗余。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这一类工具与部分免疫原性工具之间相关很低甚至为负，两者在信息上互补。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这样的相关结构为下一步的问题提供了依据：多个工具融合起来，是否能够超越单个最强工具。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工具间得分相关矩阵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官方一百三十肽口径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核心结果二 · 子肽聚合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不同工具最优的子肽聚合方式并不一致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2_pooling_shuff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3576" y="1481328"/>
            <a:ext cx="3256689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子肽聚合规律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结合与亲和类工具依靠把一条肽切出的多个子肽窗口聚合起来，能够获得显著提升。以 netMHCpan-BA 为例，最大池化的相关为 0.43，改用前五个最强窗口的聚合后升至 0.52。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免疫原性类工具则取单个最强窗口就已接近最优，继续聚合的收益有限。控制肽长之后，各聚合方式与最强窗口之间的中位差约为 0.05，落在噪声范围之内。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换句话说，聚合方式不能一刀切，工具的类别决定了最优的池化策略。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R2_pooling_sweep_official.csv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R2_best_per_tool.csv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多工具融合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融合方法的紧簇表现与删突变鲁棒性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720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3_robust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1371" y="1664208"/>
            <a:ext cx="6198258" cy="33009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43800" y="1554480"/>
            <a:ext cx="4005072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43800" y="1554480"/>
            <a:ext cx="82296" cy="35204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799832" y="1700784"/>
            <a:ext cx="36393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融合与鲁棒性要点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502152" cy="2843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在六工具子集的最强窗口维度下，十二种融合方法紧密聚成一簇，相关介于 0.33 到 0.39 之间，没有出现单一冠军。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在删除百分之十与百分之二十突变的鲁棒性检验下，几何均值的夺冠胜率居前，分别为 0.40 与 0.47。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5349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这里的六工具子集，指从三十个工具中选出的六个组成一组用于融合分析。多种融合方法在秩指标下表现接近，几何均值在稳健性上略占优势，但整体差距不大。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R6 删突变鲁棒性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无泄漏对比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整合方案与最强单工具在留一交叉验证下持平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2103120"/>
                <a:gridCol w="48463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排序能力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配对检验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整合（六工具几何均值）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0.366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 p 值为 0.46，控肽长后为 0.22，两者持平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601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最强单工具 MHCnuggets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0.447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覆盖修复后升至全覆盖，成为最强单工具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4160520"/>
            <a:ext cx="1090879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4160520"/>
            <a:ext cx="82296" cy="1828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896112" y="4315968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在无信息泄漏的留一患者交叉验证下，六工具几何均值的整合方案与最强单工具 MHCnuggets 之间，配对检验结果为持平（裸口径 p 值为 0.46），点估计上整合略逊于覆盖修复后的最强单工具。</a:t>
            </a:r>
            <a:endParaRPr lang="en-US" sz="1250" dirty="0"/>
          </a:p>
          <a:p>
            <a:pPr indent="0" marL="0">
              <a:lnSpc>
                <a:spcPct val="122000"/>
              </a:lnSpc>
              <a:buNone/>
            </a:pPr>
            <a:r>
              <a:rPr lang="en-US" sz="1250" b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整合方案的价值不在于跑赢最强单工具，而在于当事先并不知道哪个工具最优时，它能给出稳健的、接近最优的输出。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R5 nested-LOPO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R7 显著性配对置换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核心结果三 · 统一排名与部署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综合排名与两条务实可落地的部署路线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694944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fig4_unified_rank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0020" y="1481328"/>
            <a:ext cx="2503801" cy="499262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589520" y="1371600"/>
            <a:ext cx="3931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589520" y="1371600"/>
            <a:ext cx="82296" cy="52120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/>
          <p:nvPr/>
        </p:nvSpPr>
        <p:spPr>
          <a:xfrm>
            <a:off x="7845552" y="15179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部署方案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863840" y="1938528"/>
            <a:ext cx="3429000" cy="4535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务实默认方案是单一亲和力工具 netMHCpan-BA，采用取前二十个最强窗口的聚合，排序能力达到 0.461。它只依赖一个工具，最为稳定；该工具属于 DTU 学术许可。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按需备选方案是多维度几何均值融合，排序能力为 0.366，适用于不确定哪个工具最优时的稳健选择。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抗原呈递代理类工具因为覆盖稀疏、又存在肽长搭便车，不纳入部署候选。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R8 部署评估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R1 单工具基线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931920"/>
            <a:ext cx="4023360" cy="402336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11512" y="-1280160"/>
            <a:ext cx="3108960" cy="3108960"/>
          </a:xfrm>
          <a:prstGeom prst="ellipse">
            <a:avLst/>
          </a:prstGeom>
          <a:solidFill>
            <a:srgbClr val="00A896">
              <a:alpha val="1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2C3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如何评价跑出来的数据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6868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406908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E6F2F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数据本身没有错，但要读得对。这一章系统说明三个评价要点：肽长混杂、计数混杂、融合方法数学近亲，并给出各自的处理方式与当前状态。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三个评价要点及其处理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657600"/>
                <a:gridCol w="283464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评价要点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具体表现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处理方式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当前状态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肽长混杂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长肽会切出更多窗口，最强窗口容易随机偏高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裸口径与控肽长两列并排报告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C9743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待周五讨论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计数混杂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一条肽切出的子肽数量本身就与反应弱相关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排除计数型的池化方式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已修正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融合方法数学近亲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在秩指标下，几何均值与算术秩均值几乎等价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6323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用三重检验刻画其差异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0A89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已有定论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E3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三个要点里两个已经处理定论，只剩肽长是否应作为混杂加以控制这一处，留到周五与老师当面讨论。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方法学评价工具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S2_regime_compare.csv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融合方法数学近亲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几何均值与算术均值秩融合的排序高度一致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087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q2_rank_corr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9725" y="1618488"/>
            <a:ext cx="3655671" cy="320954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63640" y="1508760"/>
            <a:ext cx="5285232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8" name="Image 1" descr="D:/YJ-Agent/project/meeting/QuantImmuBench/analysis/figures_ppt_v4/q2_pointest_clust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211" y="1618488"/>
            <a:ext cx="3662090" cy="32095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5074920"/>
            <a:ext cx="10908792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5074920"/>
            <a:ext cx="82296" cy="12801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7"/>
          <p:cNvSpPr/>
          <p:nvPr/>
        </p:nvSpPr>
        <p:spPr>
          <a:xfrm>
            <a:off x="896112" y="5193792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5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左图把几种融合方法在同一批肽上的排序两两求相关，几何均值与算术均值秩融合的排序相关高达 0.95（患者内）与 0.97（合并），几乎完全一致。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右图显示三种融合方法的点估计紧紧聚成一簇，几何均值、算术均值秩、中位数分别为 0.366、0.348 与 0.252，患者层的配对检验 p 值为 0.54，差异并不显著。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R3_fusion_12methods_official.csv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融合方法排序相关与点估计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 · 肽长混杂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控制肽长前后各类工具的表现变化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61264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pic>
        <p:nvPicPr>
          <p:cNvPr id="6" name="Image 0" descr="D:/YJ-Agent/project/meeting/QuantImmuBench/analysis/figures_ppt_v4/len_confound_bare_vs_ctr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816104"/>
            <a:ext cx="5907024" cy="427735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554480"/>
            <a:ext cx="45994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94944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9" name="Text 6"/>
          <p:cNvSpPr/>
          <p:nvPr/>
        </p:nvSpPr>
        <p:spPr>
          <a:xfrm>
            <a:off x="7205472" y="1700784"/>
            <a:ext cx="4233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现象描述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223760" y="2121408"/>
            <a:ext cx="40965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这张图并排比较了控制肽长之前与之后各工具的表现。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控制肽长之后，抗原呈递代理类工具的相关明显回落，以 HLAthena 为例，从 0.63 降至 0.25。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而结合亲和力类工具基本不受影响，甚至略有上升，netMHCpan-BA 从 0.39 变为 0.43。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此处只陈述观察到的现象，不对处理方式下判断。肽长是否应作为混杂加以控制，留待进一步讨论。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R1_single_maxpool_official.csv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裸口径与控肽长对照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局限与下一步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当前限制与周五要讨论的问题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82296" cy="4800600"/>
          </a:xfrm>
          <a:prstGeom prst="rect">
            <a:avLst/>
          </a:prstGeom>
          <a:solidFill>
            <a:srgbClr val="C9743D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17007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74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主要局限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2121408"/>
            <a:ext cx="4892040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患者数量有限，仅九名，细粒度的方法差异统计上难以分开。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多工具整合方案与最强单工具在统计上持平，并没有真正超越。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肽长与插入缺失这两类混杂尚待进一步讨论。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几何均值虽可作稳健默认，但并非唯一最优。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小鼠数据两套目前都还缺失，正在收集。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285232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E3E4"/>
            </a:solidFill>
            <a:prstDash val="solid"/>
          </a:ln>
          <a:effectLst>
            <a:outerShdw sx="100000" sy="100000" kx="0" ky="0" algn="bl" rotWithShape="0" blurRad="114300" dist="38100" dir="8100000">
              <a:srgbClr val="0B3C49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63640" y="1554480"/>
            <a:ext cx="82296" cy="480060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0784"/>
            <a:ext cx="4919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89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下一步计划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21408"/>
            <a:ext cx="4782312" cy="4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周五与老师当面讨论两个问题：肽长是否作为混杂加以控制，以及融合方法的措辞如何拿捏。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继续收集并接入两套小鼠数据，补齐人鼠对照。</a:t>
            </a:r>
            <a:endParaRPr lang="en-US" sz="1200" dirty="0"/>
          </a:p>
          <a:p>
            <a:pPr indent="0" marL="0">
              <a:lnSpc>
                <a:spcPct val="118000"/>
              </a:lnSpc>
              <a:spcAft>
                <a:spcPts val="700"/>
              </a:spcAft>
              <a:buNone/>
            </a:pPr>
            <a:r>
              <a:rPr lang="en-US" sz="1200" dirty="0">
                <a:solidFill>
                  <a:srgbClr val="1632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补齐三十个工具完整的版本与代码提交清单，供投稿前核验。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280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  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方法学评价专章</a:t>
            </a:r>
            <a:pPr indent="0" marL="0">
              <a:buNone/>
            </a:pPr>
            <a:r>
              <a:rPr lang="en-US" sz="900" i="1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项目进度追踪（2026-07-01）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45743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E7B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QuantImmu 新抗原免疫原性定量评测框架 — 阶段进度与方法学评价</dc:title>
  <dc:subject>PptxGenJS Presentation</dc:subject>
  <dc:creator>PptxGenJS</dc:creator>
  <cp:lastModifiedBy>PptxGenJS</cp:lastModifiedBy>
  <cp:revision>1</cp:revision>
  <dcterms:created xsi:type="dcterms:W3CDTF">2026-07-04T07:37:18Z</dcterms:created>
  <dcterms:modified xsi:type="dcterms:W3CDTF">2026-07-04T07:37:18Z</dcterms:modified>
</cp:coreProperties>
</file>